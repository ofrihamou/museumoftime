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1" r:id="rId6"/>
    <p:sldId id="260" r:id="rId7"/>
    <p:sldId id="262" r:id="rId8"/>
    <p:sldId id="263" r:id="rId9"/>
    <p:sldId id="264" r:id="rId10"/>
    <p:sldId id="265" r:id="rId11"/>
    <p:sldId id="266" r:id="rId12"/>
    <p:sldId id="267" r:id="rId13"/>
    <p:sldId id="268" r:id="rId14"/>
    <p:sldId id="269" r:id="rId15"/>
    <p:sldId id="270" r:id="rId16"/>
    <p:sldId id="271" r:id="rId17"/>
    <p:sldId id="272"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443015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8" name="Text 6"/>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01</a:t>
            </a:r>
            <a:endParaRPr lang="en-US" sz="800" dirty="0"/>
          </a:p>
        </p:txBody>
      </p:sp>
      <p:sp>
        <p:nvSpPr>
          <p:cNvPr id="9" name="Text 7"/>
          <p:cNvSpPr txBox="1"/>
          <p:nvPr/>
        </p:nvSpPr>
        <p:spPr>
          <a:xfrm>
            <a:off x="566928" y="566928"/>
            <a:ext cx="7680960" cy="676656"/>
          </a:xfrm>
          <a:prstGeom prst="rect">
            <a:avLst/>
          </a:prstGeom>
          <a:noFill/>
          <a:ln/>
        </p:spPr>
        <p:txBody>
          <a:bodyPr wrap="square" lIns="0" tIns="0" rIns="0" bIns="0" rtlCol="0" anchor="ctr"/>
          <a:lstStyle/>
          <a:p>
            <a:pPr marL="0" indent="0">
              <a:buNone/>
            </a:pPr>
            <a:r>
              <a:rPr lang="en-US" sz="3400" b="1" dirty="0">
                <a:solidFill>
                  <a:srgbClr val="FFFFFF"/>
                </a:solidFill>
                <a:latin typeface="Calibri" pitchFamily="34" charset="0"/>
                <a:ea typeface="Calibri" pitchFamily="34" charset="-122"/>
                <a:cs typeface="Calibri" pitchFamily="34" charset="-120"/>
              </a:rPr>
              <a:t>The Museum of Time</a:t>
            </a:r>
            <a:endParaRPr lang="en-US" sz="3400" dirty="0"/>
          </a:p>
        </p:txBody>
      </p:sp>
      <p:sp>
        <p:nvSpPr>
          <p:cNvPr id="10" name="Text 8"/>
          <p:cNvSpPr txBox="1"/>
          <p:nvPr/>
        </p:nvSpPr>
        <p:spPr>
          <a:xfrm>
            <a:off x="585216" y="1298448"/>
            <a:ext cx="6766560" cy="548640"/>
          </a:xfrm>
          <a:prstGeom prst="rect">
            <a:avLst/>
          </a:prstGeom>
          <a:noFill/>
          <a:ln/>
        </p:spPr>
        <p:txBody>
          <a:bodyPr wrap="square" lIns="0" tIns="0" rIns="0" bIns="0" rtlCol="0" anchor="t"/>
          <a:lstStyle/>
          <a:p>
            <a:pPr marL="0" indent="0">
              <a:lnSpc>
                <a:spcPts val="1500"/>
              </a:lnSpc>
              <a:buNone/>
            </a:pPr>
            <a:r>
              <a:rPr lang="en-US" sz="1100" dirty="0">
                <a:solidFill>
                  <a:srgbClr val="C9D2E8"/>
                </a:solidFill>
                <a:latin typeface="Calibri" pitchFamily="34" charset="0"/>
                <a:ea typeface="Calibri" pitchFamily="34" charset="-122"/>
                <a:cs typeface="Calibri" pitchFamily="34" charset="-120"/>
              </a:rPr>
              <a:t>A night guard enters fractured historical moments to restore the stolen first moment and repair the timeline.</a:t>
            </a:r>
            <a:endParaRPr lang="en-US" sz="1100" dirty="0"/>
          </a:p>
        </p:txBody>
      </p:sp>
      <p:sp>
        <p:nvSpPr>
          <p:cNvPr id="11" name="Text 9"/>
          <p:cNvSpPr txBox="1"/>
          <p:nvPr/>
        </p:nvSpPr>
        <p:spPr>
          <a:xfrm>
            <a:off x="585216" y="1938528"/>
            <a:ext cx="6766560" cy="274320"/>
          </a:xfrm>
          <a:prstGeom prst="rect">
            <a:avLst/>
          </a:prstGeom>
          <a:noFill/>
          <a:ln/>
        </p:spPr>
        <p:txBody>
          <a:bodyPr wrap="square" lIns="0" tIns="0" rIns="0" bIns="0" rtlCol="0" anchor="t"/>
          <a:lstStyle/>
          <a:p>
            <a:pPr marL="0" indent="0">
              <a:buNone/>
            </a:pPr>
            <a:r>
              <a:rPr lang="en-US" sz="1200" b="1" dirty="0">
                <a:solidFill>
                  <a:srgbClr val="FFFFFF"/>
                </a:solidFill>
                <a:latin typeface="Calibri" pitchFamily="34" charset="0"/>
                <a:ea typeface="Calibri" pitchFamily="34" charset="-122"/>
                <a:cs typeface="Calibri" pitchFamily="34" charset="-120"/>
              </a:rPr>
              <a:t>Ofri Hamou (ID: 211906813)     Jonathan Pilnick (ID: 212836134)</a:t>
            </a:r>
            <a:endParaRPr lang="en-US" sz="1200" dirty="0"/>
          </a:p>
        </p:txBody>
      </p:sp>
      <p:sp>
        <p:nvSpPr>
          <p:cNvPr id="12" name="Text 10"/>
          <p:cNvSpPr txBox="1"/>
          <p:nvPr/>
        </p:nvSpPr>
        <p:spPr>
          <a:xfrm>
            <a:off x="585216" y="2286000"/>
            <a:ext cx="7680960" cy="256032"/>
          </a:xfrm>
          <a:prstGeom prst="rect">
            <a:avLst/>
          </a:prstGeom>
          <a:noFill/>
          <a:ln/>
        </p:spPr>
        <p:txBody>
          <a:bodyPr wrap="square" lIns="0" tIns="0" rIns="0" bIns="0" rtlCol="0" anchor="t"/>
          <a:lstStyle/>
          <a:p>
            <a:pPr marL="0" indent="0">
              <a:buNone/>
            </a:pPr>
            <a:r>
              <a:rPr lang="en-US" sz="960" dirty="0">
                <a:solidFill>
                  <a:srgbClr val="8A94B8"/>
                </a:solidFill>
                <a:latin typeface="Calibri" pitchFamily="34" charset="0"/>
                <a:ea typeface="Calibri" pitchFamily="34" charset="-122"/>
                <a:cs typeface="Calibri" pitchFamily="34" charset="-120"/>
              </a:rPr>
              <a:t>Trailer  </a:t>
            </a:r>
            <a:r>
              <a:rPr lang="en-US" sz="960" b="1" dirty="0">
                <a:solidFill>
                  <a:srgbClr val="E07A5F"/>
                </a:solidFill>
                <a:latin typeface="Calibri" pitchFamily="34" charset="0"/>
                <a:ea typeface="Calibri" pitchFamily="34" charset="-122"/>
                <a:cs typeface="Calibri" pitchFamily="34" charset="-120"/>
              </a:rPr>
              <a:t>[ YouTube link to be added ]</a:t>
            </a:r>
            <a:r>
              <a:rPr lang="en-US" sz="960" dirty="0">
                <a:solidFill>
                  <a:srgbClr val="8A94B8"/>
                </a:solidFill>
                <a:latin typeface="Calibri" pitchFamily="34" charset="0"/>
                <a:ea typeface="Calibri" pitchFamily="34" charset="-122"/>
                <a:cs typeface="Calibri" pitchFamily="34" charset="-120"/>
              </a:rPr>
              <a:t>        Repository  </a:t>
            </a:r>
            <a:r>
              <a:rPr lang="en-US" sz="960" dirty="0">
                <a:solidFill>
                  <a:srgbClr val="C9D2E8"/>
                </a:solidFill>
                <a:latin typeface="Calibri" pitchFamily="34" charset="0"/>
                <a:ea typeface="Calibri" pitchFamily="34" charset="-122"/>
                <a:cs typeface="Calibri" pitchFamily="34" charset="-120"/>
              </a:rPr>
              <a:t>github.com/OfriHamou/MuseumOfTime</a:t>
            </a:r>
            <a:endParaRPr lang="en-US" sz="960" dirty="0"/>
          </a:p>
        </p:txBody>
      </p:sp>
      <p:sp>
        <p:nvSpPr>
          <p:cNvPr id="13" name="Shape 11"/>
          <p:cNvSpPr/>
          <p:nvPr/>
        </p:nvSpPr>
        <p:spPr>
          <a:xfrm>
            <a:off x="534924" y="2766060"/>
            <a:ext cx="6117336" cy="3447288"/>
          </a:xfrm>
          <a:prstGeom prst="rect">
            <a:avLst/>
          </a:prstGeom>
          <a:solidFill>
            <a:srgbClr val="E8B54A"/>
          </a:solidFill>
          <a:ln w="12700">
            <a:solidFill>
              <a:srgbClr val="E8B54A"/>
            </a:solidFill>
            <a:prstDash val="solid"/>
          </a:ln>
        </p:spPr>
        <p:txBody>
          <a:bodyPr/>
          <a:lstStyle/>
          <a:p>
            <a:endParaRPr lang="en-US"/>
          </a:p>
        </p:txBody>
      </p:sp>
      <p:pic>
        <p:nvPicPr>
          <p:cNvPr id="14" name="Image 0" descr="C:\Users\Remote-BEAST\AppData\Local\Temp\claude\C--cs-degree-year-3-video-games-final-MuseumOfTime\4374ba47-f7d5-49a5-a1ce-b351b7c26d9c\scratchpad\img\keyart.png"/>
          <p:cNvPicPr>
            <a:picLocks noChangeAspect="1"/>
          </p:cNvPicPr>
          <p:nvPr/>
        </p:nvPicPr>
        <p:blipFill>
          <a:blip r:embed="rId3"/>
          <a:stretch>
            <a:fillRect/>
          </a:stretch>
        </p:blipFill>
        <p:spPr>
          <a:xfrm>
            <a:off x="566928" y="2798064"/>
            <a:ext cx="6053328" cy="3383280"/>
          </a:xfrm>
          <a:prstGeom prst="rect">
            <a:avLst/>
          </a:prstGeom>
        </p:spPr>
      </p:pic>
      <p:sp>
        <p:nvSpPr>
          <p:cNvPr id="15" name="Shape 12"/>
          <p:cNvSpPr/>
          <p:nvPr/>
        </p:nvSpPr>
        <p:spPr>
          <a:xfrm>
            <a:off x="6821424" y="566928"/>
            <a:ext cx="4809744" cy="5614416"/>
          </a:xfrm>
          <a:prstGeom prst="roundRect">
            <a:avLst>
              <a:gd name="adj" fmla="val 760"/>
            </a:avLst>
          </a:prstGeom>
          <a:solidFill>
            <a:srgbClr val="141B36"/>
          </a:solidFill>
          <a:ln w="9525">
            <a:solidFill>
              <a:srgbClr val="2A3558"/>
            </a:solidFill>
            <a:prstDash val="solid"/>
          </a:ln>
        </p:spPr>
        <p:txBody>
          <a:bodyPr/>
          <a:lstStyle/>
          <a:p>
            <a:endParaRPr lang="en-US"/>
          </a:p>
        </p:txBody>
      </p:sp>
      <p:sp>
        <p:nvSpPr>
          <p:cNvPr id="16" name="Text 13"/>
          <p:cNvSpPr txBox="1"/>
          <p:nvPr/>
        </p:nvSpPr>
        <p:spPr>
          <a:xfrm>
            <a:off x="7077456" y="786384"/>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KNOWN BUGS</a:t>
            </a:r>
            <a:endParaRPr lang="en-US" sz="800" dirty="0"/>
          </a:p>
        </p:txBody>
      </p:sp>
      <p:sp>
        <p:nvSpPr>
          <p:cNvPr id="17" name="Text 14"/>
          <p:cNvSpPr txBox="1"/>
          <p:nvPr/>
        </p:nvSpPr>
        <p:spPr>
          <a:xfrm>
            <a:off x="7077456" y="1170432"/>
            <a:ext cx="3383280" cy="384048"/>
          </a:xfrm>
          <a:prstGeom prst="rect">
            <a:avLst/>
          </a:prstGeom>
          <a:noFill/>
          <a:ln/>
        </p:spPr>
        <p:txBody>
          <a:bodyPr wrap="square" lIns="0" tIns="0" rIns="0" bIns="0" rtlCol="0" anchor="t"/>
          <a:lstStyle/>
          <a:p>
            <a:pPr marL="0" indent="0">
              <a:lnSpc>
                <a:spcPts val="1350"/>
              </a:lnSpc>
              <a:buNone/>
            </a:pPr>
            <a:r>
              <a:rPr lang="en-US" sz="1040" b="1" dirty="0">
                <a:solidFill>
                  <a:srgbClr val="FFFFFF"/>
                </a:solidFill>
                <a:latin typeface="Calibri" pitchFamily="34" charset="0"/>
                <a:ea typeface="Calibri" pitchFamily="34" charset="-122"/>
                <a:cs typeface="Calibri" pitchFamily="34" charset="-120"/>
              </a:rPr>
              <a:t>Gear pickup can become unreachable in FrozenCity</a:t>
            </a:r>
            <a:endParaRPr lang="en-US" sz="1040" dirty="0"/>
          </a:p>
        </p:txBody>
      </p:sp>
      <p:sp>
        <p:nvSpPr>
          <p:cNvPr id="18" name="Text 15"/>
          <p:cNvSpPr txBox="1"/>
          <p:nvPr/>
        </p:nvSpPr>
        <p:spPr>
          <a:xfrm>
            <a:off x="10515600" y="1188720"/>
            <a:ext cx="877824" cy="219456"/>
          </a:xfrm>
          <a:prstGeom prst="rect">
            <a:avLst/>
          </a:prstGeom>
          <a:noFill/>
          <a:ln/>
        </p:spPr>
        <p:txBody>
          <a:bodyPr wrap="square" lIns="0" tIns="0" rIns="0" bIns="0" rtlCol="0" anchor="t"/>
          <a:lstStyle/>
          <a:p>
            <a:pPr marL="0" indent="0" algn="r">
              <a:buNone/>
            </a:pPr>
            <a:r>
              <a:rPr lang="en-US" sz="800" b="1" dirty="0">
                <a:solidFill>
                  <a:srgbClr val="E07A5F"/>
                </a:solidFill>
                <a:latin typeface="Calibri" pitchFamily="34" charset="0"/>
                <a:ea typeface="Calibri" pitchFamily="34" charset="-122"/>
                <a:cs typeface="Calibri" pitchFamily="34" charset="-120"/>
              </a:rPr>
              <a:t>Blocking</a:t>
            </a:r>
            <a:endParaRPr lang="en-US" sz="800" dirty="0"/>
          </a:p>
        </p:txBody>
      </p:sp>
      <p:sp>
        <p:nvSpPr>
          <p:cNvPr id="19" name="Text 16"/>
          <p:cNvSpPr txBox="1"/>
          <p:nvPr/>
        </p:nvSpPr>
        <p:spPr>
          <a:xfrm>
            <a:off x="7077456" y="1591056"/>
            <a:ext cx="4315968" cy="896112"/>
          </a:xfrm>
          <a:prstGeom prst="rect">
            <a:avLst/>
          </a:prstGeom>
          <a:noFill/>
          <a:ln/>
        </p:spPr>
        <p:txBody>
          <a:bodyPr wrap="square" lIns="0" tIns="0" rIns="0" bIns="0" rtlCol="0" anchor="t"/>
          <a:lstStyle/>
          <a:p>
            <a:pPr marL="0" indent="0">
              <a:lnSpc>
                <a:spcPts val="1240"/>
              </a:lnSpc>
              <a:buNone/>
            </a:pPr>
            <a:r>
              <a:rPr lang="en-US" sz="920" dirty="0">
                <a:solidFill>
                  <a:srgbClr val="8A94B8"/>
                </a:solidFill>
                <a:latin typeface="Calibri" pitchFamily="34" charset="0"/>
                <a:ea typeface="Calibri" pitchFamily="34" charset="-122"/>
                <a:cs typeface="Calibri" pitchFamily="34" charset="-120"/>
              </a:rPr>
              <a:t>The third-person camera can drift away from Noa. Past nine metres the interaction cast no longer reaches the tower gear, so no prompt appears.</a:t>
            </a:r>
            <a:endParaRPr lang="en-US" sz="920" dirty="0"/>
          </a:p>
        </p:txBody>
      </p:sp>
      <p:sp>
        <p:nvSpPr>
          <p:cNvPr id="20" name="Text 17"/>
          <p:cNvSpPr txBox="1"/>
          <p:nvPr/>
        </p:nvSpPr>
        <p:spPr>
          <a:xfrm>
            <a:off x="7077456" y="2615184"/>
            <a:ext cx="3383280" cy="384048"/>
          </a:xfrm>
          <a:prstGeom prst="rect">
            <a:avLst/>
          </a:prstGeom>
          <a:noFill/>
          <a:ln/>
        </p:spPr>
        <p:txBody>
          <a:bodyPr wrap="square" lIns="0" tIns="0" rIns="0" bIns="0" rtlCol="0" anchor="t"/>
          <a:lstStyle/>
          <a:p>
            <a:pPr marL="0" indent="0">
              <a:lnSpc>
                <a:spcPts val="1350"/>
              </a:lnSpc>
              <a:buNone/>
            </a:pPr>
            <a:r>
              <a:rPr lang="en-US" sz="1040" b="1" dirty="0">
                <a:solidFill>
                  <a:srgbClr val="FFFFFF"/>
                </a:solidFill>
                <a:latin typeface="Calibri" pitchFamily="34" charset="0"/>
                <a:ea typeface="Calibri" pitchFamily="34" charset="-122"/>
                <a:cs typeface="Calibri" pitchFamily="34" charset="-120"/>
              </a:rPr>
              <a:t>Animator grounded flag reads false while standing</a:t>
            </a:r>
            <a:endParaRPr lang="en-US" sz="1040" dirty="0"/>
          </a:p>
        </p:txBody>
      </p:sp>
      <p:sp>
        <p:nvSpPr>
          <p:cNvPr id="21" name="Text 18"/>
          <p:cNvSpPr txBox="1"/>
          <p:nvPr/>
        </p:nvSpPr>
        <p:spPr>
          <a:xfrm>
            <a:off x="10515600" y="2633472"/>
            <a:ext cx="877824" cy="219456"/>
          </a:xfrm>
          <a:prstGeom prst="rect">
            <a:avLst/>
          </a:prstGeom>
          <a:noFill/>
          <a:ln/>
        </p:spPr>
        <p:txBody>
          <a:bodyPr wrap="square" lIns="0" tIns="0" rIns="0" bIns="0" rtlCol="0" anchor="t"/>
          <a:lstStyle/>
          <a:p>
            <a:pPr marL="0" indent="0" algn="r">
              <a:buNone/>
            </a:pPr>
            <a:r>
              <a:rPr lang="en-US" sz="800" b="1" dirty="0">
                <a:solidFill>
                  <a:srgbClr val="8A94B8"/>
                </a:solidFill>
                <a:latin typeface="Calibri" pitchFamily="34" charset="0"/>
                <a:ea typeface="Calibri" pitchFamily="34" charset="-122"/>
                <a:cs typeface="Calibri" pitchFamily="34" charset="-120"/>
              </a:rPr>
              <a:t>Cosmetic</a:t>
            </a:r>
            <a:endParaRPr lang="en-US" sz="800" dirty="0"/>
          </a:p>
        </p:txBody>
      </p:sp>
      <p:sp>
        <p:nvSpPr>
          <p:cNvPr id="22" name="Text 19"/>
          <p:cNvSpPr txBox="1"/>
          <p:nvPr/>
        </p:nvSpPr>
        <p:spPr>
          <a:xfrm>
            <a:off x="7077456" y="3035808"/>
            <a:ext cx="4315968" cy="896112"/>
          </a:xfrm>
          <a:prstGeom prst="rect">
            <a:avLst/>
          </a:prstGeom>
          <a:noFill/>
          <a:ln/>
        </p:spPr>
        <p:txBody>
          <a:bodyPr wrap="square" lIns="0" tIns="0" rIns="0" bIns="0" rtlCol="0" anchor="t"/>
          <a:lstStyle/>
          <a:p>
            <a:pPr marL="0" indent="0">
              <a:lnSpc>
                <a:spcPts val="1240"/>
              </a:lnSpc>
              <a:buNone/>
            </a:pPr>
            <a:r>
              <a:rPr lang="en-US" sz="920" dirty="0">
                <a:solidFill>
                  <a:srgbClr val="8A94B8"/>
                </a:solidFill>
                <a:latin typeface="Calibri" pitchFamily="34" charset="0"/>
                <a:ea typeface="Calibri" pitchFamily="34" charset="-122"/>
                <a:cs typeface="Calibri" pitchFamily="34" charset="-120"/>
              </a:rPr>
              <a:t>The Animator’s grounded parameter stays false while Noa rests on the floor. Animation state only — movement is unaffected.</a:t>
            </a:r>
            <a:endParaRPr lang="en-US" sz="920" dirty="0"/>
          </a:p>
        </p:txBody>
      </p:sp>
      <p:sp>
        <p:nvSpPr>
          <p:cNvPr id="23" name="Text 20"/>
          <p:cNvSpPr txBox="1"/>
          <p:nvPr/>
        </p:nvSpPr>
        <p:spPr>
          <a:xfrm>
            <a:off x="7077456" y="4059936"/>
            <a:ext cx="3383280" cy="384048"/>
          </a:xfrm>
          <a:prstGeom prst="rect">
            <a:avLst/>
          </a:prstGeom>
          <a:noFill/>
          <a:ln/>
        </p:spPr>
        <p:txBody>
          <a:bodyPr wrap="square" lIns="0" tIns="0" rIns="0" bIns="0" rtlCol="0" anchor="t"/>
          <a:lstStyle/>
          <a:p>
            <a:pPr marL="0" indent="0">
              <a:lnSpc>
                <a:spcPts val="1350"/>
              </a:lnSpc>
              <a:buNone/>
            </a:pPr>
            <a:r>
              <a:rPr lang="en-US" sz="1040" b="1" dirty="0">
                <a:solidFill>
                  <a:srgbClr val="FFFFFF"/>
                </a:solidFill>
                <a:latin typeface="Calibri" pitchFamily="34" charset="0"/>
                <a:ea typeface="Calibri" pitchFamily="34" charset="-122"/>
                <a:cs typeface="Calibri" pitchFamily="34" charset="-120"/>
              </a:rPr>
              <a:t>Stealth cover layers are declared but unused</a:t>
            </a:r>
            <a:endParaRPr lang="en-US" sz="1040" dirty="0"/>
          </a:p>
        </p:txBody>
      </p:sp>
      <p:sp>
        <p:nvSpPr>
          <p:cNvPr id="24" name="Text 21"/>
          <p:cNvSpPr txBox="1"/>
          <p:nvPr/>
        </p:nvSpPr>
        <p:spPr>
          <a:xfrm>
            <a:off x="10515600" y="4078224"/>
            <a:ext cx="877824" cy="219456"/>
          </a:xfrm>
          <a:prstGeom prst="rect">
            <a:avLst/>
          </a:prstGeom>
          <a:noFill/>
          <a:ln/>
        </p:spPr>
        <p:txBody>
          <a:bodyPr wrap="square" lIns="0" tIns="0" rIns="0" bIns="0" rtlCol="0" anchor="t"/>
          <a:lstStyle/>
          <a:p>
            <a:pPr marL="0" indent="0" algn="r">
              <a:buNone/>
            </a:pPr>
            <a:r>
              <a:rPr lang="en-US" sz="800" b="1" dirty="0">
                <a:solidFill>
                  <a:srgbClr val="8A94B8"/>
                </a:solidFill>
                <a:latin typeface="Calibri" pitchFamily="34" charset="0"/>
                <a:ea typeface="Calibri" pitchFamily="34" charset="-122"/>
                <a:cs typeface="Calibri" pitchFamily="34" charset="-120"/>
              </a:rPr>
              <a:t>Minor</a:t>
            </a:r>
            <a:endParaRPr lang="en-US" sz="800" dirty="0"/>
          </a:p>
        </p:txBody>
      </p:sp>
      <p:sp>
        <p:nvSpPr>
          <p:cNvPr id="25" name="Text 22"/>
          <p:cNvSpPr txBox="1"/>
          <p:nvPr/>
        </p:nvSpPr>
        <p:spPr>
          <a:xfrm>
            <a:off x="7077456" y="4480560"/>
            <a:ext cx="4315968" cy="896112"/>
          </a:xfrm>
          <a:prstGeom prst="rect">
            <a:avLst/>
          </a:prstGeom>
          <a:noFill/>
          <a:ln/>
        </p:spPr>
        <p:txBody>
          <a:bodyPr wrap="square" lIns="0" tIns="0" rIns="0" bIns="0" rtlCol="0" anchor="t"/>
          <a:lstStyle/>
          <a:p>
            <a:pPr marL="0" indent="0">
              <a:lnSpc>
                <a:spcPts val="1240"/>
              </a:lnSpc>
              <a:buNone/>
            </a:pPr>
            <a:r>
              <a:rPr lang="en-US" sz="920" dirty="0">
                <a:solidFill>
                  <a:srgbClr val="8A94B8"/>
                </a:solidFill>
                <a:latin typeface="Calibri" pitchFamily="34" charset="0"/>
                <a:ea typeface="Calibri" pitchFamily="34" charset="-122"/>
                <a:cs typeface="Calibri" pitchFamily="34" charset="-120"/>
              </a:rPr>
              <a:t>The Warden’s vision mask names two layers no scene object is assigned to. Sight is blocked by ordinary geometry instead, so stealth still works.</a:t>
            </a:r>
            <a:endParaRPr lang="en-US" sz="9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High Concept</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A compact 3D adventure-puzzle built around cause and effect</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02</a:t>
            </a:r>
            <a:endParaRPr lang="en-US" sz="800" dirty="0"/>
          </a:p>
        </p:txBody>
      </p:sp>
      <p:sp>
        <p:nvSpPr>
          <p:cNvPr id="11" name="Shape 9"/>
          <p:cNvSpPr/>
          <p:nvPr/>
        </p:nvSpPr>
        <p:spPr>
          <a:xfrm>
            <a:off x="585216" y="1868395"/>
            <a:ext cx="4224528" cy="2980944"/>
          </a:xfrm>
          <a:prstGeom prst="rect">
            <a:avLst/>
          </a:prstGeom>
          <a:solidFill>
            <a:srgbClr val="E8B54A"/>
          </a:solidFill>
          <a:ln w="12700">
            <a:solidFill>
              <a:srgbClr val="E8B54A"/>
            </a:solidFill>
            <a:prstDash val="solid"/>
          </a:ln>
        </p:spPr>
        <p:txBody>
          <a:bodyPr/>
          <a:lstStyle/>
          <a:p>
            <a:endParaRPr lang="en-US"/>
          </a:p>
        </p:txBody>
      </p:sp>
      <p:pic>
        <p:nvPicPr>
          <p:cNvPr id="12" name="Image 0" descr="C:\Users\Remote-BEAST\AppData\Local\Temp\claude\C--cs-degree-year-3-video-games-final-MuseumOfTime\4374ba47-f7d5-49a5-a1ce-b351b7c26d9c\scratchpad\img\clock.jpg"/>
          <p:cNvPicPr>
            <a:picLocks noChangeAspect="1"/>
          </p:cNvPicPr>
          <p:nvPr/>
        </p:nvPicPr>
        <p:blipFill>
          <a:blip r:embed="rId3"/>
          <a:stretch>
            <a:fillRect/>
          </a:stretch>
        </p:blipFill>
        <p:spPr>
          <a:xfrm>
            <a:off x="617220" y="1900399"/>
            <a:ext cx="4160520" cy="2916936"/>
          </a:xfrm>
          <a:prstGeom prst="rect">
            <a:avLst/>
          </a:prstGeom>
        </p:spPr>
      </p:pic>
      <p:sp>
        <p:nvSpPr>
          <p:cNvPr id="13" name="Text 10"/>
          <p:cNvSpPr txBox="1"/>
          <p:nvPr/>
        </p:nvSpPr>
        <p:spPr>
          <a:xfrm>
            <a:off x="617220" y="4936207"/>
            <a:ext cx="4160520" cy="274320"/>
          </a:xfrm>
          <a:prstGeom prst="rect">
            <a:avLst/>
          </a:prstGeom>
          <a:noFill/>
          <a:ln/>
        </p:spPr>
        <p:txBody>
          <a:bodyPr wrap="square" lIns="0" tIns="0" rIns="0" bIns="0" rtlCol="0" anchor="t"/>
          <a:lstStyle/>
          <a:p>
            <a:pPr marL="0" indent="0">
              <a:buNone/>
            </a:pPr>
            <a:r>
              <a:rPr lang="en-US" sz="850" i="1" dirty="0">
                <a:solidFill>
                  <a:srgbClr val="8A94B8"/>
                </a:solidFill>
                <a:latin typeface="Calibri" pitchFamily="34" charset="0"/>
                <a:ea typeface="Calibri" pitchFamily="34" charset="-122"/>
                <a:cs typeface="Calibri" pitchFamily="34" charset="-120"/>
              </a:rPr>
              <a:t>ClockCore — the final confrontation.</a:t>
            </a:r>
            <a:endParaRPr lang="en-US" sz="850" dirty="0"/>
          </a:p>
        </p:txBody>
      </p:sp>
      <p:sp>
        <p:nvSpPr>
          <p:cNvPr id="14" name="Text 11"/>
          <p:cNvSpPr txBox="1"/>
          <p:nvPr/>
        </p:nvSpPr>
        <p:spPr>
          <a:xfrm>
            <a:off x="5079492" y="1900399"/>
            <a:ext cx="6601968" cy="731520"/>
          </a:xfrm>
          <a:prstGeom prst="rect">
            <a:avLst/>
          </a:prstGeom>
          <a:noFill/>
          <a:ln/>
        </p:spPr>
        <p:txBody>
          <a:bodyPr wrap="square" lIns="0" tIns="0" rIns="0" bIns="0" rtlCol="0" anchor="t"/>
          <a:lstStyle/>
          <a:p>
            <a:pPr marL="0" indent="0">
              <a:lnSpc>
                <a:spcPts val="2100"/>
              </a:lnSpc>
              <a:buNone/>
            </a:pPr>
            <a:r>
              <a:rPr lang="en-US" sz="1500" b="1" dirty="0">
                <a:solidFill>
                  <a:srgbClr val="FFFFFF"/>
                </a:solidFill>
                <a:latin typeface="Calibri" pitchFamily="34" charset="0"/>
                <a:ea typeface="Calibri" pitchFamily="34" charset="-122"/>
                <a:cs typeface="Calibri" pitchFamily="34" charset="-120"/>
              </a:rPr>
              <a:t>The player controls Noa, a night guard who discovers that every exhibit is a preserved historical moment.</a:t>
            </a:r>
            <a:endParaRPr lang="en-US" sz="1500" dirty="0"/>
          </a:p>
        </p:txBody>
      </p:sp>
      <p:sp>
        <p:nvSpPr>
          <p:cNvPr id="15" name="Text 12"/>
          <p:cNvSpPr txBox="1"/>
          <p:nvPr/>
        </p:nvSpPr>
        <p:spPr>
          <a:xfrm>
            <a:off x="5079492" y="2586889"/>
            <a:ext cx="6601968" cy="850392"/>
          </a:xfrm>
          <a:prstGeom prst="rect">
            <a:avLst/>
          </a:prstGeom>
          <a:noFill/>
          <a:ln/>
        </p:spPr>
        <p:txBody>
          <a:bodyPr wrap="square" lIns="0" tIns="0" rIns="0" bIns="0" rtlCol="0" anchor="t"/>
          <a:lstStyle/>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The museum’s first moment has been stolen, and history begins to come apart.</a:t>
            </a:r>
            <a:endParaRPr lang="en-US" sz="1080" dirty="0"/>
          </a:p>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Each scene is a contained time puzzle: change the past, solve the present, verify the future.</a:t>
            </a:r>
            <a:endParaRPr lang="en-US" sz="1080" dirty="0"/>
          </a:p>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Noa has no weapon that kills — her one projectile freezes and rewinds.</a:t>
            </a:r>
            <a:endParaRPr lang="en-US" sz="1080" dirty="0"/>
          </a:p>
        </p:txBody>
      </p:sp>
      <p:sp>
        <p:nvSpPr>
          <p:cNvPr id="16" name="Shape 13"/>
          <p:cNvSpPr/>
          <p:nvPr/>
        </p:nvSpPr>
        <p:spPr>
          <a:xfrm>
            <a:off x="5079492" y="3668210"/>
            <a:ext cx="2103120" cy="1207008"/>
          </a:xfrm>
          <a:prstGeom prst="roundRect">
            <a:avLst>
              <a:gd name="adj" fmla="val 3030"/>
            </a:avLst>
          </a:prstGeom>
          <a:solidFill>
            <a:srgbClr val="141B36"/>
          </a:solidFill>
          <a:ln w="9525">
            <a:solidFill>
              <a:srgbClr val="2A3558"/>
            </a:solidFill>
            <a:prstDash val="solid"/>
          </a:ln>
        </p:spPr>
        <p:txBody>
          <a:bodyPr/>
          <a:lstStyle/>
          <a:p>
            <a:endParaRPr lang="en-US"/>
          </a:p>
        </p:txBody>
      </p:sp>
      <p:sp>
        <p:nvSpPr>
          <p:cNvPr id="17" name="Text 14"/>
          <p:cNvSpPr txBox="1"/>
          <p:nvPr/>
        </p:nvSpPr>
        <p:spPr>
          <a:xfrm>
            <a:off x="5079492" y="3796226"/>
            <a:ext cx="2103120" cy="502920"/>
          </a:xfrm>
          <a:prstGeom prst="rect">
            <a:avLst/>
          </a:prstGeom>
          <a:noFill/>
          <a:ln/>
        </p:spPr>
        <p:txBody>
          <a:bodyPr wrap="square" lIns="0" tIns="0" rIns="0" bIns="0" rtlCol="0" anchor="ctr"/>
          <a:lstStyle/>
          <a:p>
            <a:pPr marL="0" indent="0" algn="ctr">
              <a:buNone/>
            </a:pPr>
            <a:r>
              <a:rPr lang="en-US" sz="2600" b="1" dirty="0">
                <a:solidFill>
                  <a:srgbClr val="E8B54A"/>
                </a:solidFill>
                <a:latin typeface="Calibri" pitchFamily="34" charset="0"/>
                <a:ea typeface="Calibri" pitchFamily="34" charset="-122"/>
                <a:cs typeface="Calibri" pitchFamily="34" charset="-120"/>
              </a:rPr>
              <a:t>3</a:t>
            </a:r>
            <a:endParaRPr lang="en-US" sz="2600" dirty="0"/>
          </a:p>
        </p:txBody>
      </p:sp>
      <p:sp>
        <p:nvSpPr>
          <p:cNvPr id="18" name="Text 15"/>
          <p:cNvSpPr txBox="1"/>
          <p:nvPr/>
        </p:nvSpPr>
        <p:spPr>
          <a:xfrm>
            <a:off x="5079492" y="4326578"/>
            <a:ext cx="2103120" cy="274320"/>
          </a:xfrm>
          <a:prstGeom prst="rect">
            <a:avLst/>
          </a:prstGeom>
          <a:noFill/>
          <a:ln/>
        </p:spPr>
        <p:txBody>
          <a:bodyPr wrap="square" lIns="0" tIns="0" rIns="0" bIns="0" rtlCol="0" anchor="t"/>
          <a:lstStyle/>
          <a:p>
            <a:pPr marL="0" indent="0" algn="ctr">
              <a:buNone/>
            </a:pPr>
            <a:r>
              <a:rPr lang="en-US" sz="900" dirty="0">
                <a:solidFill>
                  <a:srgbClr val="8A94B8"/>
                </a:solidFill>
                <a:latin typeface="Calibri" pitchFamily="34" charset="0"/>
                <a:ea typeface="Calibri" pitchFamily="34" charset="-122"/>
                <a:cs typeface="Calibri" pitchFamily="34" charset="-120"/>
              </a:rPr>
              <a:t>gameplay scenes</a:t>
            </a:r>
            <a:endParaRPr lang="en-US" sz="900" dirty="0"/>
          </a:p>
        </p:txBody>
      </p:sp>
      <p:sp>
        <p:nvSpPr>
          <p:cNvPr id="19" name="Shape 16"/>
          <p:cNvSpPr/>
          <p:nvPr/>
        </p:nvSpPr>
        <p:spPr>
          <a:xfrm>
            <a:off x="7328916" y="3668210"/>
            <a:ext cx="2103120" cy="1207008"/>
          </a:xfrm>
          <a:prstGeom prst="roundRect">
            <a:avLst>
              <a:gd name="adj" fmla="val 3030"/>
            </a:avLst>
          </a:prstGeom>
          <a:solidFill>
            <a:srgbClr val="141B36"/>
          </a:solidFill>
          <a:ln w="9525">
            <a:solidFill>
              <a:srgbClr val="2A3558"/>
            </a:solidFill>
            <a:prstDash val="solid"/>
          </a:ln>
        </p:spPr>
        <p:txBody>
          <a:bodyPr/>
          <a:lstStyle/>
          <a:p>
            <a:endParaRPr lang="en-US"/>
          </a:p>
        </p:txBody>
      </p:sp>
      <p:sp>
        <p:nvSpPr>
          <p:cNvPr id="20" name="Text 17"/>
          <p:cNvSpPr txBox="1"/>
          <p:nvPr/>
        </p:nvSpPr>
        <p:spPr>
          <a:xfrm>
            <a:off x="7328916" y="3796226"/>
            <a:ext cx="2103120" cy="502920"/>
          </a:xfrm>
          <a:prstGeom prst="rect">
            <a:avLst/>
          </a:prstGeom>
          <a:noFill/>
          <a:ln/>
        </p:spPr>
        <p:txBody>
          <a:bodyPr wrap="square" lIns="0" tIns="0" rIns="0" bIns="0" rtlCol="0" anchor="ctr"/>
          <a:lstStyle/>
          <a:p>
            <a:pPr marL="0" indent="0" algn="ctr">
              <a:buNone/>
            </a:pPr>
            <a:r>
              <a:rPr lang="en-US" sz="2600" b="1" dirty="0">
                <a:solidFill>
                  <a:srgbClr val="5B9BD5"/>
                </a:solidFill>
                <a:latin typeface="Calibri" pitchFamily="34" charset="0"/>
                <a:ea typeface="Calibri" pitchFamily="34" charset="-122"/>
                <a:cs typeface="Calibri" pitchFamily="34" charset="-120"/>
              </a:rPr>
              <a:t>2</a:t>
            </a:r>
            <a:endParaRPr lang="en-US" sz="2600" dirty="0"/>
          </a:p>
        </p:txBody>
      </p:sp>
      <p:sp>
        <p:nvSpPr>
          <p:cNvPr id="21" name="Text 18"/>
          <p:cNvSpPr txBox="1"/>
          <p:nvPr/>
        </p:nvSpPr>
        <p:spPr>
          <a:xfrm>
            <a:off x="7328916" y="4326578"/>
            <a:ext cx="2103120" cy="274320"/>
          </a:xfrm>
          <a:prstGeom prst="rect">
            <a:avLst/>
          </a:prstGeom>
          <a:noFill/>
          <a:ln/>
        </p:spPr>
        <p:txBody>
          <a:bodyPr wrap="square" lIns="0" tIns="0" rIns="0" bIns="0" rtlCol="0" anchor="t"/>
          <a:lstStyle/>
          <a:p>
            <a:pPr marL="0" indent="0" algn="ctr">
              <a:buNone/>
            </a:pPr>
            <a:r>
              <a:rPr lang="en-US" sz="900" dirty="0">
                <a:solidFill>
                  <a:srgbClr val="8A94B8"/>
                </a:solidFill>
                <a:latin typeface="Calibri" pitchFamily="34" charset="0"/>
                <a:ea typeface="Calibri" pitchFamily="34" charset="-122"/>
                <a:cs typeface="Calibri" pitchFamily="34" charset="-120"/>
              </a:rPr>
              <a:t>carry-over items</a:t>
            </a:r>
            <a:endParaRPr lang="en-US" sz="900" dirty="0"/>
          </a:p>
        </p:txBody>
      </p:sp>
      <p:sp>
        <p:nvSpPr>
          <p:cNvPr id="22" name="Shape 19"/>
          <p:cNvSpPr/>
          <p:nvPr/>
        </p:nvSpPr>
        <p:spPr>
          <a:xfrm>
            <a:off x="9578340" y="3668210"/>
            <a:ext cx="2103120" cy="1207008"/>
          </a:xfrm>
          <a:prstGeom prst="roundRect">
            <a:avLst>
              <a:gd name="adj" fmla="val 3030"/>
            </a:avLst>
          </a:prstGeom>
          <a:solidFill>
            <a:srgbClr val="141B36"/>
          </a:solidFill>
          <a:ln w="9525">
            <a:solidFill>
              <a:srgbClr val="2A3558"/>
            </a:solidFill>
            <a:prstDash val="solid"/>
          </a:ln>
        </p:spPr>
        <p:txBody>
          <a:bodyPr/>
          <a:lstStyle/>
          <a:p>
            <a:endParaRPr lang="en-US"/>
          </a:p>
        </p:txBody>
      </p:sp>
      <p:sp>
        <p:nvSpPr>
          <p:cNvPr id="23" name="Text 20"/>
          <p:cNvSpPr txBox="1"/>
          <p:nvPr/>
        </p:nvSpPr>
        <p:spPr>
          <a:xfrm>
            <a:off x="9578340" y="3796226"/>
            <a:ext cx="2103120" cy="502920"/>
          </a:xfrm>
          <a:prstGeom prst="rect">
            <a:avLst/>
          </a:prstGeom>
          <a:noFill/>
          <a:ln/>
        </p:spPr>
        <p:txBody>
          <a:bodyPr wrap="square" lIns="0" tIns="0" rIns="0" bIns="0" rtlCol="0" anchor="ctr"/>
          <a:lstStyle/>
          <a:p>
            <a:pPr marL="0" indent="0" algn="ctr">
              <a:buNone/>
            </a:pPr>
            <a:r>
              <a:rPr lang="en-US" sz="2600" b="1" dirty="0">
                <a:solidFill>
                  <a:srgbClr val="9B7BD4"/>
                </a:solidFill>
                <a:latin typeface="Calibri" pitchFamily="34" charset="0"/>
                <a:ea typeface="Calibri" pitchFamily="34" charset="-122"/>
                <a:cs typeface="Calibri" pitchFamily="34" charset="-120"/>
              </a:rPr>
              <a:t>56.8 MB</a:t>
            </a:r>
            <a:endParaRPr lang="en-US" sz="2600" dirty="0"/>
          </a:p>
        </p:txBody>
      </p:sp>
      <p:sp>
        <p:nvSpPr>
          <p:cNvPr id="24" name="Text 21"/>
          <p:cNvSpPr txBox="1"/>
          <p:nvPr/>
        </p:nvSpPr>
        <p:spPr>
          <a:xfrm>
            <a:off x="9578340" y="4326578"/>
            <a:ext cx="2103120" cy="274320"/>
          </a:xfrm>
          <a:prstGeom prst="rect">
            <a:avLst/>
          </a:prstGeom>
          <a:noFill/>
          <a:ln/>
        </p:spPr>
        <p:txBody>
          <a:bodyPr wrap="square" lIns="0" tIns="0" rIns="0" bIns="0" rtlCol="0" anchor="t"/>
          <a:lstStyle/>
          <a:p>
            <a:pPr marL="0" indent="0" algn="ctr">
              <a:buNone/>
            </a:pPr>
            <a:r>
              <a:rPr lang="en-US" sz="900" dirty="0">
                <a:solidFill>
                  <a:srgbClr val="8A94B8"/>
                </a:solidFill>
                <a:latin typeface="Calibri" pitchFamily="34" charset="0"/>
                <a:ea typeface="Calibri" pitchFamily="34" charset="-122"/>
                <a:cs typeface="Calibri" pitchFamily="34" charset="-120"/>
              </a:rPr>
              <a:t>compressed build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name="Slide 3">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Story &amp; Player Objective</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Noa repairs broken moments without rewriting history</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03</a:t>
            </a:r>
            <a:endParaRPr lang="en-US" sz="800" dirty="0"/>
          </a:p>
        </p:txBody>
      </p:sp>
      <p:sp>
        <p:nvSpPr>
          <p:cNvPr id="11" name="Text 9"/>
          <p:cNvSpPr txBox="1"/>
          <p:nvPr/>
        </p:nvSpPr>
        <p:spPr>
          <a:xfrm>
            <a:off x="566928" y="1481328"/>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NARRATIVE</a:t>
            </a:r>
            <a:endParaRPr lang="en-US" sz="800" dirty="0"/>
          </a:p>
        </p:txBody>
      </p:sp>
      <p:sp>
        <p:nvSpPr>
          <p:cNvPr id="12" name="Text 10"/>
          <p:cNvSpPr txBox="1"/>
          <p:nvPr/>
        </p:nvSpPr>
        <p:spPr>
          <a:xfrm>
            <a:off x="566928" y="1755648"/>
            <a:ext cx="6035040" cy="731520"/>
          </a:xfrm>
          <a:prstGeom prst="rect">
            <a:avLst/>
          </a:prstGeom>
          <a:noFill/>
          <a:ln/>
        </p:spPr>
        <p:txBody>
          <a:bodyPr wrap="square" lIns="0" tIns="0" rIns="0" bIns="0" rtlCol="0" anchor="t"/>
          <a:lstStyle/>
          <a:p>
            <a:pPr marL="0" indent="0">
              <a:lnSpc>
                <a:spcPts val="1800"/>
              </a:lnSpc>
              <a:buNone/>
            </a:pPr>
            <a:r>
              <a:rPr lang="en-US" sz="1300" b="1" dirty="0">
                <a:solidFill>
                  <a:srgbClr val="FFFFFF"/>
                </a:solidFill>
                <a:latin typeface="Calibri" pitchFamily="34" charset="0"/>
                <a:ea typeface="Calibri" pitchFamily="34" charset="-122"/>
                <a:cs typeface="Calibri" pitchFamily="34" charset="-120"/>
              </a:rPr>
              <a:t>After the Clock of Creation breaks, the eras begin to overlap. Noa is the only person who still remembers the original timeline.</a:t>
            </a:r>
            <a:endParaRPr lang="en-US" sz="1300" dirty="0"/>
          </a:p>
        </p:txBody>
      </p:sp>
      <p:sp>
        <p:nvSpPr>
          <p:cNvPr id="13" name="Text 11"/>
          <p:cNvSpPr txBox="1"/>
          <p:nvPr/>
        </p:nvSpPr>
        <p:spPr>
          <a:xfrm>
            <a:off x="566928" y="2688336"/>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PLAYER GOALS</a:t>
            </a:r>
            <a:endParaRPr lang="en-US" sz="800" dirty="0"/>
          </a:p>
        </p:txBody>
      </p:sp>
      <p:sp>
        <p:nvSpPr>
          <p:cNvPr id="14" name="Text 12"/>
          <p:cNvSpPr txBox="1"/>
          <p:nvPr/>
        </p:nvSpPr>
        <p:spPr>
          <a:xfrm>
            <a:off x="566928" y="2962656"/>
            <a:ext cx="6035040" cy="2377440"/>
          </a:xfrm>
          <a:prstGeom prst="rect">
            <a:avLst/>
          </a:prstGeom>
          <a:noFill/>
          <a:ln/>
        </p:spPr>
        <p:txBody>
          <a:bodyPr wrap="square" lIns="0" tIns="0" rIns="0" bIns="0" rtlCol="0" anchor="t"/>
          <a:lstStyle/>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Explore the museum, the frozen city and the clock core.</a:t>
            </a:r>
            <a:endParaRPr lang="en-US" sz="1080" dirty="0"/>
          </a:p>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Collect Time Shards and repair broken exhibits.</a:t>
            </a:r>
            <a:endParaRPr lang="en-US" sz="1080" dirty="0"/>
          </a:p>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Avoid the Time Wardens and keep Shadows away from your shards.</a:t>
            </a:r>
            <a:endParaRPr lang="en-US" sz="1080" dirty="0"/>
          </a:p>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Solve the three-era gear puzzle to free the frozen city.</a:t>
            </a:r>
            <a:endParaRPr lang="en-US" sz="1080" dirty="0"/>
          </a:p>
          <a:p>
            <a:pPr marL="342900" indent="-342900">
              <a:lnSpc>
                <a:spcPts val="1534"/>
              </a:lnSpc>
              <a:spcAft>
                <a:spcPts val="300"/>
              </a:spcAft>
              <a:buSzPct val="100000"/>
              <a:buChar char="•"/>
            </a:pPr>
            <a:r>
              <a:rPr lang="en-US" sz="1080" dirty="0">
                <a:solidFill>
                  <a:srgbClr val="C9D2E8"/>
                </a:solidFill>
                <a:latin typeface="Calibri" pitchFamily="34" charset="0"/>
                <a:ea typeface="Calibri" pitchFamily="34" charset="-122"/>
                <a:cs typeface="Calibri" pitchFamily="34" charset="-120"/>
              </a:rPr>
              <a:t>Confront the Collector at the heart of the clock.</a:t>
            </a:r>
            <a:endParaRPr lang="en-US" sz="1080" dirty="0"/>
          </a:p>
        </p:txBody>
      </p:sp>
      <p:sp>
        <p:nvSpPr>
          <p:cNvPr id="15" name="Shape 13"/>
          <p:cNvSpPr/>
          <p:nvPr/>
        </p:nvSpPr>
        <p:spPr>
          <a:xfrm>
            <a:off x="566928" y="5449824"/>
            <a:ext cx="6035040" cy="768096"/>
          </a:xfrm>
          <a:prstGeom prst="roundRect">
            <a:avLst>
              <a:gd name="adj" fmla="val 4762"/>
            </a:avLst>
          </a:prstGeom>
          <a:solidFill>
            <a:srgbClr val="141B36"/>
          </a:solidFill>
          <a:ln w="9525">
            <a:solidFill>
              <a:srgbClr val="2A3558"/>
            </a:solidFill>
            <a:prstDash val="solid"/>
          </a:ln>
        </p:spPr>
        <p:txBody>
          <a:bodyPr/>
          <a:lstStyle/>
          <a:p>
            <a:endParaRPr lang="en-US"/>
          </a:p>
        </p:txBody>
      </p:sp>
      <p:sp>
        <p:nvSpPr>
          <p:cNvPr id="16" name="Text 14"/>
          <p:cNvSpPr txBox="1"/>
          <p:nvPr/>
        </p:nvSpPr>
        <p:spPr>
          <a:xfrm>
            <a:off x="786384" y="5596128"/>
            <a:ext cx="5614416" cy="548640"/>
          </a:xfrm>
          <a:prstGeom prst="rect">
            <a:avLst/>
          </a:prstGeom>
          <a:noFill/>
          <a:ln/>
        </p:spPr>
        <p:txBody>
          <a:bodyPr wrap="square" lIns="0" tIns="0" rIns="0" bIns="0" rtlCol="0" anchor="t"/>
          <a:lstStyle/>
          <a:p>
            <a:pPr marL="0" indent="0">
              <a:lnSpc>
                <a:spcPts val="1300"/>
              </a:lnSpc>
              <a:buNone/>
            </a:pPr>
            <a:r>
              <a:rPr lang="en-US" sz="980" dirty="0">
                <a:solidFill>
                  <a:srgbClr val="E8B54A"/>
                </a:solidFill>
                <a:latin typeface="Calibri" pitchFamily="34" charset="0"/>
                <a:ea typeface="Calibri" pitchFamily="34" charset="-122"/>
                <a:cs typeface="Calibri" pitchFamily="34" charset="-120"/>
              </a:rPr>
              <a:t>Ending shipped: the timeline returns to its course. The player’s final state — score, shards, detections, playtime — is carried into the victory screen.</a:t>
            </a:r>
            <a:endParaRPr lang="en-US" sz="980" dirty="0"/>
          </a:p>
        </p:txBody>
      </p:sp>
      <p:sp>
        <p:nvSpPr>
          <p:cNvPr id="17" name="Shape 15"/>
          <p:cNvSpPr/>
          <p:nvPr/>
        </p:nvSpPr>
        <p:spPr>
          <a:xfrm>
            <a:off x="6789420" y="1449324"/>
            <a:ext cx="4873752" cy="3438144"/>
          </a:xfrm>
          <a:prstGeom prst="rect">
            <a:avLst/>
          </a:prstGeom>
          <a:solidFill>
            <a:srgbClr val="E8B54A"/>
          </a:solidFill>
          <a:ln w="12700">
            <a:solidFill>
              <a:srgbClr val="E8B54A"/>
            </a:solidFill>
            <a:prstDash val="solid"/>
          </a:ln>
        </p:spPr>
        <p:txBody>
          <a:bodyPr/>
          <a:lstStyle/>
          <a:p>
            <a:endParaRPr lang="en-US"/>
          </a:p>
        </p:txBody>
      </p:sp>
      <p:pic>
        <p:nvPicPr>
          <p:cNvPr id="18" name="Image 0" descr="C:\Users\Remote-BEAST\AppData\Local\Temp\claude\C--cs-degree-year-3-video-games-final-MuseumOfTime\4374ba47-f7d5-49a5-a1ce-b351b7c26d9c\scratchpad\img\victory.jpg"/>
          <p:cNvPicPr>
            <a:picLocks noChangeAspect="1"/>
          </p:cNvPicPr>
          <p:nvPr/>
        </p:nvPicPr>
        <p:blipFill>
          <a:blip r:embed="rId3"/>
          <a:stretch>
            <a:fillRect/>
          </a:stretch>
        </p:blipFill>
        <p:spPr>
          <a:xfrm>
            <a:off x="6821424" y="1481328"/>
            <a:ext cx="4809744" cy="3374136"/>
          </a:xfrm>
          <a:prstGeom prst="rect">
            <a:avLst/>
          </a:prstGeom>
        </p:spPr>
      </p:pic>
      <p:sp>
        <p:nvSpPr>
          <p:cNvPr id="19" name="Text 16"/>
          <p:cNvSpPr txBox="1"/>
          <p:nvPr/>
        </p:nvSpPr>
        <p:spPr>
          <a:xfrm>
            <a:off x="6821424" y="4974336"/>
            <a:ext cx="4809744" cy="274320"/>
          </a:xfrm>
          <a:prstGeom prst="rect">
            <a:avLst/>
          </a:prstGeom>
          <a:noFill/>
          <a:ln/>
        </p:spPr>
        <p:txBody>
          <a:bodyPr wrap="square" lIns="0" tIns="0" rIns="0" bIns="0" rtlCol="0" anchor="t"/>
          <a:lstStyle/>
          <a:p>
            <a:pPr marL="0" indent="0">
              <a:buNone/>
            </a:pPr>
            <a:r>
              <a:rPr lang="en-US" sz="850" i="1" dirty="0">
                <a:solidFill>
                  <a:srgbClr val="8A94B8"/>
                </a:solidFill>
                <a:latin typeface="Calibri" pitchFamily="34" charset="0"/>
                <a:ea typeface="Calibri" pitchFamily="34" charset="-122"/>
                <a:cs typeface="Calibri" pitchFamily="34" charset="-120"/>
              </a:rPr>
              <a:t>The victory screen reports the run back to the player.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0">
  <p:cSld name="Slide 4">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Core Gameplay Loop</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The same short loop repeats in every scene</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04</a:t>
            </a:r>
            <a:endParaRPr lang="en-US" sz="800" dirty="0"/>
          </a:p>
        </p:txBody>
      </p:sp>
      <p:sp>
        <p:nvSpPr>
          <p:cNvPr id="11" name="Shape 9"/>
          <p:cNvSpPr/>
          <p:nvPr/>
        </p:nvSpPr>
        <p:spPr>
          <a:xfrm>
            <a:off x="566928" y="1517904"/>
            <a:ext cx="2068373" cy="868680"/>
          </a:xfrm>
          <a:prstGeom prst="roundRect">
            <a:avLst>
              <a:gd name="adj" fmla="val 4211"/>
            </a:avLst>
          </a:prstGeom>
          <a:solidFill>
            <a:srgbClr val="1A2340"/>
          </a:solidFill>
          <a:ln w="9525">
            <a:solidFill>
              <a:srgbClr val="2A3558"/>
            </a:solidFill>
            <a:prstDash val="solid"/>
          </a:ln>
        </p:spPr>
        <p:txBody>
          <a:bodyPr/>
          <a:lstStyle/>
          <a:p>
            <a:endParaRPr lang="en-US"/>
          </a:p>
        </p:txBody>
      </p:sp>
      <p:sp>
        <p:nvSpPr>
          <p:cNvPr id="12" name="Text 10"/>
          <p:cNvSpPr txBox="1"/>
          <p:nvPr/>
        </p:nvSpPr>
        <p:spPr>
          <a:xfrm>
            <a:off x="621792" y="1517904"/>
            <a:ext cx="1958645" cy="868680"/>
          </a:xfrm>
          <a:prstGeom prst="rect">
            <a:avLst/>
          </a:prstGeom>
          <a:noFill/>
          <a:ln/>
        </p:spPr>
        <p:txBody>
          <a:bodyPr wrap="square" lIns="0" tIns="0" rIns="0" bIns="0" rtlCol="0" anchor="ctr"/>
          <a:lstStyle/>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Explore</a:t>
            </a:r>
            <a:endParaRPr lang="en-US" sz="1050" dirty="0"/>
          </a:p>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the era</a:t>
            </a:r>
            <a:endParaRPr lang="en-US" sz="1050" dirty="0"/>
          </a:p>
        </p:txBody>
      </p:sp>
      <p:sp>
        <p:nvSpPr>
          <p:cNvPr id="13" name="Text 11"/>
          <p:cNvSpPr txBox="1"/>
          <p:nvPr/>
        </p:nvSpPr>
        <p:spPr>
          <a:xfrm>
            <a:off x="2635301" y="1517904"/>
            <a:ext cx="182880" cy="86868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2818181" y="1517904"/>
            <a:ext cx="2068373" cy="868680"/>
          </a:xfrm>
          <a:prstGeom prst="roundRect">
            <a:avLst>
              <a:gd name="adj" fmla="val 4211"/>
            </a:avLst>
          </a:prstGeom>
          <a:solidFill>
            <a:srgbClr val="1A2340"/>
          </a:solidFill>
          <a:ln w="9525">
            <a:solidFill>
              <a:srgbClr val="2A3558"/>
            </a:solidFill>
            <a:prstDash val="solid"/>
          </a:ln>
        </p:spPr>
        <p:txBody>
          <a:bodyPr/>
          <a:lstStyle/>
          <a:p>
            <a:endParaRPr lang="en-US"/>
          </a:p>
        </p:txBody>
      </p:sp>
      <p:sp>
        <p:nvSpPr>
          <p:cNvPr id="15" name="Text 13"/>
          <p:cNvSpPr txBox="1"/>
          <p:nvPr/>
        </p:nvSpPr>
        <p:spPr>
          <a:xfrm>
            <a:off x="2873045" y="1517904"/>
            <a:ext cx="1958645" cy="868680"/>
          </a:xfrm>
          <a:prstGeom prst="rect">
            <a:avLst/>
          </a:prstGeom>
          <a:noFill/>
          <a:ln/>
        </p:spPr>
        <p:txBody>
          <a:bodyPr wrap="square" lIns="0" tIns="0" rIns="0" bIns="0" rtlCol="0" anchor="ctr"/>
          <a:lstStyle/>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Find</a:t>
            </a:r>
            <a:endParaRPr lang="en-US" sz="1050" dirty="0"/>
          </a:p>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what broke</a:t>
            </a:r>
            <a:endParaRPr lang="en-US" sz="1050" dirty="0"/>
          </a:p>
        </p:txBody>
      </p:sp>
      <p:sp>
        <p:nvSpPr>
          <p:cNvPr id="16" name="Text 14"/>
          <p:cNvSpPr txBox="1"/>
          <p:nvPr/>
        </p:nvSpPr>
        <p:spPr>
          <a:xfrm>
            <a:off x="4886554" y="1517904"/>
            <a:ext cx="182880" cy="86868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5069434" y="1517904"/>
            <a:ext cx="2068373" cy="868680"/>
          </a:xfrm>
          <a:prstGeom prst="roundRect">
            <a:avLst>
              <a:gd name="adj" fmla="val 4211"/>
            </a:avLst>
          </a:prstGeom>
          <a:solidFill>
            <a:srgbClr val="1A2340"/>
          </a:solidFill>
          <a:ln w="9525">
            <a:solidFill>
              <a:srgbClr val="2A3558"/>
            </a:solidFill>
            <a:prstDash val="solid"/>
          </a:ln>
        </p:spPr>
        <p:txBody>
          <a:bodyPr/>
          <a:lstStyle/>
          <a:p>
            <a:endParaRPr lang="en-US"/>
          </a:p>
        </p:txBody>
      </p:sp>
      <p:sp>
        <p:nvSpPr>
          <p:cNvPr id="18" name="Text 16"/>
          <p:cNvSpPr txBox="1"/>
          <p:nvPr/>
        </p:nvSpPr>
        <p:spPr>
          <a:xfrm>
            <a:off x="5124298" y="1517904"/>
            <a:ext cx="1958645" cy="868680"/>
          </a:xfrm>
          <a:prstGeom prst="rect">
            <a:avLst/>
          </a:prstGeom>
          <a:noFill/>
          <a:ln/>
        </p:spPr>
        <p:txBody>
          <a:bodyPr wrap="square" lIns="0" tIns="0" rIns="0" bIns="0" rtlCol="0" anchor="ctr"/>
          <a:lstStyle/>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Switch</a:t>
            </a:r>
            <a:endParaRPr lang="en-US" sz="1050" dirty="0"/>
          </a:p>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era</a:t>
            </a:r>
            <a:endParaRPr lang="en-US" sz="1050" dirty="0"/>
          </a:p>
        </p:txBody>
      </p:sp>
      <p:sp>
        <p:nvSpPr>
          <p:cNvPr id="19" name="Text 17"/>
          <p:cNvSpPr txBox="1"/>
          <p:nvPr/>
        </p:nvSpPr>
        <p:spPr>
          <a:xfrm>
            <a:off x="7137806" y="1517904"/>
            <a:ext cx="182880" cy="86868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0" name="Shape 18"/>
          <p:cNvSpPr/>
          <p:nvPr/>
        </p:nvSpPr>
        <p:spPr>
          <a:xfrm>
            <a:off x="7320686" y="1517904"/>
            <a:ext cx="2068373" cy="868680"/>
          </a:xfrm>
          <a:prstGeom prst="roundRect">
            <a:avLst>
              <a:gd name="adj" fmla="val 4211"/>
            </a:avLst>
          </a:prstGeom>
          <a:solidFill>
            <a:srgbClr val="1A2340"/>
          </a:solidFill>
          <a:ln w="9525">
            <a:solidFill>
              <a:srgbClr val="2A3558"/>
            </a:solidFill>
            <a:prstDash val="solid"/>
          </a:ln>
        </p:spPr>
        <p:txBody>
          <a:bodyPr/>
          <a:lstStyle/>
          <a:p>
            <a:endParaRPr lang="en-US"/>
          </a:p>
        </p:txBody>
      </p:sp>
      <p:sp>
        <p:nvSpPr>
          <p:cNvPr id="21" name="Text 19"/>
          <p:cNvSpPr txBox="1"/>
          <p:nvPr/>
        </p:nvSpPr>
        <p:spPr>
          <a:xfrm>
            <a:off x="7375550" y="1517904"/>
            <a:ext cx="1958645" cy="868680"/>
          </a:xfrm>
          <a:prstGeom prst="rect">
            <a:avLst/>
          </a:prstGeom>
          <a:noFill/>
          <a:ln/>
        </p:spPr>
        <p:txBody>
          <a:bodyPr wrap="square" lIns="0" tIns="0" rIns="0" bIns="0" rtlCol="0" anchor="ctr"/>
          <a:lstStyle/>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Solve</a:t>
            </a:r>
            <a:endParaRPr lang="en-US" sz="1050" dirty="0"/>
          </a:p>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the cause</a:t>
            </a:r>
            <a:endParaRPr lang="en-US" sz="1050" dirty="0"/>
          </a:p>
        </p:txBody>
      </p:sp>
      <p:sp>
        <p:nvSpPr>
          <p:cNvPr id="22" name="Text 20"/>
          <p:cNvSpPr txBox="1"/>
          <p:nvPr/>
        </p:nvSpPr>
        <p:spPr>
          <a:xfrm>
            <a:off x="9389059" y="1517904"/>
            <a:ext cx="182880" cy="86868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9571939" y="1517904"/>
            <a:ext cx="2068373" cy="868680"/>
          </a:xfrm>
          <a:prstGeom prst="roundRect">
            <a:avLst>
              <a:gd name="adj" fmla="val 4211"/>
            </a:avLst>
          </a:prstGeom>
          <a:solidFill>
            <a:srgbClr val="1A2340"/>
          </a:solidFill>
          <a:ln w="9525">
            <a:solidFill>
              <a:srgbClr val="2A3558"/>
            </a:solidFill>
            <a:prstDash val="solid"/>
          </a:ln>
        </p:spPr>
        <p:txBody>
          <a:bodyPr/>
          <a:lstStyle/>
          <a:p>
            <a:endParaRPr lang="en-US"/>
          </a:p>
        </p:txBody>
      </p:sp>
      <p:sp>
        <p:nvSpPr>
          <p:cNvPr id="24" name="Text 22"/>
          <p:cNvSpPr txBox="1"/>
          <p:nvPr/>
        </p:nvSpPr>
        <p:spPr>
          <a:xfrm>
            <a:off x="9626803" y="1517904"/>
            <a:ext cx="1958645" cy="868680"/>
          </a:xfrm>
          <a:prstGeom prst="rect">
            <a:avLst/>
          </a:prstGeom>
          <a:noFill/>
          <a:ln/>
        </p:spPr>
        <p:txBody>
          <a:bodyPr wrap="square" lIns="0" tIns="0" rIns="0" bIns="0" rtlCol="0" anchor="ctr"/>
          <a:lstStyle/>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Collect</a:t>
            </a:r>
            <a:endParaRPr lang="en-US" sz="1050" dirty="0"/>
          </a:p>
          <a:p>
            <a:pPr marL="0" indent="0" algn="ctr">
              <a:lnSpc>
                <a:spcPts val="1365"/>
              </a:lnSpc>
              <a:buNone/>
            </a:pPr>
            <a:r>
              <a:rPr lang="en-US" sz="1050" b="1" dirty="0">
                <a:solidFill>
                  <a:srgbClr val="FFFFFF"/>
                </a:solidFill>
                <a:latin typeface="Calibri" pitchFamily="34" charset="0"/>
                <a:ea typeface="Calibri" pitchFamily="34" charset="-122"/>
                <a:cs typeface="Calibri" pitchFamily="34" charset="-120"/>
              </a:rPr>
              <a:t>the shard</a:t>
            </a:r>
            <a:endParaRPr lang="en-US" sz="1050" dirty="0"/>
          </a:p>
        </p:txBody>
      </p:sp>
      <p:sp>
        <p:nvSpPr>
          <p:cNvPr id="25" name="Text 23"/>
          <p:cNvSpPr txBox="1"/>
          <p:nvPr/>
        </p:nvSpPr>
        <p:spPr>
          <a:xfrm>
            <a:off x="566928" y="2688336"/>
            <a:ext cx="5852160" cy="365760"/>
          </a:xfrm>
          <a:prstGeom prst="rect">
            <a:avLst/>
          </a:prstGeom>
          <a:noFill/>
          <a:ln/>
        </p:spPr>
        <p:txBody>
          <a:bodyPr wrap="square" lIns="0" tIns="0" rIns="0" bIns="0" rtlCol="0" anchor="t"/>
          <a:lstStyle/>
          <a:p>
            <a:pPr marL="0" indent="0">
              <a:buNone/>
            </a:pPr>
            <a:r>
              <a:rPr lang="en-US" sz="1700" b="1" dirty="0">
                <a:solidFill>
                  <a:srgbClr val="E8B54A"/>
                </a:solidFill>
                <a:latin typeface="Calibri" pitchFamily="34" charset="0"/>
                <a:ea typeface="Calibri" pitchFamily="34" charset="-122"/>
                <a:cs typeface="Calibri" pitchFamily="34" charset="-120"/>
              </a:rPr>
              <a:t>Time is the mechanic, not the setting.</a:t>
            </a:r>
            <a:endParaRPr lang="en-US" sz="1700" dirty="0"/>
          </a:p>
        </p:txBody>
      </p:sp>
      <p:sp>
        <p:nvSpPr>
          <p:cNvPr id="26" name="Text 24"/>
          <p:cNvSpPr txBox="1"/>
          <p:nvPr/>
        </p:nvSpPr>
        <p:spPr>
          <a:xfrm>
            <a:off x="566928" y="3182112"/>
            <a:ext cx="5852160" cy="1371600"/>
          </a:xfrm>
          <a:prstGeom prst="rect">
            <a:avLst/>
          </a:prstGeom>
          <a:noFill/>
          <a:ln/>
        </p:spPr>
        <p:txBody>
          <a:bodyPr wrap="square" lIns="0" tIns="0" rIns="0" bIns="0" rtlCol="0" anchor="t"/>
          <a:lstStyle/>
          <a:p>
            <a:pPr marL="342900" indent="-342900">
              <a:lnSpc>
                <a:spcPts val="1562"/>
              </a:lnSpc>
              <a:spcAft>
                <a:spcPts val="300"/>
              </a:spcAft>
              <a:buSzPct val="100000"/>
              <a:buChar char="•"/>
            </a:pPr>
            <a:r>
              <a:rPr lang="en-US" sz="1100" dirty="0">
                <a:solidFill>
                  <a:srgbClr val="C9D2E8"/>
                </a:solidFill>
                <a:latin typeface="Calibri" pitchFamily="34" charset="0"/>
                <a:ea typeface="Calibri" pitchFamily="34" charset="-122"/>
                <a:cs typeface="Calibri" pitchFamily="34" charset="-120"/>
              </a:rPr>
              <a:t>Past — move objects and undo the cause.</a:t>
            </a:r>
            <a:endParaRPr lang="en-US" sz="1100" dirty="0"/>
          </a:p>
          <a:p>
            <a:pPr marL="342900" indent="-342900">
              <a:lnSpc>
                <a:spcPts val="1562"/>
              </a:lnSpc>
              <a:spcAft>
                <a:spcPts val="300"/>
              </a:spcAft>
              <a:buSzPct val="100000"/>
              <a:buChar char="•"/>
            </a:pPr>
            <a:r>
              <a:rPr lang="en-US" sz="1100" dirty="0">
                <a:solidFill>
                  <a:srgbClr val="C9D2E8"/>
                </a:solidFill>
                <a:latin typeface="Calibri" pitchFamily="34" charset="0"/>
                <a:ea typeface="Calibri" pitchFamily="34" charset="-122"/>
                <a:cs typeface="Calibri" pitchFamily="34" charset="-120"/>
              </a:rPr>
              <a:t>Present — perform the main objective.</a:t>
            </a:r>
            <a:endParaRPr lang="en-US" sz="1100" dirty="0"/>
          </a:p>
          <a:p>
            <a:pPr marL="342900" indent="-342900">
              <a:lnSpc>
                <a:spcPts val="1562"/>
              </a:lnSpc>
              <a:spcAft>
                <a:spcPts val="300"/>
              </a:spcAft>
              <a:buSzPct val="100000"/>
              <a:buChar char="•"/>
            </a:pPr>
            <a:r>
              <a:rPr lang="en-US" sz="1100" dirty="0">
                <a:solidFill>
                  <a:srgbClr val="C9D2E8"/>
                </a:solidFill>
                <a:latin typeface="Calibri" pitchFamily="34" charset="0"/>
                <a:ea typeface="Calibri" pitchFamily="34" charset="-122"/>
                <a:cs typeface="Calibri" pitchFamily="34" charset="-120"/>
              </a:rPr>
              <a:t>Future — check the consequence and open the way on.</a:t>
            </a:r>
            <a:endParaRPr lang="en-US" sz="1100" dirty="0"/>
          </a:p>
        </p:txBody>
      </p:sp>
      <p:sp>
        <p:nvSpPr>
          <p:cNvPr id="27" name="Text 25"/>
          <p:cNvSpPr txBox="1"/>
          <p:nvPr/>
        </p:nvSpPr>
        <p:spPr>
          <a:xfrm>
            <a:off x="566928" y="4718304"/>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PLAYER VERBS</a:t>
            </a:r>
            <a:endParaRPr lang="en-US" sz="800" dirty="0"/>
          </a:p>
        </p:txBody>
      </p:sp>
      <p:sp>
        <p:nvSpPr>
          <p:cNvPr id="28" name="Shape 26"/>
          <p:cNvSpPr/>
          <p:nvPr/>
        </p:nvSpPr>
        <p:spPr>
          <a:xfrm>
            <a:off x="566928" y="4992624"/>
            <a:ext cx="1068019" cy="566928"/>
          </a:xfrm>
          <a:prstGeom prst="roundRect">
            <a:avLst>
              <a:gd name="adj" fmla="val 6452"/>
            </a:avLst>
          </a:prstGeom>
          <a:solidFill>
            <a:srgbClr val="1A2340"/>
          </a:solidFill>
          <a:ln w="9525">
            <a:solidFill>
              <a:srgbClr val="2A3558"/>
            </a:solidFill>
            <a:prstDash val="solid"/>
          </a:ln>
        </p:spPr>
        <p:txBody>
          <a:bodyPr/>
          <a:lstStyle/>
          <a:p>
            <a:endParaRPr lang="en-US"/>
          </a:p>
        </p:txBody>
      </p:sp>
      <p:sp>
        <p:nvSpPr>
          <p:cNvPr id="29" name="Text 27"/>
          <p:cNvSpPr txBox="1"/>
          <p:nvPr/>
        </p:nvSpPr>
        <p:spPr>
          <a:xfrm>
            <a:off x="621792" y="4992624"/>
            <a:ext cx="958291" cy="566928"/>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Move</a:t>
            </a:r>
            <a:endParaRPr lang="en-US" sz="920" dirty="0"/>
          </a:p>
        </p:txBody>
      </p:sp>
      <p:sp>
        <p:nvSpPr>
          <p:cNvPr id="30" name="Text 28"/>
          <p:cNvSpPr txBox="1"/>
          <p:nvPr/>
        </p:nvSpPr>
        <p:spPr>
          <a:xfrm>
            <a:off x="1634947" y="4992624"/>
            <a:ext cx="128016" cy="566928"/>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31" name="Shape 29"/>
          <p:cNvSpPr/>
          <p:nvPr/>
        </p:nvSpPr>
        <p:spPr>
          <a:xfrm>
            <a:off x="1762963" y="4992624"/>
            <a:ext cx="1068019" cy="566928"/>
          </a:xfrm>
          <a:prstGeom prst="roundRect">
            <a:avLst>
              <a:gd name="adj" fmla="val 6452"/>
            </a:avLst>
          </a:prstGeom>
          <a:solidFill>
            <a:srgbClr val="1A2340"/>
          </a:solidFill>
          <a:ln w="9525">
            <a:solidFill>
              <a:srgbClr val="2A3558"/>
            </a:solidFill>
            <a:prstDash val="solid"/>
          </a:ln>
        </p:spPr>
        <p:txBody>
          <a:bodyPr/>
          <a:lstStyle/>
          <a:p>
            <a:endParaRPr lang="en-US"/>
          </a:p>
        </p:txBody>
      </p:sp>
      <p:sp>
        <p:nvSpPr>
          <p:cNvPr id="32" name="Text 30"/>
          <p:cNvSpPr txBox="1"/>
          <p:nvPr/>
        </p:nvSpPr>
        <p:spPr>
          <a:xfrm>
            <a:off x="1817827" y="4992624"/>
            <a:ext cx="958291" cy="566928"/>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Interact</a:t>
            </a:r>
            <a:endParaRPr lang="en-US" sz="920" dirty="0"/>
          </a:p>
        </p:txBody>
      </p:sp>
      <p:sp>
        <p:nvSpPr>
          <p:cNvPr id="33" name="Text 31"/>
          <p:cNvSpPr txBox="1"/>
          <p:nvPr/>
        </p:nvSpPr>
        <p:spPr>
          <a:xfrm>
            <a:off x="2830982" y="4992624"/>
            <a:ext cx="128016" cy="566928"/>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34" name="Shape 32"/>
          <p:cNvSpPr/>
          <p:nvPr/>
        </p:nvSpPr>
        <p:spPr>
          <a:xfrm>
            <a:off x="2958998" y="4992624"/>
            <a:ext cx="1068019" cy="566928"/>
          </a:xfrm>
          <a:prstGeom prst="roundRect">
            <a:avLst>
              <a:gd name="adj" fmla="val 6452"/>
            </a:avLst>
          </a:prstGeom>
          <a:solidFill>
            <a:srgbClr val="1A2340"/>
          </a:solidFill>
          <a:ln w="9525">
            <a:solidFill>
              <a:srgbClr val="2A3558"/>
            </a:solidFill>
            <a:prstDash val="solid"/>
          </a:ln>
        </p:spPr>
        <p:txBody>
          <a:bodyPr/>
          <a:lstStyle/>
          <a:p>
            <a:endParaRPr lang="en-US"/>
          </a:p>
        </p:txBody>
      </p:sp>
      <p:sp>
        <p:nvSpPr>
          <p:cNvPr id="35" name="Text 33"/>
          <p:cNvSpPr txBox="1"/>
          <p:nvPr/>
        </p:nvSpPr>
        <p:spPr>
          <a:xfrm>
            <a:off x="3013862" y="4992624"/>
            <a:ext cx="958291" cy="566928"/>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Throw</a:t>
            </a:r>
            <a:endParaRPr lang="en-US" sz="920" dirty="0"/>
          </a:p>
        </p:txBody>
      </p:sp>
      <p:sp>
        <p:nvSpPr>
          <p:cNvPr id="36" name="Text 34"/>
          <p:cNvSpPr txBox="1"/>
          <p:nvPr/>
        </p:nvSpPr>
        <p:spPr>
          <a:xfrm>
            <a:off x="4027018" y="4992624"/>
            <a:ext cx="128016" cy="566928"/>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37" name="Shape 35"/>
          <p:cNvSpPr/>
          <p:nvPr/>
        </p:nvSpPr>
        <p:spPr>
          <a:xfrm>
            <a:off x="4155034" y="4992624"/>
            <a:ext cx="1068019" cy="566928"/>
          </a:xfrm>
          <a:prstGeom prst="roundRect">
            <a:avLst>
              <a:gd name="adj" fmla="val 6452"/>
            </a:avLst>
          </a:prstGeom>
          <a:solidFill>
            <a:srgbClr val="1A2340"/>
          </a:solidFill>
          <a:ln w="9525">
            <a:solidFill>
              <a:srgbClr val="2A3558"/>
            </a:solidFill>
            <a:prstDash val="solid"/>
          </a:ln>
        </p:spPr>
        <p:txBody>
          <a:bodyPr/>
          <a:lstStyle/>
          <a:p>
            <a:endParaRPr lang="en-US"/>
          </a:p>
        </p:txBody>
      </p:sp>
      <p:sp>
        <p:nvSpPr>
          <p:cNvPr id="38" name="Text 36"/>
          <p:cNvSpPr txBox="1"/>
          <p:nvPr/>
        </p:nvSpPr>
        <p:spPr>
          <a:xfrm>
            <a:off x="4209898" y="4992624"/>
            <a:ext cx="958291" cy="566928"/>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Slow time</a:t>
            </a:r>
            <a:endParaRPr lang="en-US" sz="920" dirty="0"/>
          </a:p>
        </p:txBody>
      </p:sp>
      <p:sp>
        <p:nvSpPr>
          <p:cNvPr id="39" name="Text 37"/>
          <p:cNvSpPr txBox="1"/>
          <p:nvPr/>
        </p:nvSpPr>
        <p:spPr>
          <a:xfrm>
            <a:off x="5223053" y="4992624"/>
            <a:ext cx="128016" cy="566928"/>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40" name="Shape 38"/>
          <p:cNvSpPr/>
          <p:nvPr/>
        </p:nvSpPr>
        <p:spPr>
          <a:xfrm>
            <a:off x="5351069" y="4992624"/>
            <a:ext cx="1068019" cy="566928"/>
          </a:xfrm>
          <a:prstGeom prst="roundRect">
            <a:avLst>
              <a:gd name="adj" fmla="val 6452"/>
            </a:avLst>
          </a:prstGeom>
          <a:solidFill>
            <a:srgbClr val="1A2340"/>
          </a:solidFill>
          <a:ln w="9525">
            <a:solidFill>
              <a:srgbClr val="2A3558"/>
            </a:solidFill>
            <a:prstDash val="solid"/>
          </a:ln>
        </p:spPr>
        <p:txBody>
          <a:bodyPr/>
          <a:lstStyle/>
          <a:p>
            <a:endParaRPr lang="en-US"/>
          </a:p>
        </p:txBody>
      </p:sp>
      <p:sp>
        <p:nvSpPr>
          <p:cNvPr id="41" name="Text 39"/>
          <p:cNvSpPr txBox="1"/>
          <p:nvPr/>
        </p:nvSpPr>
        <p:spPr>
          <a:xfrm>
            <a:off x="5405933" y="4992624"/>
            <a:ext cx="958291" cy="566928"/>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Hide</a:t>
            </a:r>
            <a:endParaRPr lang="en-US" sz="920" dirty="0"/>
          </a:p>
        </p:txBody>
      </p:sp>
      <p:sp>
        <p:nvSpPr>
          <p:cNvPr id="42" name="Shape 40"/>
          <p:cNvSpPr/>
          <p:nvPr/>
        </p:nvSpPr>
        <p:spPr>
          <a:xfrm>
            <a:off x="6711696" y="2688336"/>
            <a:ext cx="4919472" cy="2871216"/>
          </a:xfrm>
          <a:prstGeom prst="roundRect">
            <a:avLst>
              <a:gd name="adj" fmla="val 1274"/>
            </a:avLst>
          </a:prstGeom>
          <a:solidFill>
            <a:srgbClr val="141B36"/>
          </a:solidFill>
          <a:ln w="9525">
            <a:solidFill>
              <a:srgbClr val="2A3558"/>
            </a:solidFill>
            <a:prstDash val="solid"/>
          </a:ln>
        </p:spPr>
        <p:txBody>
          <a:bodyPr/>
          <a:lstStyle/>
          <a:p>
            <a:endParaRPr lang="en-US"/>
          </a:p>
        </p:txBody>
      </p:sp>
      <p:sp>
        <p:nvSpPr>
          <p:cNvPr id="43" name="Text 41"/>
          <p:cNvSpPr txBox="1"/>
          <p:nvPr/>
        </p:nvSpPr>
        <p:spPr>
          <a:xfrm>
            <a:off x="6949440" y="2852928"/>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WHY THE LOOP HOLDS TOGETHER</a:t>
            </a:r>
            <a:endParaRPr lang="en-US" sz="800" dirty="0"/>
          </a:p>
        </p:txBody>
      </p:sp>
      <p:sp>
        <p:nvSpPr>
          <p:cNvPr id="44" name="Text 42"/>
          <p:cNvSpPr txBox="1"/>
          <p:nvPr/>
        </p:nvSpPr>
        <p:spPr>
          <a:xfrm>
            <a:off x="6949440" y="3145536"/>
            <a:ext cx="4443984" cy="2286000"/>
          </a:xfrm>
          <a:prstGeom prst="rect">
            <a:avLst/>
          </a:prstGeom>
          <a:noFill/>
          <a:ln/>
        </p:spPr>
        <p:txBody>
          <a:bodyPr wrap="square" lIns="0" tIns="0" rIns="0" bIns="0" rtlCol="0" anchor="t"/>
          <a:lstStyle/>
          <a:p>
            <a:pPr marL="0" indent="0">
              <a:lnSpc>
                <a:spcPts val="1448"/>
              </a:lnSpc>
              <a:buNone/>
            </a:pPr>
            <a:r>
              <a:rPr lang="en-US" sz="1020" dirty="0">
                <a:solidFill>
                  <a:srgbClr val="C9D2E8"/>
                </a:solidFill>
                <a:latin typeface="Calibri" pitchFamily="34" charset="0"/>
                <a:ea typeface="Calibri" pitchFamily="34" charset="-122"/>
                <a:cs typeface="Calibri" pitchFamily="34" charset="-120"/>
              </a:rPr>
              <a:t>An object moved in the Past stays moved in the Present and the Future — its position propagates forward through the eras.</a:t>
            </a:r>
            <a:endParaRPr lang="en-US" sz="1020" dirty="0"/>
          </a:p>
          <a:p>
            <a:pPr marL="0" indent="0">
              <a:lnSpc>
                <a:spcPts val="1448"/>
              </a:lnSpc>
              <a:buNone/>
            </a:pPr>
            <a:endParaRPr lang="en-US" sz="1020" dirty="0"/>
          </a:p>
          <a:p>
            <a:pPr marL="0" indent="0">
              <a:lnSpc>
                <a:spcPts val="1448"/>
              </a:lnSpc>
              <a:buNone/>
            </a:pPr>
            <a:r>
              <a:rPr lang="en-US" sz="1020" dirty="0">
                <a:solidFill>
                  <a:srgbClr val="C9D2E8"/>
                </a:solidFill>
                <a:latin typeface="Calibri" pitchFamily="34" charset="0"/>
                <a:ea typeface="Calibri" pitchFamily="34" charset="-122"/>
                <a:cs typeface="Calibri" pitchFamily="34" charset="-120"/>
              </a:rPr>
              <a:t>That is what makes the cross-era puzzles solvable, and what lets a careless fix in the past show up later as a consequence.</a:t>
            </a:r>
            <a:endParaRPr lang="en-US" sz="1020" dirty="0"/>
          </a:p>
          <a:p>
            <a:pPr marL="0" indent="0">
              <a:lnSpc>
                <a:spcPts val="1448"/>
              </a:lnSpc>
              <a:buNone/>
            </a:pPr>
            <a:endParaRPr lang="en-US" sz="1020" dirty="0"/>
          </a:p>
          <a:p>
            <a:pPr marL="0" indent="0">
              <a:lnSpc>
                <a:spcPts val="1448"/>
              </a:lnSpc>
              <a:buNone/>
            </a:pPr>
            <a:r>
              <a:rPr lang="en-US" sz="1020" dirty="0">
                <a:solidFill>
                  <a:srgbClr val="C9D2E8"/>
                </a:solidFill>
                <a:latin typeface="Calibri" pitchFamily="34" charset="0"/>
                <a:ea typeface="Calibri" pitchFamily="34" charset="-122"/>
                <a:cs typeface="Calibri" pitchFamily="34" charset="-120"/>
              </a:rPr>
              <a:t>Switching era costs energy, so travelling through time is a resource the player spends, not a free camera.</a:t>
            </a:r>
            <a:endParaRPr lang="en-US" sz="10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Game Structure</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Five Unity scenes; three of them are gameplay</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06</a:t>
            </a:r>
            <a:endParaRPr lang="en-US" sz="800" dirty="0"/>
          </a:p>
        </p:txBody>
      </p:sp>
      <p:sp>
        <p:nvSpPr>
          <p:cNvPr id="11" name="Shape 9"/>
          <p:cNvSpPr/>
          <p:nvPr/>
        </p:nvSpPr>
        <p:spPr>
          <a:xfrm>
            <a:off x="566928" y="1499616"/>
            <a:ext cx="2068373" cy="822960"/>
          </a:xfrm>
          <a:prstGeom prst="roundRect">
            <a:avLst>
              <a:gd name="adj" fmla="val 4444"/>
            </a:avLst>
          </a:prstGeom>
          <a:solidFill>
            <a:srgbClr val="1A2340"/>
          </a:solidFill>
          <a:ln w="9525">
            <a:solidFill>
              <a:srgbClr val="2A3558"/>
            </a:solidFill>
            <a:prstDash val="solid"/>
          </a:ln>
        </p:spPr>
        <p:txBody>
          <a:bodyPr/>
          <a:lstStyle/>
          <a:p>
            <a:endParaRPr lang="en-US"/>
          </a:p>
        </p:txBody>
      </p:sp>
      <p:sp>
        <p:nvSpPr>
          <p:cNvPr id="12" name="Text 10"/>
          <p:cNvSpPr txBox="1"/>
          <p:nvPr/>
        </p:nvSpPr>
        <p:spPr>
          <a:xfrm>
            <a:off x="621792" y="1499616"/>
            <a:ext cx="1958645" cy="822960"/>
          </a:xfrm>
          <a:prstGeom prst="rect">
            <a:avLst/>
          </a:prstGeom>
          <a:noFill/>
          <a:ln/>
        </p:spPr>
        <p:txBody>
          <a:bodyPr wrap="square" lIns="0" tIns="0" rIns="0" bIns="0" rtlCol="0" anchor="ctr"/>
          <a:lstStyle/>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Main</a:t>
            </a:r>
            <a:endParaRPr lang="en-US" sz="1020" dirty="0"/>
          </a:p>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Menu</a:t>
            </a:r>
            <a:endParaRPr lang="en-US" sz="1020" dirty="0"/>
          </a:p>
        </p:txBody>
      </p:sp>
      <p:sp>
        <p:nvSpPr>
          <p:cNvPr id="13" name="Text 11"/>
          <p:cNvSpPr txBox="1"/>
          <p:nvPr/>
        </p:nvSpPr>
        <p:spPr>
          <a:xfrm>
            <a:off x="2635301" y="1499616"/>
            <a:ext cx="182880" cy="82296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2818181" y="1499616"/>
            <a:ext cx="2068373" cy="822960"/>
          </a:xfrm>
          <a:prstGeom prst="roundRect">
            <a:avLst>
              <a:gd name="adj" fmla="val 4444"/>
            </a:avLst>
          </a:prstGeom>
          <a:solidFill>
            <a:srgbClr val="1A2340"/>
          </a:solidFill>
          <a:ln w="9525">
            <a:solidFill>
              <a:srgbClr val="2A3558"/>
            </a:solidFill>
            <a:prstDash val="solid"/>
          </a:ln>
        </p:spPr>
        <p:txBody>
          <a:bodyPr/>
          <a:lstStyle/>
          <a:p>
            <a:endParaRPr lang="en-US"/>
          </a:p>
        </p:txBody>
      </p:sp>
      <p:sp>
        <p:nvSpPr>
          <p:cNvPr id="15" name="Text 13"/>
          <p:cNvSpPr txBox="1"/>
          <p:nvPr/>
        </p:nvSpPr>
        <p:spPr>
          <a:xfrm>
            <a:off x="2873045" y="1499616"/>
            <a:ext cx="1958645" cy="822960"/>
          </a:xfrm>
          <a:prstGeom prst="rect">
            <a:avLst/>
          </a:prstGeom>
          <a:noFill/>
          <a:ln/>
        </p:spPr>
        <p:txBody>
          <a:bodyPr wrap="square" lIns="0" tIns="0" rIns="0" bIns="0" rtlCol="0" anchor="ctr"/>
          <a:lstStyle/>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Scene 1</a:t>
            </a:r>
            <a:endParaRPr lang="en-US" sz="1020" dirty="0"/>
          </a:p>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MuseumNight</a:t>
            </a:r>
            <a:endParaRPr lang="en-US" sz="1020" dirty="0"/>
          </a:p>
        </p:txBody>
      </p:sp>
      <p:sp>
        <p:nvSpPr>
          <p:cNvPr id="16" name="Text 14"/>
          <p:cNvSpPr txBox="1"/>
          <p:nvPr/>
        </p:nvSpPr>
        <p:spPr>
          <a:xfrm>
            <a:off x="4886554" y="1499616"/>
            <a:ext cx="182880" cy="82296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5069434" y="1499616"/>
            <a:ext cx="2068373" cy="822960"/>
          </a:xfrm>
          <a:prstGeom prst="roundRect">
            <a:avLst>
              <a:gd name="adj" fmla="val 4444"/>
            </a:avLst>
          </a:prstGeom>
          <a:solidFill>
            <a:srgbClr val="1A2340"/>
          </a:solidFill>
          <a:ln w="9525">
            <a:solidFill>
              <a:srgbClr val="2A3558"/>
            </a:solidFill>
            <a:prstDash val="solid"/>
          </a:ln>
        </p:spPr>
        <p:txBody>
          <a:bodyPr/>
          <a:lstStyle/>
          <a:p>
            <a:endParaRPr lang="en-US"/>
          </a:p>
        </p:txBody>
      </p:sp>
      <p:sp>
        <p:nvSpPr>
          <p:cNvPr id="18" name="Text 16"/>
          <p:cNvSpPr txBox="1"/>
          <p:nvPr/>
        </p:nvSpPr>
        <p:spPr>
          <a:xfrm>
            <a:off x="5124298" y="1499616"/>
            <a:ext cx="1958645" cy="822960"/>
          </a:xfrm>
          <a:prstGeom prst="rect">
            <a:avLst/>
          </a:prstGeom>
          <a:noFill/>
          <a:ln/>
        </p:spPr>
        <p:txBody>
          <a:bodyPr wrap="square" lIns="0" tIns="0" rIns="0" bIns="0" rtlCol="0" anchor="ctr"/>
          <a:lstStyle/>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Scene 2</a:t>
            </a:r>
            <a:endParaRPr lang="en-US" sz="1020" dirty="0"/>
          </a:p>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FrozenCity</a:t>
            </a:r>
            <a:endParaRPr lang="en-US" sz="1020" dirty="0"/>
          </a:p>
        </p:txBody>
      </p:sp>
      <p:sp>
        <p:nvSpPr>
          <p:cNvPr id="19" name="Text 17"/>
          <p:cNvSpPr txBox="1"/>
          <p:nvPr/>
        </p:nvSpPr>
        <p:spPr>
          <a:xfrm>
            <a:off x="7137806" y="1499616"/>
            <a:ext cx="182880" cy="82296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0" name="Shape 18"/>
          <p:cNvSpPr/>
          <p:nvPr/>
        </p:nvSpPr>
        <p:spPr>
          <a:xfrm>
            <a:off x="7320686" y="1499616"/>
            <a:ext cx="2068373" cy="822960"/>
          </a:xfrm>
          <a:prstGeom prst="roundRect">
            <a:avLst>
              <a:gd name="adj" fmla="val 4444"/>
            </a:avLst>
          </a:prstGeom>
          <a:solidFill>
            <a:srgbClr val="1A2340"/>
          </a:solidFill>
          <a:ln w="9525">
            <a:solidFill>
              <a:srgbClr val="2A3558"/>
            </a:solidFill>
            <a:prstDash val="solid"/>
          </a:ln>
        </p:spPr>
        <p:txBody>
          <a:bodyPr/>
          <a:lstStyle/>
          <a:p>
            <a:endParaRPr lang="en-US"/>
          </a:p>
        </p:txBody>
      </p:sp>
      <p:sp>
        <p:nvSpPr>
          <p:cNvPr id="21" name="Text 19"/>
          <p:cNvSpPr txBox="1"/>
          <p:nvPr/>
        </p:nvSpPr>
        <p:spPr>
          <a:xfrm>
            <a:off x="7375550" y="1499616"/>
            <a:ext cx="1958645" cy="822960"/>
          </a:xfrm>
          <a:prstGeom prst="rect">
            <a:avLst/>
          </a:prstGeom>
          <a:noFill/>
          <a:ln/>
        </p:spPr>
        <p:txBody>
          <a:bodyPr wrap="square" lIns="0" tIns="0" rIns="0" bIns="0" rtlCol="0" anchor="ctr"/>
          <a:lstStyle/>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Scene 3</a:t>
            </a:r>
            <a:endParaRPr lang="en-US" sz="1020" dirty="0"/>
          </a:p>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ClockCore</a:t>
            </a:r>
            <a:endParaRPr lang="en-US" sz="1020" dirty="0"/>
          </a:p>
        </p:txBody>
      </p:sp>
      <p:sp>
        <p:nvSpPr>
          <p:cNvPr id="22" name="Text 20"/>
          <p:cNvSpPr txBox="1"/>
          <p:nvPr/>
        </p:nvSpPr>
        <p:spPr>
          <a:xfrm>
            <a:off x="9389059" y="1499616"/>
            <a:ext cx="182880" cy="82296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9571939" y="1499616"/>
            <a:ext cx="2068373" cy="822960"/>
          </a:xfrm>
          <a:prstGeom prst="roundRect">
            <a:avLst>
              <a:gd name="adj" fmla="val 4444"/>
            </a:avLst>
          </a:prstGeom>
          <a:solidFill>
            <a:srgbClr val="1A2340"/>
          </a:solidFill>
          <a:ln w="9525">
            <a:solidFill>
              <a:srgbClr val="2A3558"/>
            </a:solidFill>
            <a:prstDash val="solid"/>
          </a:ln>
        </p:spPr>
        <p:txBody>
          <a:bodyPr/>
          <a:lstStyle/>
          <a:p>
            <a:endParaRPr lang="en-US"/>
          </a:p>
        </p:txBody>
      </p:sp>
      <p:sp>
        <p:nvSpPr>
          <p:cNvPr id="24" name="Text 22"/>
          <p:cNvSpPr txBox="1"/>
          <p:nvPr/>
        </p:nvSpPr>
        <p:spPr>
          <a:xfrm>
            <a:off x="9626803" y="1499616"/>
            <a:ext cx="1958645" cy="822960"/>
          </a:xfrm>
          <a:prstGeom prst="rect">
            <a:avLst/>
          </a:prstGeom>
          <a:noFill/>
          <a:ln/>
        </p:spPr>
        <p:txBody>
          <a:bodyPr wrap="square" lIns="0" tIns="0" rIns="0" bIns="0" rtlCol="0" anchor="ctr"/>
          <a:lstStyle/>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Victory</a:t>
            </a:r>
            <a:endParaRPr lang="en-US" sz="1020" dirty="0"/>
          </a:p>
          <a:p>
            <a:pPr marL="0" indent="0" algn="ctr">
              <a:lnSpc>
                <a:spcPts val="1326"/>
              </a:lnSpc>
              <a:buNone/>
            </a:pPr>
            <a:r>
              <a:rPr lang="en-US" sz="1020" b="1" dirty="0">
                <a:solidFill>
                  <a:srgbClr val="FFFFFF"/>
                </a:solidFill>
                <a:latin typeface="Calibri" pitchFamily="34" charset="0"/>
                <a:ea typeface="Calibri" pitchFamily="34" charset="-122"/>
                <a:cs typeface="Calibri" pitchFamily="34" charset="-120"/>
              </a:rPr>
              <a:t>Screen</a:t>
            </a:r>
            <a:endParaRPr lang="en-US" sz="1020" dirty="0"/>
          </a:p>
        </p:txBody>
      </p:sp>
      <p:sp>
        <p:nvSpPr>
          <p:cNvPr id="25" name="Text 23"/>
          <p:cNvSpPr txBox="1"/>
          <p:nvPr/>
        </p:nvSpPr>
        <p:spPr>
          <a:xfrm>
            <a:off x="566928" y="2615184"/>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LOGICAL CONNECTION</a:t>
            </a:r>
            <a:endParaRPr lang="en-US" sz="800" dirty="0"/>
          </a:p>
        </p:txBody>
      </p:sp>
      <p:sp>
        <p:nvSpPr>
          <p:cNvPr id="26" name="Text 24"/>
          <p:cNvSpPr txBox="1"/>
          <p:nvPr/>
        </p:nvSpPr>
        <p:spPr>
          <a:xfrm>
            <a:off x="566928" y="2889504"/>
            <a:ext cx="5943600" cy="1828800"/>
          </a:xfrm>
          <a:prstGeom prst="rect">
            <a:avLst/>
          </a:prstGeom>
          <a:noFill/>
          <a:ln/>
        </p:spPr>
        <p:txBody>
          <a:bodyPr wrap="square" lIns="0" tIns="0" rIns="0" bIns="0" rtlCol="0" anchor="t"/>
          <a:lstStyle/>
          <a:p>
            <a:pPr marL="342900" indent="-342900">
              <a:lnSpc>
                <a:spcPts val="1505"/>
              </a:lnSpc>
              <a:spcAft>
                <a:spcPts val="300"/>
              </a:spcAft>
              <a:buSzPct val="100000"/>
              <a:buChar char="•"/>
            </a:pPr>
            <a:r>
              <a:rPr lang="en-US" sz="1060" dirty="0">
                <a:solidFill>
                  <a:srgbClr val="C9D2E8"/>
                </a:solidFill>
                <a:latin typeface="Calibri" pitchFamily="34" charset="0"/>
                <a:ea typeface="Calibri" pitchFamily="34" charset="-122"/>
                <a:cs typeface="Calibri" pitchFamily="34" charset="-120"/>
              </a:rPr>
              <a:t>The Clock of Creation breaks during Noa’s night shift, and era travel unlocks.</a:t>
            </a:r>
            <a:endParaRPr lang="en-US" sz="1060" dirty="0"/>
          </a:p>
          <a:p>
            <a:pPr marL="342900" indent="-342900">
              <a:lnSpc>
                <a:spcPts val="1505"/>
              </a:lnSpc>
              <a:spcAft>
                <a:spcPts val="300"/>
              </a:spcAft>
              <a:buSzPct val="100000"/>
              <a:buChar char="•"/>
            </a:pPr>
            <a:r>
              <a:rPr lang="en-US" sz="1060" dirty="0">
                <a:solidFill>
                  <a:srgbClr val="C9D2E8"/>
                </a:solidFill>
                <a:latin typeface="Calibri" pitchFamily="34" charset="0"/>
                <a:ea typeface="Calibri" pitchFamily="34" charset="-122"/>
                <a:cs typeface="Calibri" pitchFamily="34" charset="-120"/>
              </a:rPr>
              <a:t>The Time Lens found in the museum is what opens the door to the frozen city.</a:t>
            </a:r>
            <a:endParaRPr lang="en-US" sz="1060" dirty="0"/>
          </a:p>
          <a:p>
            <a:pPr marL="342900" indent="-342900">
              <a:lnSpc>
                <a:spcPts val="1505"/>
              </a:lnSpc>
              <a:spcAft>
                <a:spcPts val="300"/>
              </a:spcAft>
              <a:buSzPct val="100000"/>
              <a:buChar char="•"/>
            </a:pPr>
            <a:r>
              <a:rPr lang="en-US" sz="1060" dirty="0">
                <a:solidFill>
                  <a:srgbClr val="C9D2E8"/>
                </a:solidFill>
                <a:latin typeface="Calibri" pitchFamily="34" charset="0"/>
                <a:ea typeface="Calibri" pitchFamily="34" charset="-122"/>
                <a:cs typeface="Calibri" pitchFamily="34" charset="-120"/>
              </a:rPr>
              <a:t>Freeing the city yields the Chrono Hourglass, which opens the clock core.</a:t>
            </a:r>
            <a:endParaRPr lang="en-US" sz="1060" dirty="0"/>
          </a:p>
          <a:p>
            <a:pPr marL="342900" indent="-342900">
              <a:lnSpc>
                <a:spcPts val="1505"/>
              </a:lnSpc>
              <a:spcAft>
                <a:spcPts val="300"/>
              </a:spcAft>
              <a:buSzPct val="100000"/>
              <a:buChar char="•"/>
            </a:pPr>
            <a:r>
              <a:rPr lang="en-US" sz="1060" dirty="0">
                <a:solidFill>
                  <a:srgbClr val="C9D2E8"/>
                </a:solidFill>
                <a:latin typeface="Calibri" pitchFamily="34" charset="0"/>
                <a:ea typeface="Calibri" pitchFamily="34" charset="-122"/>
                <a:cs typeface="Calibri" pitchFamily="34" charset="-120"/>
              </a:rPr>
              <a:t>Defeating the Collector restores the timeline and leads to the victory screen.</a:t>
            </a:r>
            <a:endParaRPr lang="en-US" sz="1060" dirty="0"/>
          </a:p>
        </p:txBody>
      </p:sp>
      <p:sp>
        <p:nvSpPr>
          <p:cNvPr id="27" name="Shape 25"/>
          <p:cNvSpPr/>
          <p:nvPr/>
        </p:nvSpPr>
        <p:spPr>
          <a:xfrm>
            <a:off x="566928" y="4864608"/>
            <a:ext cx="5943600" cy="1133856"/>
          </a:xfrm>
          <a:prstGeom prst="roundRect">
            <a:avLst>
              <a:gd name="adj" fmla="val 3226"/>
            </a:avLst>
          </a:prstGeom>
          <a:solidFill>
            <a:srgbClr val="141B36"/>
          </a:solidFill>
          <a:ln w="9525">
            <a:solidFill>
              <a:srgbClr val="2A3558"/>
            </a:solidFill>
            <a:prstDash val="solid"/>
          </a:ln>
        </p:spPr>
        <p:txBody>
          <a:bodyPr/>
          <a:lstStyle/>
          <a:p>
            <a:endParaRPr lang="en-US"/>
          </a:p>
        </p:txBody>
      </p:sp>
      <p:sp>
        <p:nvSpPr>
          <p:cNvPr id="28" name="Text 26"/>
          <p:cNvSpPr txBox="1"/>
          <p:nvPr/>
        </p:nvSpPr>
        <p:spPr>
          <a:xfrm>
            <a:off x="786384" y="5047488"/>
            <a:ext cx="5504688" cy="822960"/>
          </a:xfrm>
          <a:prstGeom prst="rect">
            <a:avLst/>
          </a:prstGeom>
          <a:noFill/>
          <a:ln/>
        </p:spPr>
        <p:txBody>
          <a:bodyPr wrap="square" lIns="0" tIns="0" rIns="0" bIns="0" rtlCol="0" anchor="t"/>
          <a:lstStyle/>
          <a:p>
            <a:pPr marL="0" indent="0">
              <a:lnSpc>
                <a:spcPts val="1392"/>
              </a:lnSpc>
              <a:buNone/>
            </a:pPr>
            <a:r>
              <a:rPr lang="en-US" sz="980" dirty="0">
                <a:solidFill>
                  <a:srgbClr val="E8B54A"/>
                </a:solidFill>
                <a:latin typeface="Calibri" pitchFamily="34" charset="0"/>
                <a:ea typeface="Calibri" pitchFamily="34" charset="-122"/>
                <a:cs typeface="Calibri" pitchFamily="34" charset="-120"/>
              </a:rPr>
              <a:t>Every gameplay scene carries its own objective, HUD, camera toggle, patrols and hidden checkpoints. Nothing resets between them: health, energy, score, shards and both items travel in one saved state.</a:t>
            </a:r>
            <a:endParaRPr lang="en-US" sz="980" dirty="0"/>
          </a:p>
        </p:txBody>
      </p:sp>
      <p:sp>
        <p:nvSpPr>
          <p:cNvPr id="29" name="Shape 27"/>
          <p:cNvSpPr/>
          <p:nvPr/>
        </p:nvSpPr>
        <p:spPr>
          <a:xfrm>
            <a:off x="6711696" y="2615184"/>
            <a:ext cx="4919472" cy="3383280"/>
          </a:xfrm>
          <a:prstGeom prst="roundRect">
            <a:avLst>
              <a:gd name="adj" fmla="val 1081"/>
            </a:avLst>
          </a:prstGeom>
          <a:solidFill>
            <a:srgbClr val="141B36"/>
          </a:solidFill>
          <a:ln w="9525">
            <a:solidFill>
              <a:srgbClr val="2A3558"/>
            </a:solidFill>
            <a:prstDash val="solid"/>
          </a:ln>
        </p:spPr>
        <p:txBody>
          <a:bodyPr/>
          <a:lstStyle/>
          <a:p>
            <a:endParaRPr lang="en-US"/>
          </a:p>
        </p:txBody>
      </p:sp>
      <p:sp>
        <p:nvSpPr>
          <p:cNvPr id="30" name="Text 28"/>
          <p:cNvSpPr txBox="1"/>
          <p:nvPr/>
        </p:nvSpPr>
        <p:spPr>
          <a:xfrm>
            <a:off x="6949440" y="2779776"/>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ERA COVERAGE PER SCENE</a:t>
            </a:r>
            <a:endParaRPr lang="en-US" sz="800" dirty="0"/>
          </a:p>
        </p:txBody>
      </p:sp>
      <p:sp>
        <p:nvSpPr>
          <p:cNvPr id="31" name="Text 29"/>
          <p:cNvSpPr txBox="1"/>
          <p:nvPr/>
        </p:nvSpPr>
        <p:spPr>
          <a:xfrm>
            <a:off x="6949440" y="3145536"/>
            <a:ext cx="4480560" cy="256032"/>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MuseumNight</a:t>
            </a:r>
            <a:endParaRPr lang="en-US" sz="1100" dirty="0"/>
          </a:p>
        </p:txBody>
      </p:sp>
      <p:sp>
        <p:nvSpPr>
          <p:cNvPr id="32" name="Text 30"/>
          <p:cNvSpPr txBox="1"/>
          <p:nvPr/>
        </p:nvSpPr>
        <p:spPr>
          <a:xfrm>
            <a:off x="6949440" y="3401568"/>
            <a:ext cx="4443984" cy="457200"/>
          </a:xfrm>
          <a:prstGeom prst="rect">
            <a:avLst/>
          </a:prstGeom>
          <a:noFill/>
          <a:ln/>
        </p:spPr>
        <p:txBody>
          <a:bodyPr wrap="square" lIns="0" tIns="0" rIns="0" bIns="0" rtlCol="0" anchor="t"/>
          <a:lstStyle/>
          <a:p>
            <a:pPr marL="0" indent="0">
              <a:lnSpc>
                <a:spcPts val="1363"/>
              </a:lnSpc>
              <a:buNone/>
            </a:pPr>
            <a:r>
              <a:rPr lang="en-US" sz="960" dirty="0">
                <a:solidFill>
                  <a:srgbClr val="8A94B8"/>
                </a:solidFill>
                <a:latin typeface="Calibri" pitchFamily="34" charset="0"/>
                <a:ea typeface="Calibri" pitchFamily="34" charset="-122"/>
                <a:cs typeface="Calibri" pitchFamily="34" charset="-120"/>
              </a:rPr>
              <a:t>Present only — time travel is withheld until the clock breaks.</a:t>
            </a:r>
            <a:endParaRPr lang="en-US" sz="960" dirty="0"/>
          </a:p>
        </p:txBody>
      </p:sp>
      <p:sp>
        <p:nvSpPr>
          <p:cNvPr id="33" name="Text 31"/>
          <p:cNvSpPr txBox="1"/>
          <p:nvPr/>
        </p:nvSpPr>
        <p:spPr>
          <a:xfrm>
            <a:off x="6949440" y="3986784"/>
            <a:ext cx="4480560" cy="256032"/>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FrozenCity</a:t>
            </a:r>
            <a:endParaRPr lang="en-US" sz="1100" dirty="0"/>
          </a:p>
        </p:txBody>
      </p:sp>
      <p:sp>
        <p:nvSpPr>
          <p:cNvPr id="34" name="Text 32"/>
          <p:cNvSpPr txBox="1"/>
          <p:nvPr/>
        </p:nvSpPr>
        <p:spPr>
          <a:xfrm>
            <a:off x="6949440" y="4242816"/>
            <a:ext cx="4443984" cy="457200"/>
          </a:xfrm>
          <a:prstGeom prst="rect">
            <a:avLst/>
          </a:prstGeom>
          <a:noFill/>
          <a:ln/>
        </p:spPr>
        <p:txBody>
          <a:bodyPr wrap="square" lIns="0" tIns="0" rIns="0" bIns="0" rtlCol="0" anchor="t"/>
          <a:lstStyle/>
          <a:p>
            <a:pPr marL="0" indent="0">
              <a:lnSpc>
                <a:spcPts val="1363"/>
              </a:lnSpc>
              <a:buNone/>
            </a:pPr>
            <a:r>
              <a:rPr lang="en-US" sz="960" dirty="0">
                <a:solidFill>
                  <a:srgbClr val="8A94B8"/>
                </a:solidFill>
                <a:latin typeface="Calibri" pitchFamily="34" charset="0"/>
                <a:ea typeface="Calibri" pitchFamily="34" charset="-122"/>
                <a:cs typeface="Calibri" pitchFamily="34" charset="-120"/>
              </a:rPr>
              <a:t>Past, Present and Future, all three playable.</a:t>
            </a:r>
            <a:endParaRPr lang="en-US" sz="960" dirty="0"/>
          </a:p>
        </p:txBody>
      </p:sp>
      <p:sp>
        <p:nvSpPr>
          <p:cNvPr id="35" name="Text 33"/>
          <p:cNvSpPr txBox="1"/>
          <p:nvPr/>
        </p:nvSpPr>
        <p:spPr>
          <a:xfrm>
            <a:off x="6949440" y="4828032"/>
            <a:ext cx="4480560" cy="256032"/>
          </a:xfrm>
          <a:prstGeom prst="rect">
            <a:avLst/>
          </a:prstGeom>
          <a:noFill/>
          <a:ln/>
        </p:spPr>
        <p:txBody>
          <a:bodyPr wrap="square" lIns="0" tIns="0" rIns="0" bIns="0"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ClockCore</a:t>
            </a:r>
            <a:endParaRPr lang="en-US" sz="1100" dirty="0"/>
          </a:p>
        </p:txBody>
      </p:sp>
      <p:sp>
        <p:nvSpPr>
          <p:cNvPr id="36" name="Text 34"/>
          <p:cNvSpPr txBox="1"/>
          <p:nvPr/>
        </p:nvSpPr>
        <p:spPr>
          <a:xfrm>
            <a:off x="6949440" y="5084064"/>
            <a:ext cx="4443984" cy="457200"/>
          </a:xfrm>
          <a:prstGeom prst="rect">
            <a:avLst/>
          </a:prstGeom>
          <a:noFill/>
          <a:ln/>
        </p:spPr>
        <p:txBody>
          <a:bodyPr wrap="square" lIns="0" tIns="0" rIns="0" bIns="0" rtlCol="0" anchor="t"/>
          <a:lstStyle/>
          <a:p>
            <a:pPr marL="0" indent="0">
              <a:lnSpc>
                <a:spcPts val="1363"/>
              </a:lnSpc>
              <a:buNone/>
            </a:pPr>
            <a:r>
              <a:rPr lang="en-US" sz="960" dirty="0">
                <a:solidFill>
                  <a:srgbClr val="8A94B8"/>
                </a:solidFill>
                <a:latin typeface="Calibri" pitchFamily="34" charset="0"/>
                <a:ea typeface="Calibri" pitchFamily="34" charset="-122"/>
                <a:cs typeface="Calibri" pitchFamily="34" charset="-120"/>
              </a:rPr>
              <a:t>One era per boss phase, in order.</a:t>
            </a:r>
            <a:endParaRPr lang="en-US" sz="960" dirty="0"/>
          </a:p>
        </p:txBody>
      </p:sp>
      <p:sp>
        <p:nvSpPr>
          <p:cNvPr id="37" name="Text 35"/>
          <p:cNvSpPr txBox="1"/>
          <p:nvPr/>
        </p:nvSpPr>
        <p:spPr>
          <a:xfrm>
            <a:off x="6949440" y="5541264"/>
            <a:ext cx="4443984" cy="329184"/>
          </a:xfrm>
          <a:prstGeom prst="rect">
            <a:avLst/>
          </a:prstGeom>
          <a:noFill/>
          <a:ln/>
        </p:spPr>
        <p:txBody>
          <a:bodyPr wrap="square" lIns="0" tIns="0" rIns="0" bIns="0" rtlCol="0" anchor="t"/>
          <a:lstStyle/>
          <a:p>
            <a:pPr marL="0" indent="0">
              <a:lnSpc>
                <a:spcPts val="1306"/>
              </a:lnSpc>
              <a:buNone/>
            </a:pPr>
            <a:r>
              <a:rPr lang="en-US" sz="920" dirty="0">
                <a:solidFill>
                  <a:srgbClr val="E8B54A"/>
                </a:solidFill>
                <a:latin typeface="Calibri" pitchFamily="34" charset="0"/>
                <a:ea typeface="Calibri" pitchFamily="34" charset="-122"/>
                <a:cs typeface="Calibri" pitchFamily="34" charset="-120"/>
              </a:rPr>
              <a:t>MuseumNight is single-era on purpose: it teaches movement, interaction, cameras and stealth before it teaches time.</a:t>
            </a:r>
            <a:endParaRPr lang="en-US" sz="9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Player, Controls &amp; Input</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Every action read through the new Input System</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05</a:t>
            </a:r>
            <a:endParaRPr lang="en-US" sz="800" dirty="0"/>
          </a:p>
        </p:txBody>
      </p:sp>
      <p:sp>
        <p:nvSpPr>
          <p:cNvPr id="11" name="Shape 9"/>
          <p:cNvSpPr/>
          <p:nvPr/>
        </p:nvSpPr>
        <p:spPr>
          <a:xfrm>
            <a:off x="566928" y="1463040"/>
            <a:ext cx="2889504" cy="4224528"/>
          </a:xfrm>
          <a:prstGeom prst="roundRect">
            <a:avLst>
              <a:gd name="adj" fmla="val 1266"/>
            </a:avLst>
          </a:prstGeom>
          <a:solidFill>
            <a:srgbClr val="141B36"/>
          </a:solidFill>
          <a:ln w="9525">
            <a:solidFill>
              <a:srgbClr val="2A3558"/>
            </a:solidFill>
            <a:prstDash val="solid"/>
          </a:ln>
        </p:spPr>
        <p:txBody>
          <a:bodyPr/>
          <a:lstStyle/>
          <a:p>
            <a:endParaRPr lang="en-US"/>
          </a:p>
        </p:txBody>
      </p:sp>
      <p:pic>
        <p:nvPicPr>
          <p:cNvPr id="12" name="Image 0" descr="C:\Users\Remote-BEAST\AppData\Local\Temp\claude\C--cs-degree-year-3-video-games-final-MuseumOfTime\4374ba47-f7d5-49a5-a1ce-b351b7c26d9c\scratchpad\img\char_noa.png"/>
          <p:cNvPicPr>
            <a:picLocks noChangeAspect="1"/>
          </p:cNvPicPr>
          <p:nvPr/>
        </p:nvPicPr>
        <p:blipFill>
          <a:blip r:embed="rId3"/>
          <a:stretch>
            <a:fillRect/>
          </a:stretch>
        </p:blipFill>
        <p:spPr>
          <a:xfrm>
            <a:off x="713232" y="1572768"/>
            <a:ext cx="2596896" cy="3602736"/>
          </a:xfrm>
          <a:prstGeom prst="rect">
            <a:avLst/>
          </a:prstGeom>
        </p:spPr>
      </p:pic>
      <p:sp>
        <p:nvSpPr>
          <p:cNvPr id="13" name="Text 10"/>
          <p:cNvSpPr txBox="1"/>
          <p:nvPr/>
        </p:nvSpPr>
        <p:spPr>
          <a:xfrm>
            <a:off x="566928" y="5248656"/>
            <a:ext cx="2889504" cy="310896"/>
          </a:xfrm>
          <a:prstGeom prst="rect">
            <a:avLst/>
          </a:prstGeom>
          <a:noFill/>
          <a:ln/>
        </p:spPr>
        <p:txBody>
          <a:bodyPr wrap="square" lIns="0" tIns="0" rIns="0" bIns="0" rtlCol="0" anchor="ctr"/>
          <a:lstStyle/>
          <a:p>
            <a:pPr marL="0" indent="0" algn="ctr">
              <a:buNone/>
            </a:pPr>
            <a:r>
              <a:rPr lang="en-US" sz="1400" b="1" dirty="0">
                <a:solidFill>
                  <a:srgbClr val="E8B54A"/>
                </a:solidFill>
                <a:latin typeface="Calibri" pitchFamily="34" charset="0"/>
                <a:ea typeface="Calibri" pitchFamily="34" charset="-122"/>
                <a:cs typeface="Calibri" pitchFamily="34" charset="-120"/>
              </a:rPr>
              <a:t>Noa</a:t>
            </a:r>
            <a:endParaRPr lang="en-US" sz="1400" dirty="0"/>
          </a:p>
        </p:txBody>
      </p:sp>
      <p:sp>
        <p:nvSpPr>
          <p:cNvPr id="14" name="Text 11"/>
          <p:cNvSpPr txBox="1"/>
          <p:nvPr/>
        </p:nvSpPr>
        <p:spPr>
          <a:xfrm>
            <a:off x="3749040" y="1481328"/>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INPUT ACTIONS</a:t>
            </a:r>
            <a:endParaRPr lang="en-US" sz="800" dirty="0"/>
          </a:p>
        </p:txBody>
      </p:sp>
      <p:sp>
        <p:nvSpPr>
          <p:cNvPr id="15" name="Text 12"/>
          <p:cNvSpPr txBox="1"/>
          <p:nvPr/>
        </p:nvSpPr>
        <p:spPr>
          <a:xfrm>
            <a:off x="3749040" y="1810512"/>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Move</a:t>
            </a:r>
            <a:endParaRPr lang="en-US" sz="1030" dirty="0"/>
          </a:p>
        </p:txBody>
      </p:sp>
      <p:sp>
        <p:nvSpPr>
          <p:cNvPr id="16" name="Text 13"/>
          <p:cNvSpPr txBox="1"/>
          <p:nvPr/>
        </p:nvSpPr>
        <p:spPr>
          <a:xfrm>
            <a:off x="6053328" y="1810512"/>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WASD</a:t>
            </a:r>
            <a:endParaRPr lang="en-US" sz="1030" dirty="0"/>
          </a:p>
        </p:txBody>
      </p:sp>
      <p:sp>
        <p:nvSpPr>
          <p:cNvPr id="17" name="Text 14"/>
          <p:cNvSpPr txBox="1"/>
          <p:nvPr/>
        </p:nvSpPr>
        <p:spPr>
          <a:xfrm>
            <a:off x="3749040" y="2162556"/>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Look</a:t>
            </a:r>
            <a:endParaRPr lang="en-US" sz="1030" dirty="0"/>
          </a:p>
        </p:txBody>
      </p:sp>
      <p:sp>
        <p:nvSpPr>
          <p:cNvPr id="18" name="Text 15"/>
          <p:cNvSpPr txBox="1"/>
          <p:nvPr/>
        </p:nvSpPr>
        <p:spPr>
          <a:xfrm>
            <a:off x="6053328" y="2162556"/>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Mouse</a:t>
            </a:r>
            <a:endParaRPr lang="en-US" sz="1030" dirty="0"/>
          </a:p>
        </p:txBody>
      </p:sp>
      <p:sp>
        <p:nvSpPr>
          <p:cNvPr id="19" name="Text 16"/>
          <p:cNvSpPr txBox="1"/>
          <p:nvPr/>
        </p:nvSpPr>
        <p:spPr>
          <a:xfrm>
            <a:off x="3749040" y="2514600"/>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Run</a:t>
            </a:r>
            <a:endParaRPr lang="en-US" sz="1030" dirty="0"/>
          </a:p>
        </p:txBody>
      </p:sp>
      <p:sp>
        <p:nvSpPr>
          <p:cNvPr id="20" name="Text 17"/>
          <p:cNvSpPr txBox="1"/>
          <p:nvPr/>
        </p:nvSpPr>
        <p:spPr>
          <a:xfrm>
            <a:off x="6053328" y="2514600"/>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Shift</a:t>
            </a:r>
            <a:endParaRPr lang="en-US" sz="1030" dirty="0"/>
          </a:p>
        </p:txBody>
      </p:sp>
      <p:sp>
        <p:nvSpPr>
          <p:cNvPr id="21" name="Text 18"/>
          <p:cNvSpPr txBox="1"/>
          <p:nvPr/>
        </p:nvSpPr>
        <p:spPr>
          <a:xfrm>
            <a:off x="3749040" y="2866644"/>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Jump</a:t>
            </a:r>
            <a:endParaRPr lang="en-US" sz="1030" dirty="0"/>
          </a:p>
        </p:txBody>
      </p:sp>
      <p:sp>
        <p:nvSpPr>
          <p:cNvPr id="22" name="Text 19"/>
          <p:cNvSpPr txBox="1"/>
          <p:nvPr/>
        </p:nvSpPr>
        <p:spPr>
          <a:xfrm>
            <a:off x="6053328" y="2866644"/>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Space</a:t>
            </a:r>
            <a:endParaRPr lang="en-US" sz="1030" dirty="0"/>
          </a:p>
        </p:txBody>
      </p:sp>
      <p:sp>
        <p:nvSpPr>
          <p:cNvPr id="23" name="Text 20"/>
          <p:cNvSpPr txBox="1"/>
          <p:nvPr/>
        </p:nvSpPr>
        <p:spPr>
          <a:xfrm>
            <a:off x="3749040" y="3218688"/>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Interact</a:t>
            </a:r>
            <a:endParaRPr lang="en-US" sz="1030" dirty="0"/>
          </a:p>
        </p:txBody>
      </p:sp>
      <p:sp>
        <p:nvSpPr>
          <p:cNvPr id="24" name="Text 21"/>
          <p:cNvSpPr txBox="1"/>
          <p:nvPr/>
        </p:nvSpPr>
        <p:spPr>
          <a:xfrm>
            <a:off x="6053328" y="3218688"/>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E</a:t>
            </a:r>
            <a:endParaRPr lang="en-US" sz="1030" dirty="0"/>
          </a:p>
        </p:txBody>
      </p:sp>
      <p:sp>
        <p:nvSpPr>
          <p:cNvPr id="25" name="Text 22"/>
          <p:cNvSpPr txBox="1"/>
          <p:nvPr/>
        </p:nvSpPr>
        <p:spPr>
          <a:xfrm>
            <a:off x="3749040" y="3570732"/>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Throw Chrono Orb</a:t>
            </a:r>
            <a:endParaRPr lang="en-US" sz="1030" dirty="0"/>
          </a:p>
        </p:txBody>
      </p:sp>
      <p:sp>
        <p:nvSpPr>
          <p:cNvPr id="26" name="Text 23"/>
          <p:cNvSpPr txBox="1"/>
          <p:nvPr/>
        </p:nvSpPr>
        <p:spPr>
          <a:xfrm>
            <a:off x="6053328" y="3570732"/>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Left Mouse</a:t>
            </a:r>
            <a:endParaRPr lang="en-US" sz="1030" dirty="0"/>
          </a:p>
        </p:txBody>
      </p:sp>
      <p:sp>
        <p:nvSpPr>
          <p:cNvPr id="27" name="Text 24"/>
          <p:cNvSpPr txBox="1"/>
          <p:nvPr/>
        </p:nvSpPr>
        <p:spPr>
          <a:xfrm>
            <a:off x="3749040" y="3922776"/>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Slow time</a:t>
            </a:r>
            <a:endParaRPr lang="en-US" sz="1030" dirty="0"/>
          </a:p>
        </p:txBody>
      </p:sp>
      <p:sp>
        <p:nvSpPr>
          <p:cNvPr id="28" name="Text 25"/>
          <p:cNvSpPr txBox="1"/>
          <p:nvPr/>
        </p:nvSpPr>
        <p:spPr>
          <a:xfrm>
            <a:off x="6053328" y="3922776"/>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Ctrl</a:t>
            </a:r>
            <a:endParaRPr lang="en-US" sz="1030" dirty="0"/>
          </a:p>
        </p:txBody>
      </p:sp>
      <p:sp>
        <p:nvSpPr>
          <p:cNvPr id="29" name="Text 26"/>
          <p:cNvSpPr txBox="1"/>
          <p:nvPr/>
        </p:nvSpPr>
        <p:spPr>
          <a:xfrm>
            <a:off x="3749040" y="4274820"/>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Camera toggle</a:t>
            </a:r>
            <a:endParaRPr lang="en-US" sz="1030" dirty="0"/>
          </a:p>
        </p:txBody>
      </p:sp>
      <p:sp>
        <p:nvSpPr>
          <p:cNvPr id="30" name="Text 27"/>
          <p:cNvSpPr txBox="1"/>
          <p:nvPr/>
        </p:nvSpPr>
        <p:spPr>
          <a:xfrm>
            <a:off x="6053328" y="4274820"/>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C</a:t>
            </a:r>
            <a:endParaRPr lang="en-US" sz="1030" dirty="0"/>
          </a:p>
        </p:txBody>
      </p:sp>
      <p:sp>
        <p:nvSpPr>
          <p:cNvPr id="31" name="Text 28"/>
          <p:cNvSpPr txBox="1"/>
          <p:nvPr/>
        </p:nvSpPr>
        <p:spPr>
          <a:xfrm>
            <a:off x="3749040" y="4626864"/>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Travel between eras</a:t>
            </a:r>
            <a:endParaRPr lang="en-US" sz="1030" dirty="0"/>
          </a:p>
        </p:txBody>
      </p:sp>
      <p:sp>
        <p:nvSpPr>
          <p:cNvPr id="32" name="Text 29"/>
          <p:cNvSpPr txBox="1"/>
          <p:nvPr/>
        </p:nvSpPr>
        <p:spPr>
          <a:xfrm>
            <a:off x="6053328" y="4626864"/>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Q / R</a:t>
            </a:r>
            <a:endParaRPr lang="en-US" sz="1030" dirty="0"/>
          </a:p>
        </p:txBody>
      </p:sp>
      <p:sp>
        <p:nvSpPr>
          <p:cNvPr id="33" name="Text 30"/>
          <p:cNvSpPr txBox="1"/>
          <p:nvPr/>
        </p:nvSpPr>
        <p:spPr>
          <a:xfrm>
            <a:off x="3749040" y="4978908"/>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Time Journal</a:t>
            </a:r>
            <a:endParaRPr lang="en-US" sz="1030" dirty="0"/>
          </a:p>
        </p:txBody>
      </p:sp>
      <p:sp>
        <p:nvSpPr>
          <p:cNvPr id="34" name="Text 31"/>
          <p:cNvSpPr txBox="1"/>
          <p:nvPr/>
        </p:nvSpPr>
        <p:spPr>
          <a:xfrm>
            <a:off x="6053328" y="4978908"/>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Tab</a:t>
            </a:r>
            <a:endParaRPr lang="en-US" sz="1030" dirty="0"/>
          </a:p>
        </p:txBody>
      </p:sp>
      <p:sp>
        <p:nvSpPr>
          <p:cNvPr id="35" name="Text 32"/>
          <p:cNvSpPr txBox="1"/>
          <p:nvPr/>
        </p:nvSpPr>
        <p:spPr>
          <a:xfrm>
            <a:off x="3749040" y="5330952"/>
            <a:ext cx="2286000" cy="274320"/>
          </a:xfrm>
          <a:prstGeom prst="rect">
            <a:avLst/>
          </a:prstGeom>
          <a:noFill/>
          <a:ln/>
        </p:spPr>
        <p:txBody>
          <a:bodyPr wrap="square" lIns="0" tIns="0" rIns="0" bIns="0" rtlCol="0" anchor="ctr"/>
          <a:lstStyle/>
          <a:p>
            <a:pPr marL="0" indent="0">
              <a:buNone/>
            </a:pPr>
            <a:r>
              <a:rPr lang="en-US" sz="1030" dirty="0">
                <a:solidFill>
                  <a:srgbClr val="C9D2E8"/>
                </a:solidFill>
                <a:latin typeface="Calibri" pitchFamily="34" charset="0"/>
                <a:ea typeface="Calibri" pitchFamily="34" charset="-122"/>
                <a:cs typeface="Calibri" pitchFamily="34" charset="-120"/>
              </a:rPr>
              <a:t>Pause</a:t>
            </a:r>
            <a:endParaRPr lang="en-US" sz="1030" dirty="0"/>
          </a:p>
        </p:txBody>
      </p:sp>
      <p:sp>
        <p:nvSpPr>
          <p:cNvPr id="36" name="Text 33"/>
          <p:cNvSpPr txBox="1"/>
          <p:nvPr/>
        </p:nvSpPr>
        <p:spPr>
          <a:xfrm>
            <a:off x="6053328" y="5330952"/>
            <a:ext cx="1417320" cy="274320"/>
          </a:xfrm>
          <a:prstGeom prst="rect">
            <a:avLst/>
          </a:prstGeom>
          <a:noFill/>
          <a:ln/>
        </p:spPr>
        <p:txBody>
          <a:bodyPr wrap="square" lIns="0" tIns="0" rIns="0" bIns="0" rtlCol="0" anchor="ctr"/>
          <a:lstStyle/>
          <a:p>
            <a:pPr marL="0" indent="0">
              <a:buNone/>
            </a:pPr>
            <a:r>
              <a:rPr lang="en-US" sz="1030" b="1" dirty="0">
                <a:solidFill>
                  <a:srgbClr val="FFFFFF"/>
                </a:solidFill>
                <a:latin typeface="Calibri" pitchFamily="34" charset="0"/>
                <a:ea typeface="Calibri" pitchFamily="34" charset="-122"/>
                <a:cs typeface="Calibri" pitchFamily="34" charset="-120"/>
              </a:rPr>
              <a:t>Esc</a:t>
            </a:r>
            <a:endParaRPr lang="en-US" sz="1030" dirty="0"/>
          </a:p>
        </p:txBody>
      </p:sp>
      <p:sp>
        <p:nvSpPr>
          <p:cNvPr id="37" name="Text 34"/>
          <p:cNvSpPr txBox="1"/>
          <p:nvPr/>
        </p:nvSpPr>
        <p:spPr>
          <a:xfrm>
            <a:off x="7772400" y="1481328"/>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CARRIED ITEMS</a:t>
            </a:r>
            <a:endParaRPr lang="en-US" sz="800" dirty="0"/>
          </a:p>
        </p:txBody>
      </p:sp>
      <p:sp>
        <p:nvSpPr>
          <p:cNvPr id="38" name="Shape 35"/>
          <p:cNvSpPr/>
          <p:nvPr/>
        </p:nvSpPr>
        <p:spPr>
          <a:xfrm>
            <a:off x="7772400" y="1810512"/>
            <a:ext cx="3858768" cy="1755648"/>
          </a:xfrm>
          <a:prstGeom prst="roundRect">
            <a:avLst>
              <a:gd name="adj" fmla="val 2083"/>
            </a:avLst>
          </a:prstGeom>
          <a:solidFill>
            <a:srgbClr val="141B36"/>
          </a:solidFill>
          <a:ln w="9525">
            <a:solidFill>
              <a:srgbClr val="2A3558"/>
            </a:solidFill>
            <a:prstDash val="solid"/>
          </a:ln>
        </p:spPr>
        <p:txBody>
          <a:bodyPr/>
          <a:lstStyle/>
          <a:p>
            <a:endParaRPr lang="en-US"/>
          </a:p>
        </p:txBody>
      </p:sp>
      <p:sp>
        <p:nvSpPr>
          <p:cNvPr id="39" name="Shape 36"/>
          <p:cNvSpPr/>
          <p:nvPr/>
        </p:nvSpPr>
        <p:spPr>
          <a:xfrm>
            <a:off x="7973568" y="2011680"/>
            <a:ext cx="274320" cy="274320"/>
          </a:xfrm>
          <a:prstGeom prst="ellipse">
            <a:avLst/>
          </a:prstGeom>
          <a:solidFill>
            <a:srgbClr val="E8B54A"/>
          </a:solidFill>
          <a:ln w="12700">
            <a:solidFill>
              <a:srgbClr val="E8B54A"/>
            </a:solidFill>
            <a:prstDash val="solid"/>
          </a:ln>
        </p:spPr>
        <p:txBody>
          <a:bodyPr/>
          <a:lstStyle/>
          <a:p>
            <a:endParaRPr lang="en-US"/>
          </a:p>
        </p:txBody>
      </p:sp>
      <p:sp>
        <p:nvSpPr>
          <p:cNvPr id="40" name="Text 37"/>
          <p:cNvSpPr txBox="1"/>
          <p:nvPr/>
        </p:nvSpPr>
        <p:spPr>
          <a:xfrm>
            <a:off x="8357616" y="1993392"/>
            <a:ext cx="3108960" cy="274320"/>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Time Lens</a:t>
            </a:r>
            <a:endParaRPr lang="en-US" sz="1150" dirty="0"/>
          </a:p>
        </p:txBody>
      </p:sp>
      <p:sp>
        <p:nvSpPr>
          <p:cNvPr id="41" name="Text 38"/>
          <p:cNvSpPr txBox="1"/>
          <p:nvPr/>
        </p:nvSpPr>
        <p:spPr>
          <a:xfrm>
            <a:off x="7973568" y="2395728"/>
            <a:ext cx="3493008" cy="1024128"/>
          </a:xfrm>
          <a:prstGeom prst="rect">
            <a:avLst/>
          </a:prstGeom>
          <a:noFill/>
          <a:ln/>
        </p:spPr>
        <p:txBody>
          <a:bodyPr wrap="square" lIns="0" tIns="0" rIns="0" bIns="0" rtlCol="0" anchor="t"/>
          <a:lstStyle/>
          <a:p>
            <a:pPr marL="0" indent="0">
              <a:lnSpc>
                <a:spcPts val="1392"/>
              </a:lnSpc>
              <a:buNone/>
            </a:pPr>
            <a:r>
              <a:rPr lang="en-US" sz="980" dirty="0">
                <a:solidFill>
                  <a:srgbClr val="8A94B8"/>
                </a:solidFill>
                <a:latin typeface="Calibri" pitchFamily="34" charset="0"/>
                <a:ea typeface="Calibri" pitchFamily="34" charset="-122"/>
                <a:cs typeface="Calibri" pitchFamily="34" charset="-120"/>
              </a:rPr>
              <a:t>Found at the end of MuseumNight. Reveals the hidden Time Anchors and opens the way to FrozenCity.</a:t>
            </a:r>
            <a:endParaRPr lang="en-US" sz="980" dirty="0"/>
          </a:p>
        </p:txBody>
      </p:sp>
      <p:sp>
        <p:nvSpPr>
          <p:cNvPr id="42" name="Shape 39"/>
          <p:cNvSpPr/>
          <p:nvPr/>
        </p:nvSpPr>
        <p:spPr>
          <a:xfrm>
            <a:off x="7772400" y="3749040"/>
            <a:ext cx="3858768" cy="1755648"/>
          </a:xfrm>
          <a:prstGeom prst="roundRect">
            <a:avLst>
              <a:gd name="adj" fmla="val 2083"/>
            </a:avLst>
          </a:prstGeom>
          <a:solidFill>
            <a:srgbClr val="141B36"/>
          </a:solidFill>
          <a:ln w="9525">
            <a:solidFill>
              <a:srgbClr val="2A3558"/>
            </a:solidFill>
            <a:prstDash val="solid"/>
          </a:ln>
        </p:spPr>
        <p:txBody>
          <a:bodyPr/>
          <a:lstStyle/>
          <a:p>
            <a:endParaRPr lang="en-US"/>
          </a:p>
        </p:txBody>
      </p:sp>
      <p:sp>
        <p:nvSpPr>
          <p:cNvPr id="43" name="Shape 40"/>
          <p:cNvSpPr/>
          <p:nvPr/>
        </p:nvSpPr>
        <p:spPr>
          <a:xfrm>
            <a:off x="7973568" y="3950208"/>
            <a:ext cx="274320" cy="274320"/>
          </a:xfrm>
          <a:prstGeom prst="ellipse">
            <a:avLst/>
          </a:prstGeom>
          <a:solidFill>
            <a:srgbClr val="9B7BD4"/>
          </a:solidFill>
          <a:ln w="12700">
            <a:solidFill>
              <a:srgbClr val="9B7BD4"/>
            </a:solidFill>
            <a:prstDash val="solid"/>
          </a:ln>
        </p:spPr>
        <p:txBody>
          <a:bodyPr/>
          <a:lstStyle/>
          <a:p>
            <a:endParaRPr lang="en-US"/>
          </a:p>
        </p:txBody>
      </p:sp>
      <p:sp>
        <p:nvSpPr>
          <p:cNvPr id="44" name="Text 41"/>
          <p:cNvSpPr txBox="1"/>
          <p:nvPr/>
        </p:nvSpPr>
        <p:spPr>
          <a:xfrm>
            <a:off x="8357616" y="3931920"/>
            <a:ext cx="3108960" cy="274320"/>
          </a:xfrm>
          <a:prstGeom prst="rect">
            <a:avLst/>
          </a:prstGeom>
          <a:noFill/>
          <a:ln/>
        </p:spPr>
        <p:txBody>
          <a:bodyPr wrap="square" lIns="0" tIns="0" rIns="0" bIns="0" rtlCol="0" anchor="ctr"/>
          <a:lstStyle/>
          <a:p>
            <a:pPr marL="0" indent="0">
              <a:buNone/>
            </a:pPr>
            <a:r>
              <a:rPr lang="en-US" sz="1150" b="1" dirty="0">
                <a:solidFill>
                  <a:srgbClr val="FFFFFF"/>
                </a:solidFill>
                <a:latin typeface="Calibri" pitchFamily="34" charset="0"/>
                <a:ea typeface="Calibri" pitchFamily="34" charset="-122"/>
                <a:cs typeface="Calibri" pitchFamily="34" charset="-120"/>
              </a:rPr>
              <a:t>Chrono Hourglass</a:t>
            </a:r>
            <a:endParaRPr lang="en-US" sz="1150" dirty="0"/>
          </a:p>
        </p:txBody>
      </p:sp>
      <p:sp>
        <p:nvSpPr>
          <p:cNvPr id="45" name="Text 42"/>
          <p:cNvSpPr txBox="1"/>
          <p:nvPr/>
        </p:nvSpPr>
        <p:spPr>
          <a:xfrm>
            <a:off x="7973568" y="4334256"/>
            <a:ext cx="3493008" cy="1024128"/>
          </a:xfrm>
          <a:prstGeom prst="rect">
            <a:avLst/>
          </a:prstGeom>
          <a:noFill/>
          <a:ln/>
        </p:spPr>
        <p:txBody>
          <a:bodyPr wrap="square" lIns="0" tIns="0" rIns="0" bIns="0" rtlCol="0" anchor="t"/>
          <a:lstStyle/>
          <a:p>
            <a:pPr marL="0" indent="0">
              <a:lnSpc>
                <a:spcPts val="1392"/>
              </a:lnSpc>
              <a:buNone/>
            </a:pPr>
            <a:r>
              <a:rPr lang="en-US" sz="980" dirty="0">
                <a:solidFill>
                  <a:srgbClr val="8A94B8"/>
                </a:solidFill>
                <a:latin typeface="Calibri" pitchFamily="34" charset="0"/>
                <a:ea typeface="Calibri" pitchFamily="34" charset="-122"/>
                <a:cs typeface="Calibri" pitchFamily="34" charset="-120"/>
              </a:rPr>
              <a:t>Revealed by solving the gear puzzle. Slows time, and the Collector’s last phase cannot be survived without it.</a:t>
            </a:r>
            <a:endParaRPr lang="en-US" sz="9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Scene 1 — MuseumNight</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Tutorial, a two-storey museum, and the night the clock breaks</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07</a:t>
            </a:r>
            <a:endParaRPr lang="en-US" sz="800" dirty="0"/>
          </a:p>
        </p:txBody>
      </p:sp>
      <p:sp>
        <p:nvSpPr>
          <p:cNvPr id="11" name="Shape 9"/>
          <p:cNvSpPr/>
          <p:nvPr/>
        </p:nvSpPr>
        <p:spPr>
          <a:xfrm>
            <a:off x="534924" y="1412748"/>
            <a:ext cx="4727448" cy="2221992"/>
          </a:xfrm>
          <a:prstGeom prst="rect">
            <a:avLst/>
          </a:prstGeom>
          <a:solidFill>
            <a:srgbClr val="E8B54A"/>
          </a:solidFill>
          <a:ln w="12700">
            <a:solidFill>
              <a:srgbClr val="E8B54A"/>
            </a:solidFill>
            <a:prstDash val="solid"/>
          </a:ln>
        </p:spPr>
        <p:txBody>
          <a:bodyPr/>
          <a:lstStyle/>
          <a:p>
            <a:endParaRPr lang="en-US"/>
          </a:p>
        </p:txBody>
      </p:sp>
      <p:pic>
        <p:nvPicPr>
          <p:cNvPr id="12" name="Image 0" descr="C:\Users\Remote-BEAST\AppData\Local\Temp\claude\C--cs-degree-year-3-video-games-final-MuseumOfTime\4374ba47-f7d5-49a5-a1ce-b351b7c26d9c\scratchpad\img\museum.jpg"/>
          <p:cNvPicPr>
            <a:picLocks noChangeAspect="1"/>
          </p:cNvPicPr>
          <p:nvPr/>
        </p:nvPicPr>
        <p:blipFill>
          <a:blip r:embed="rId3"/>
          <a:stretch>
            <a:fillRect/>
          </a:stretch>
        </p:blipFill>
        <p:spPr>
          <a:xfrm>
            <a:off x="566928" y="1444752"/>
            <a:ext cx="4663440" cy="2157984"/>
          </a:xfrm>
          <a:prstGeom prst="rect">
            <a:avLst/>
          </a:prstGeom>
        </p:spPr>
      </p:pic>
      <p:sp>
        <p:nvSpPr>
          <p:cNvPr id="13" name="Text 10"/>
          <p:cNvSpPr txBox="1"/>
          <p:nvPr/>
        </p:nvSpPr>
        <p:spPr>
          <a:xfrm>
            <a:off x="5486400" y="1444752"/>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OBJECTIVE</a:t>
            </a:r>
            <a:endParaRPr lang="en-US" sz="800" dirty="0"/>
          </a:p>
        </p:txBody>
      </p:sp>
      <p:sp>
        <p:nvSpPr>
          <p:cNvPr id="14" name="Text 11"/>
          <p:cNvSpPr txBox="1"/>
          <p:nvPr/>
        </p:nvSpPr>
        <p:spPr>
          <a:xfrm>
            <a:off x="5486400" y="1700784"/>
            <a:ext cx="6144768" cy="822960"/>
          </a:xfrm>
          <a:prstGeom prst="rect">
            <a:avLst/>
          </a:prstGeom>
          <a:noFill/>
          <a:ln/>
        </p:spPr>
        <p:txBody>
          <a:bodyPr wrap="square" lIns="0" tIns="0" rIns="0" bIns="0" rtlCol="0" anchor="t"/>
          <a:lstStyle/>
          <a:p>
            <a:pPr marL="0" indent="0">
              <a:lnSpc>
                <a:spcPts val="1700"/>
              </a:lnSpc>
              <a:buNone/>
            </a:pPr>
            <a:r>
              <a:rPr lang="en-US" sz="1250" b="1" dirty="0">
                <a:solidFill>
                  <a:srgbClr val="FFFFFF"/>
                </a:solidFill>
                <a:latin typeface="Calibri" pitchFamily="34" charset="0"/>
                <a:ea typeface="Calibri" pitchFamily="34" charset="-122"/>
                <a:cs typeface="Calibri" pitchFamily="34" charset="-120"/>
              </a:rPr>
              <a:t>Learn to move and interact, find the Time Lens in the curator’s office upstairs, and survive the moment the Clock of Creation shatters.</a:t>
            </a:r>
            <a:endParaRPr lang="en-US" sz="1250" dirty="0"/>
          </a:p>
        </p:txBody>
      </p:sp>
      <p:sp>
        <p:nvSpPr>
          <p:cNvPr id="15" name="Text 12"/>
          <p:cNvSpPr txBox="1"/>
          <p:nvPr/>
        </p:nvSpPr>
        <p:spPr>
          <a:xfrm>
            <a:off x="5512308" y="2151773"/>
            <a:ext cx="6144768" cy="859536"/>
          </a:xfrm>
          <a:prstGeom prst="rect">
            <a:avLst/>
          </a:prstGeom>
          <a:noFill/>
          <a:ln/>
        </p:spPr>
        <p:txBody>
          <a:bodyPr wrap="square" lIns="0" tIns="0" rIns="0" bIns="0" rtlCol="0" anchor="t"/>
          <a:lstStyle/>
          <a:p>
            <a:pPr marL="0" indent="0">
              <a:lnSpc>
                <a:spcPts val="1160"/>
              </a:lnSpc>
              <a:buNone/>
            </a:pPr>
            <a:r>
              <a:rPr lang="en-US" sz="860" dirty="0">
                <a:solidFill>
                  <a:srgbClr val="E8B54A"/>
                </a:solidFill>
                <a:latin typeface="Calibri" pitchFamily="34" charset="0"/>
                <a:ea typeface="Calibri" pitchFamily="34" charset="-122"/>
                <a:cs typeface="Calibri" pitchFamily="34" charset="-120"/>
              </a:rPr>
              <a:t>Key scripts: </a:t>
            </a:r>
            <a:r>
              <a:rPr lang="en-US" sz="860" dirty="0">
                <a:solidFill>
                  <a:srgbClr val="8A94B8"/>
                </a:solidFill>
                <a:latin typeface="Calibri" pitchFamily="34" charset="0"/>
                <a:ea typeface="Calibri" pitchFamily="34" charset="-122"/>
                <a:cs typeface="Calibri" pitchFamily="34" charset="-120"/>
              </a:rPr>
              <a:t>PlayerController, PlayerInteractor, TutorialTrigger, WardenAI, FracturedObject, MinimapController, ItemPickup</a:t>
            </a:r>
            <a:endParaRPr lang="en-US" sz="860" dirty="0"/>
          </a:p>
        </p:txBody>
      </p:sp>
      <p:sp>
        <p:nvSpPr>
          <p:cNvPr id="16" name="Text 13"/>
          <p:cNvSpPr txBox="1"/>
          <p:nvPr/>
        </p:nvSpPr>
        <p:spPr>
          <a:xfrm>
            <a:off x="566928" y="3840480"/>
            <a:ext cx="54864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REQUIREMENTS MET IN THIS SCENE, AND HOW</a:t>
            </a:r>
            <a:endParaRPr lang="en-US" sz="800" dirty="0"/>
          </a:p>
        </p:txBody>
      </p:sp>
      <p:sp>
        <p:nvSpPr>
          <p:cNvPr id="17" name="Text 14"/>
          <p:cNvSpPr txBox="1"/>
          <p:nvPr/>
        </p:nvSpPr>
        <p:spPr>
          <a:xfrm>
            <a:off x="566928" y="4114800"/>
            <a:ext cx="5440680" cy="2121408"/>
          </a:xfrm>
          <a:prstGeom prst="rect">
            <a:avLst/>
          </a:prstGeom>
          <a:noFill/>
          <a:ln/>
        </p:spPr>
        <p:txBody>
          <a:bodyPr wrap="square" lIns="0" tIns="0" rIns="0" bIns="0" rtlCol="0" anchor="t"/>
          <a:lstStyle/>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Dynamic 3D tutorial — </a:t>
            </a:r>
            <a:r>
              <a:rPr lang="en-US" sz="860" dirty="0">
                <a:solidFill>
                  <a:srgbClr val="C9D2E8"/>
                </a:solidFill>
                <a:latin typeface="Calibri" pitchFamily="34" charset="0"/>
                <a:ea typeface="Calibri" pitchFamily="34" charset="-122"/>
                <a:cs typeface="Calibri" pitchFamily="34" charset="-120"/>
              </a:rPr>
              <a:t>eight world-space signs raised by triggers, showing live health and energy</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Triggers — </a:t>
            </a:r>
            <a:r>
              <a:rPr lang="en-US" sz="860" dirty="0">
                <a:solidFill>
                  <a:srgbClr val="C9D2E8"/>
                </a:solidFill>
                <a:latin typeface="Calibri" pitchFamily="34" charset="0"/>
                <a:ea typeface="Calibri" pitchFamily="34" charset="-122"/>
                <a:cs typeface="Calibri" pitchFamily="34" charset="-120"/>
              </a:rPr>
              <a:t>twelve volumes of five kinds: room entry, tutorial, era zone, hazard, exit</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Collisions — </a:t>
            </a:r>
            <a:r>
              <a:rPr lang="en-US" sz="860" dirty="0">
                <a:solidFill>
                  <a:srgbClr val="C9D2E8"/>
                </a:solidFill>
                <a:latin typeface="Calibri" pitchFamily="34" charset="0"/>
                <a:ea typeface="Calibri" pitchFamily="34" charset="-122"/>
                <a:cs typeface="Calibri" pitchFamily="34" charset="-120"/>
              </a:rPr>
              <a:t>falling debris, swinging hazards and thrown orbs, all reading contact data</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Hinge joints — </a:t>
            </a:r>
            <a:r>
              <a:rPr lang="en-US" sz="860" dirty="0">
                <a:solidFill>
                  <a:srgbClr val="C9D2E8"/>
                </a:solidFill>
                <a:latin typeface="Calibri" pitchFamily="34" charset="0"/>
                <a:ea typeface="Calibri" pitchFamily="34" charset="-122"/>
                <a:cs typeface="Calibri" pitchFamily="34" charset="-120"/>
              </a:rPr>
              <a:t>the clock pendulum on a spring, a motorised gate, a signboard</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Two-storey building — </a:t>
            </a:r>
            <a:r>
              <a:rPr lang="en-US" sz="860" dirty="0">
                <a:solidFill>
                  <a:srgbClr val="C9D2E8"/>
                </a:solidFill>
                <a:latin typeface="Calibri" pitchFamily="34" charset="0"/>
                <a:ea typeface="Calibri" pitchFamily="34" charset="-122"/>
                <a:cs typeface="Calibri" pitchFamily="34" charset="-120"/>
              </a:rPr>
              <a:t>upper floor at 5 m, a stepped staircase, textures made in-project</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Voronoi fracture — </a:t>
            </a:r>
            <a:r>
              <a:rPr lang="en-US" sz="860" dirty="0">
                <a:solidFill>
                  <a:srgbClr val="C9D2E8"/>
                </a:solidFill>
                <a:latin typeface="Calibri" pitchFamily="34" charset="0"/>
                <a:ea typeface="Calibri" pitchFamily="34" charset="-122"/>
                <a:cs typeface="Calibri" pitchFamily="34" charset="-120"/>
              </a:rPr>
              <a:t>the Clock of Creation, into 29 shards each with a rigidbody</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LOD assets — </a:t>
            </a:r>
            <a:r>
              <a:rPr lang="en-US" sz="860" dirty="0">
                <a:solidFill>
                  <a:srgbClr val="C9D2E8"/>
                </a:solidFill>
                <a:latin typeface="Calibri" pitchFamily="34" charset="0"/>
                <a:ea typeface="Calibri" pitchFamily="34" charset="-122"/>
                <a:cs typeface="Calibri" pitchFamily="34" charset="-120"/>
              </a:rPr>
              <a:t>the stone column and the marble statue, three tiers each</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Patrol with pause — </a:t>
            </a:r>
            <a:r>
              <a:rPr lang="en-US" sz="860" dirty="0">
                <a:solidFill>
                  <a:srgbClr val="C9D2E8"/>
                </a:solidFill>
                <a:latin typeface="Calibri" pitchFamily="34" charset="0"/>
                <a:ea typeface="Calibri" pitchFamily="34" charset="-122"/>
                <a:cs typeface="Calibri" pitchFamily="34" charset="-120"/>
              </a:rPr>
              <a:t>four waypoints with real stops of 2.5–3.0 seconds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Steering, two agent types — </a:t>
            </a:r>
            <a:r>
              <a:rPr lang="en-US" sz="860" dirty="0">
                <a:solidFill>
                  <a:srgbClr val="C9D2E8"/>
                </a:solidFill>
                <a:latin typeface="Calibri" pitchFamily="34" charset="0"/>
                <a:ea typeface="Calibri" pitchFamily="34" charset="-122"/>
                <a:cs typeface="Calibri" pitchFamily="34" charset="-120"/>
              </a:rPr>
              <a:t>Warden and Shadow, each on its own navmesh bake</a:t>
            </a:r>
            <a:endParaRPr lang="en-US" sz="860" dirty="0"/>
          </a:p>
        </p:txBody>
      </p:sp>
      <p:sp>
        <p:nvSpPr>
          <p:cNvPr id="18" name="Text 15"/>
          <p:cNvSpPr txBox="1"/>
          <p:nvPr/>
        </p:nvSpPr>
        <p:spPr>
          <a:xfrm>
            <a:off x="6199632" y="4114800"/>
            <a:ext cx="5440680" cy="2121408"/>
          </a:xfrm>
          <a:prstGeom prst="rect">
            <a:avLst/>
          </a:prstGeom>
          <a:noFill/>
          <a:ln/>
        </p:spPr>
        <p:txBody>
          <a:bodyPr wrap="square" lIns="0" tIns="0" rIns="0" bIns="0" rtlCol="0" anchor="t"/>
          <a:lstStyle/>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Recast with stealth — </a:t>
            </a:r>
            <a:r>
              <a:rPr lang="en-US" sz="860" dirty="0">
                <a:solidFill>
                  <a:srgbClr val="C9D2E8"/>
                </a:solidFill>
                <a:latin typeface="Calibri" pitchFamily="34" charset="0"/>
                <a:ea typeface="Calibri" pitchFamily="34" charset="-122"/>
                <a:cs typeface="Calibri" pitchFamily="34" charset="-120"/>
              </a:rPr>
              <a:t>distance, then a view cone, then a line-of-sight raycast</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LayerMask in code — </a:t>
            </a:r>
            <a:r>
              <a:rPr lang="en-US" sz="860" dirty="0">
                <a:solidFill>
                  <a:srgbClr val="C9D2E8"/>
                </a:solidFill>
                <a:latin typeface="Calibri" pitchFamily="34" charset="0"/>
                <a:ea typeface="Calibri" pitchFamily="34" charset="-122"/>
                <a:cs typeface="Calibri" pitchFamily="34" charset="-120"/>
              </a:rPr>
              <a:t>built when the component wakes, never set in the Inspector</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Minimap — </a:t>
            </a:r>
            <a:r>
              <a:rPr lang="en-US" sz="860" dirty="0">
                <a:solidFill>
                  <a:srgbClr val="C9D2E8"/>
                </a:solidFill>
                <a:latin typeface="Calibri" pitchFamily="34" charset="0"/>
                <a:ea typeface="Calibri" pitchFamily="34" charset="-122"/>
                <a:cs typeface="Calibri" pitchFamily="34" charset="-120"/>
              </a:rPr>
              <a:t>an orthographic camera to a texture, running the whole scene</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First and third person — </a:t>
            </a:r>
            <a:r>
              <a:rPr lang="en-US" sz="860" dirty="0">
                <a:solidFill>
                  <a:srgbClr val="C9D2E8"/>
                </a:solidFill>
                <a:latin typeface="Calibri" pitchFamily="34" charset="0"/>
                <a:ea typeface="Calibri" pitchFamily="34" charset="-122"/>
                <a:cs typeface="Calibri" pitchFamily="34" charset="-120"/>
              </a:rPr>
              <a:t>two Cinemachine cameras, toggled with C</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Score, health, energy — </a:t>
            </a:r>
            <a:r>
              <a:rPr lang="en-US" sz="860" dirty="0">
                <a:solidFill>
                  <a:srgbClr val="C9D2E8"/>
                </a:solidFill>
                <a:latin typeface="Calibri" pitchFamily="34" charset="0"/>
                <a:ea typeface="Calibri" pitchFamily="34" charset="-122"/>
                <a:cs typeface="Calibri" pitchFamily="34" charset="-120"/>
              </a:rPr>
              <a:t>plaques and shards add, capture subtracts, orbs cost energy</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Items between scenes — </a:t>
            </a:r>
            <a:r>
              <a:rPr lang="en-US" sz="860" dirty="0">
                <a:solidFill>
                  <a:srgbClr val="C9D2E8"/>
                </a:solidFill>
                <a:latin typeface="Calibri" pitchFamily="34" charset="0"/>
                <a:ea typeface="Calibri" pitchFamily="34" charset="-122"/>
                <a:cs typeface="Calibri" pitchFamily="34" charset="-120"/>
              </a:rPr>
              <a:t>the Time Lens is found here and opens the next scene</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New Input System — </a:t>
            </a:r>
            <a:r>
              <a:rPr lang="en-US" sz="860" dirty="0">
                <a:solidFill>
                  <a:srgbClr val="C9D2E8"/>
                </a:solidFill>
                <a:latin typeface="Calibri" pitchFamily="34" charset="0"/>
                <a:ea typeface="Calibri" pitchFamily="34" charset="-122"/>
                <a:cs typeface="Calibri" pitchFamily="34" charset="-120"/>
              </a:rPr>
              <a:t>one action asset, and no legacy input call anywhere</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Animator — </a:t>
            </a:r>
            <a:r>
              <a:rPr lang="en-US" sz="860" dirty="0">
                <a:solidFill>
                  <a:srgbClr val="C9D2E8"/>
                </a:solidFill>
                <a:latin typeface="Calibri" pitchFamily="34" charset="0"/>
                <a:ea typeface="Calibri" pitchFamily="34" charset="-122"/>
                <a:cs typeface="Calibri" pitchFamily="34" charset="-120"/>
              </a:rPr>
              <a:t>Noa six states, the Warden five, both authored in-project</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Physical shooting — </a:t>
            </a:r>
            <a:r>
              <a:rPr lang="en-US" sz="860" dirty="0">
                <a:solidFill>
                  <a:srgbClr val="C9D2E8"/>
                </a:solidFill>
                <a:latin typeface="Calibri" pitchFamily="34" charset="0"/>
                <a:ea typeface="Calibri" pitchFamily="34" charset="-122"/>
                <a:cs typeface="Calibri" pitchFamily="34" charset="-120"/>
              </a:rPr>
              <a:t>the Chrono Orb, a rigidbody sphere thrown on left mouse</a:t>
            </a:r>
            <a:endParaRPr lang="en-US" sz="8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Scene 2 — FrozenCity</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Terrain, three playable eras, stealth and the first hidden teleports</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08</a:t>
            </a:r>
            <a:endParaRPr lang="en-US" sz="800" dirty="0"/>
          </a:p>
        </p:txBody>
      </p:sp>
      <p:sp>
        <p:nvSpPr>
          <p:cNvPr id="11" name="Shape 9"/>
          <p:cNvSpPr/>
          <p:nvPr/>
        </p:nvSpPr>
        <p:spPr>
          <a:xfrm>
            <a:off x="534924" y="1412748"/>
            <a:ext cx="4727448" cy="2221992"/>
          </a:xfrm>
          <a:prstGeom prst="rect">
            <a:avLst/>
          </a:prstGeom>
          <a:solidFill>
            <a:srgbClr val="E8B54A"/>
          </a:solidFill>
          <a:ln w="12700">
            <a:solidFill>
              <a:srgbClr val="E8B54A"/>
            </a:solidFill>
            <a:prstDash val="solid"/>
          </a:ln>
        </p:spPr>
        <p:txBody>
          <a:bodyPr/>
          <a:lstStyle/>
          <a:p>
            <a:endParaRPr lang="en-US"/>
          </a:p>
        </p:txBody>
      </p:sp>
      <p:pic>
        <p:nvPicPr>
          <p:cNvPr id="12" name="Image 0" descr="C:\Users\Remote-BEAST\AppData\Local\Temp\claude\C--cs-degree-year-3-video-games-final-MuseumOfTime\4374ba47-f7d5-49a5-a1ce-b351b7c26d9c\scratchpad\img\frozen.jpg"/>
          <p:cNvPicPr>
            <a:picLocks noChangeAspect="1"/>
          </p:cNvPicPr>
          <p:nvPr/>
        </p:nvPicPr>
        <p:blipFill>
          <a:blip r:embed="rId3"/>
          <a:stretch>
            <a:fillRect/>
          </a:stretch>
        </p:blipFill>
        <p:spPr>
          <a:xfrm>
            <a:off x="566928" y="1444752"/>
            <a:ext cx="4663440" cy="2157984"/>
          </a:xfrm>
          <a:prstGeom prst="rect">
            <a:avLst/>
          </a:prstGeom>
        </p:spPr>
      </p:pic>
      <p:sp>
        <p:nvSpPr>
          <p:cNvPr id="13" name="Text 10"/>
          <p:cNvSpPr txBox="1"/>
          <p:nvPr/>
        </p:nvSpPr>
        <p:spPr>
          <a:xfrm>
            <a:off x="5486400" y="1444752"/>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OBJECTIVE</a:t>
            </a:r>
            <a:endParaRPr lang="en-US" sz="800" dirty="0"/>
          </a:p>
        </p:txBody>
      </p:sp>
      <p:sp>
        <p:nvSpPr>
          <p:cNvPr id="14" name="Text 11"/>
          <p:cNvSpPr txBox="1"/>
          <p:nvPr/>
        </p:nvSpPr>
        <p:spPr>
          <a:xfrm>
            <a:off x="5486400" y="1700784"/>
            <a:ext cx="6144768" cy="822960"/>
          </a:xfrm>
          <a:prstGeom prst="rect">
            <a:avLst/>
          </a:prstGeom>
          <a:noFill/>
          <a:ln/>
        </p:spPr>
        <p:txBody>
          <a:bodyPr wrap="square" lIns="0" tIns="0" rIns="0" bIns="0" rtlCol="0" anchor="t"/>
          <a:lstStyle/>
          <a:p>
            <a:pPr marL="0" indent="0">
              <a:lnSpc>
                <a:spcPts val="1700"/>
              </a:lnSpc>
              <a:buNone/>
            </a:pPr>
            <a:r>
              <a:rPr lang="en-US" sz="1250" b="1" dirty="0">
                <a:solidFill>
                  <a:srgbClr val="FFFFFF"/>
                </a:solidFill>
                <a:latin typeface="Calibri" pitchFamily="34" charset="0"/>
                <a:ea typeface="Calibri" pitchFamily="34" charset="-122"/>
                <a:cs typeface="Calibri" pitchFamily="34" charset="-120"/>
              </a:rPr>
              <a:t>Free a city stopped before sunset: find the tower’s missing gear in the Past, fit it in the Present, and confirm in the Future that the bell finally rang.</a:t>
            </a:r>
            <a:endParaRPr lang="en-US" sz="1250" dirty="0"/>
          </a:p>
        </p:txBody>
      </p:sp>
      <p:sp>
        <p:nvSpPr>
          <p:cNvPr id="15" name="Text 12"/>
          <p:cNvSpPr txBox="1"/>
          <p:nvPr/>
        </p:nvSpPr>
        <p:spPr>
          <a:xfrm>
            <a:off x="5486400" y="2226564"/>
            <a:ext cx="6144768" cy="859536"/>
          </a:xfrm>
          <a:prstGeom prst="rect">
            <a:avLst/>
          </a:prstGeom>
          <a:noFill/>
          <a:ln/>
        </p:spPr>
        <p:txBody>
          <a:bodyPr wrap="square" lIns="0" tIns="0" rIns="0" bIns="0" rtlCol="0" anchor="t"/>
          <a:lstStyle/>
          <a:p>
            <a:pPr marL="0" indent="0">
              <a:lnSpc>
                <a:spcPts val="1160"/>
              </a:lnSpc>
              <a:buNone/>
            </a:pPr>
            <a:r>
              <a:rPr lang="en-US" sz="860" dirty="0">
                <a:solidFill>
                  <a:srgbClr val="E8B54A"/>
                </a:solidFill>
                <a:latin typeface="Calibri" pitchFamily="34" charset="0"/>
                <a:ea typeface="Calibri" pitchFamily="34" charset="-122"/>
                <a:cs typeface="Calibri" pitchFamily="34" charset="-120"/>
              </a:rPr>
              <a:t>Key scripts: </a:t>
            </a:r>
            <a:r>
              <a:rPr lang="en-US" sz="860" dirty="0">
                <a:solidFill>
                  <a:srgbClr val="8A94B8"/>
                </a:solidFill>
                <a:latin typeface="Calibri" pitchFamily="34" charset="0"/>
                <a:ea typeface="Calibri" pitchFamily="34" charset="-122"/>
                <a:cs typeface="Calibri" pitchFamily="34" charset="-120"/>
              </a:rPr>
              <a:t>GearPuzzle, TimeAnchor, RespawnService, EraManager, ShadowAI, SteeringBehaviours, TerrainBuilder</a:t>
            </a:r>
            <a:endParaRPr lang="en-US" sz="860" dirty="0"/>
          </a:p>
        </p:txBody>
      </p:sp>
      <p:sp>
        <p:nvSpPr>
          <p:cNvPr id="16" name="Text 13"/>
          <p:cNvSpPr txBox="1"/>
          <p:nvPr/>
        </p:nvSpPr>
        <p:spPr>
          <a:xfrm>
            <a:off x="566928" y="3840480"/>
            <a:ext cx="54864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REQUIREMENTS MET IN THIS SCENE, AND HOW</a:t>
            </a:r>
            <a:endParaRPr lang="en-US" sz="800" dirty="0"/>
          </a:p>
        </p:txBody>
      </p:sp>
      <p:sp>
        <p:nvSpPr>
          <p:cNvPr id="17" name="Text 14"/>
          <p:cNvSpPr txBox="1"/>
          <p:nvPr/>
        </p:nvSpPr>
        <p:spPr>
          <a:xfrm>
            <a:off x="566928" y="4114800"/>
            <a:ext cx="5440680" cy="2121408"/>
          </a:xfrm>
          <a:prstGeom prst="rect">
            <a:avLst/>
          </a:prstGeom>
          <a:noFill/>
          <a:ln/>
        </p:spPr>
        <p:txBody>
          <a:bodyPr wrap="square" lIns="0" tIns="0" rIns="0" bIns="0" rtlCol="0" anchor="t"/>
          <a:lstStyle/>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Self-built terrain — </a:t>
            </a:r>
            <a:r>
              <a:rPr lang="en-US" sz="860" dirty="0">
                <a:solidFill>
                  <a:srgbClr val="C9D2E8"/>
                </a:solidFill>
                <a:latin typeface="Calibri" pitchFamily="34" charset="0"/>
                <a:ea typeface="Calibri" pitchFamily="34" charset="-122"/>
                <a:cs typeface="Calibri" pitchFamily="34" charset="-120"/>
              </a:rPr>
              <a:t>a 513 × 513 heightmap over 200 × 40 × 200 m, with 34 m of sculpted relief</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Terrain layers — </a:t>
            </a:r>
            <a:r>
              <a:rPr lang="en-US" sz="860" dirty="0">
                <a:solidFill>
                  <a:srgbClr val="C9D2E8"/>
                </a:solidFill>
                <a:latin typeface="Calibri" pitchFamily="34" charset="0"/>
                <a:ea typeface="Calibri" pitchFamily="34" charset="-122"/>
                <a:cs typeface="Calibri" pitchFamily="34" charset="-120"/>
              </a:rPr>
              <a:t>cobble, dirt and snow, generated in-project and painted by height</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Hidden teleports — </a:t>
            </a:r>
            <a:r>
              <a:rPr lang="en-US" sz="860" dirty="0">
                <a:solidFill>
                  <a:srgbClr val="C9D2E8"/>
                </a:solidFill>
                <a:latin typeface="Calibri" pitchFamily="34" charset="0"/>
                <a:ea typeface="Calibri" pitchFamily="34" charset="-122"/>
                <a:cs typeface="Calibri" pitchFamily="34" charset="-120"/>
              </a:rPr>
              <a:t>two Time Anchors, invisible unless Noa carries the Time Lens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Failure returns there — </a:t>
            </a:r>
            <a:r>
              <a:rPr lang="en-US" sz="860" dirty="0">
                <a:solidFill>
                  <a:srgbClr val="C9D2E8"/>
                </a:solidFill>
                <a:latin typeface="Calibri" pitchFamily="34" charset="0"/>
                <a:ea typeface="Calibri" pitchFamily="34" charset="-122"/>
                <a:cs typeface="Calibri" pitchFamily="34" charset="-120"/>
              </a:rPr>
              <a:t>back to the last anchor, not the level start, with health restored</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Items between scenes — </a:t>
            </a:r>
            <a:r>
              <a:rPr lang="en-US" sz="860" dirty="0">
                <a:solidFill>
                  <a:srgbClr val="C9D2E8"/>
                </a:solidFill>
                <a:latin typeface="Calibri" pitchFamily="34" charset="0"/>
                <a:ea typeface="Calibri" pitchFamily="34" charset="-122"/>
                <a:cs typeface="Calibri" pitchFamily="34" charset="-120"/>
              </a:rPr>
              <a:t>the Lens opened this scene; the Chrono Hourglass is earned here</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Dynamic 3D tutorial — </a:t>
            </a:r>
            <a:r>
              <a:rPr lang="en-US" sz="860" dirty="0">
                <a:solidFill>
                  <a:srgbClr val="C9D2E8"/>
                </a:solidFill>
                <a:latin typeface="Calibri" pitchFamily="34" charset="0"/>
                <a:ea typeface="Calibri" pitchFamily="34" charset="-122"/>
                <a:cs typeface="Calibri" pitchFamily="34" charset="-120"/>
              </a:rPr>
              <a:t>four world-space signs, including the one that teaches era travel</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Triggers — </a:t>
            </a:r>
            <a:r>
              <a:rPr lang="en-US" sz="860" dirty="0">
                <a:solidFill>
                  <a:srgbClr val="C9D2E8"/>
                </a:solidFill>
                <a:latin typeface="Calibri" pitchFamily="34" charset="0"/>
                <a:ea typeface="Calibri" pitchFamily="34" charset="-122"/>
                <a:cs typeface="Calibri" pitchFamily="34" charset="-120"/>
              </a:rPr>
              <a:t>nine volumes of five kinds, the two anchors among them</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Collisions — </a:t>
            </a:r>
            <a:r>
              <a:rPr lang="en-US" sz="860" dirty="0">
                <a:solidFill>
                  <a:srgbClr val="C9D2E8"/>
                </a:solidFill>
                <a:latin typeface="Calibri" pitchFamily="34" charset="0"/>
                <a:ea typeface="Calibri" pitchFamily="34" charset="-122"/>
                <a:cs typeface="Calibri" pitchFamily="34" charset="-120"/>
              </a:rPr>
              <a:t>falling debris, a swinging hazard, and every thrown orb</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Hinge joint — </a:t>
            </a:r>
            <a:r>
              <a:rPr lang="en-US" sz="860" dirty="0">
                <a:solidFill>
                  <a:srgbClr val="C9D2E8"/>
                </a:solidFill>
                <a:latin typeface="Calibri" pitchFamily="34" charset="0"/>
                <a:ea typeface="Calibri" pitchFamily="34" charset="-122"/>
                <a:cs typeface="Calibri" pitchFamily="34" charset="-120"/>
              </a:rPr>
              <a:t>the tower bell, hung on a spring with limits</a:t>
            </a:r>
            <a:endParaRPr lang="en-US" sz="860" dirty="0"/>
          </a:p>
        </p:txBody>
      </p:sp>
      <p:sp>
        <p:nvSpPr>
          <p:cNvPr id="18" name="Text 15"/>
          <p:cNvSpPr txBox="1"/>
          <p:nvPr/>
        </p:nvSpPr>
        <p:spPr>
          <a:xfrm>
            <a:off x="6199632" y="4114800"/>
            <a:ext cx="5440680" cy="2121408"/>
          </a:xfrm>
          <a:prstGeom prst="rect">
            <a:avLst/>
          </a:prstGeom>
          <a:noFill/>
          <a:ln/>
        </p:spPr>
        <p:txBody>
          <a:bodyPr wrap="square" lIns="0" tIns="0" rIns="0" bIns="0" rtlCol="0" anchor="t"/>
          <a:lstStyle/>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Voronoi fracture — </a:t>
            </a:r>
            <a:r>
              <a:rPr lang="en-US" sz="860" dirty="0">
                <a:solidFill>
                  <a:srgbClr val="C9D2E8"/>
                </a:solidFill>
                <a:latin typeface="Calibri" pitchFamily="34" charset="0"/>
                <a:ea typeface="Calibri" pitchFamily="34" charset="-122"/>
                <a:cs typeface="Calibri" pitchFamily="34" charset="-120"/>
              </a:rPr>
              <a:t>the frozen statue, into 48 shards each with a rigidbody</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LOD assets — </a:t>
            </a:r>
            <a:r>
              <a:rPr lang="en-US" sz="860" dirty="0">
                <a:solidFill>
                  <a:srgbClr val="C9D2E8"/>
                </a:solidFill>
                <a:latin typeface="Calibri" pitchFamily="34" charset="0"/>
                <a:ea typeface="Calibri" pitchFamily="34" charset="-122"/>
                <a:cs typeface="Calibri" pitchFamily="34" charset="-120"/>
              </a:rPr>
              <a:t>sixteen LOD groups dressing the streets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Patrol with pause — </a:t>
            </a:r>
            <a:r>
              <a:rPr lang="en-US" sz="860" dirty="0">
                <a:solidFill>
                  <a:srgbClr val="C9D2E8"/>
                </a:solidFill>
                <a:latin typeface="Calibri" pitchFamily="34" charset="0"/>
                <a:ea typeface="Calibri" pitchFamily="34" charset="-122"/>
                <a:cs typeface="Calibri" pitchFamily="34" charset="-120"/>
              </a:rPr>
              <a:t>four waypoints with a real 2.5-second stop at each</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Steering, two agent types — </a:t>
            </a:r>
            <a:r>
              <a:rPr lang="en-US" sz="860" dirty="0">
                <a:solidFill>
                  <a:srgbClr val="C9D2E8"/>
                </a:solidFill>
                <a:latin typeface="Calibri" pitchFamily="34" charset="0"/>
                <a:ea typeface="Calibri" pitchFamily="34" charset="-122"/>
                <a:cs typeface="Calibri" pitchFamily="34" charset="-120"/>
              </a:rPr>
              <a:t>a 0.7 m ledge only the Shadow can climb, so the routes differ</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Recast with stealth — </a:t>
            </a:r>
            <a:r>
              <a:rPr lang="en-US" sz="860" dirty="0">
                <a:solidFill>
                  <a:srgbClr val="C9D2E8"/>
                </a:solidFill>
                <a:latin typeface="Calibri" pitchFamily="34" charset="0"/>
                <a:ea typeface="Calibri" pitchFamily="34" charset="-122"/>
                <a:cs typeface="Calibri" pitchFamily="34" charset="-120"/>
              </a:rPr>
              <a:t>the city blocks sight lines where the museum used walls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LayerMask in code — </a:t>
            </a:r>
            <a:r>
              <a:rPr lang="en-US" sz="860" dirty="0">
                <a:solidFill>
                  <a:srgbClr val="C9D2E8"/>
                </a:solidFill>
                <a:latin typeface="Calibri" pitchFamily="34" charset="0"/>
                <a:ea typeface="Calibri" pitchFamily="34" charset="-122"/>
                <a:cs typeface="Calibri" pitchFamily="34" charset="-120"/>
              </a:rPr>
              <a:t>the same masks, built against the Recast bake</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First and third person — </a:t>
            </a:r>
            <a:r>
              <a:rPr lang="en-US" sz="860" dirty="0">
                <a:solidFill>
                  <a:srgbClr val="C9D2E8"/>
                </a:solidFill>
                <a:latin typeface="Calibri" pitchFamily="34" charset="0"/>
                <a:ea typeface="Calibri" pitchFamily="34" charset="-122"/>
                <a:cs typeface="Calibri" pitchFamily="34" charset="-120"/>
              </a:rPr>
              <a:t>two Cinemachine cameras, toggled with C</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Score, health, energy — </a:t>
            </a:r>
            <a:r>
              <a:rPr lang="en-US" sz="860" dirty="0">
                <a:solidFill>
                  <a:srgbClr val="C9D2E8"/>
                </a:solidFill>
                <a:latin typeface="Calibri" pitchFamily="34" charset="0"/>
                <a:ea typeface="Calibri" pitchFamily="34" charset="-122"/>
                <a:cs typeface="Calibri" pitchFamily="34" charset="-120"/>
              </a:rPr>
              <a:t>carried in from scene 1; era travel and orbs cost energy</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Input System, Animator, shooting — </a:t>
            </a:r>
            <a:r>
              <a:rPr lang="en-US" sz="860" dirty="0">
                <a:solidFill>
                  <a:srgbClr val="C9D2E8"/>
                </a:solidFill>
                <a:latin typeface="Calibri" pitchFamily="34" charset="0"/>
                <a:ea typeface="Calibri" pitchFamily="34" charset="-122"/>
                <a:cs typeface="Calibri" pitchFamily="34" charset="-120"/>
              </a:rPr>
              <a:t>unchanged — one action asset, two controllers, the orb</a:t>
            </a:r>
            <a:endParaRPr lang="en-US" sz="8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Scene 3 — ClockCore</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Every mechanic at once, against a boss reachable only through time</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09</a:t>
            </a:r>
            <a:endParaRPr lang="en-US" sz="800" dirty="0"/>
          </a:p>
        </p:txBody>
      </p:sp>
      <p:sp>
        <p:nvSpPr>
          <p:cNvPr id="11" name="Shape 9"/>
          <p:cNvSpPr/>
          <p:nvPr/>
        </p:nvSpPr>
        <p:spPr>
          <a:xfrm>
            <a:off x="534924" y="1412748"/>
            <a:ext cx="4727448" cy="2221992"/>
          </a:xfrm>
          <a:prstGeom prst="rect">
            <a:avLst/>
          </a:prstGeom>
          <a:solidFill>
            <a:srgbClr val="E8B54A"/>
          </a:solidFill>
          <a:ln w="12700">
            <a:solidFill>
              <a:srgbClr val="E8B54A"/>
            </a:solidFill>
            <a:prstDash val="solid"/>
          </a:ln>
        </p:spPr>
        <p:txBody>
          <a:bodyPr/>
          <a:lstStyle/>
          <a:p>
            <a:endParaRPr lang="en-US"/>
          </a:p>
        </p:txBody>
      </p:sp>
      <p:pic>
        <p:nvPicPr>
          <p:cNvPr id="12" name="Image 0" descr="C:\Users\Remote-BEAST\AppData\Local\Temp\claude\C--cs-degree-year-3-video-games-final-MuseumOfTime\4374ba47-f7d5-49a5-a1ce-b351b7c26d9c\scratchpad\img\clock.jpg"/>
          <p:cNvPicPr>
            <a:picLocks noChangeAspect="1"/>
          </p:cNvPicPr>
          <p:nvPr/>
        </p:nvPicPr>
        <p:blipFill>
          <a:blip r:embed="rId3"/>
          <a:stretch>
            <a:fillRect/>
          </a:stretch>
        </p:blipFill>
        <p:spPr>
          <a:xfrm>
            <a:off x="566928" y="1444752"/>
            <a:ext cx="4663440" cy="2157984"/>
          </a:xfrm>
          <a:prstGeom prst="rect">
            <a:avLst/>
          </a:prstGeom>
        </p:spPr>
      </p:pic>
      <p:sp>
        <p:nvSpPr>
          <p:cNvPr id="13" name="Text 10"/>
          <p:cNvSpPr txBox="1"/>
          <p:nvPr/>
        </p:nvSpPr>
        <p:spPr>
          <a:xfrm>
            <a:off x="5486400" y="1444752"/>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OBJECTIVE</a:t>
            </a:r>
            <a:endParaRPr lang="en-US" sz="800" dirty="0"/>
          </a:p>
        </p:txBody>
      </p:sp>
      <p:sp>
        <p:nvSpPr>
          <p:cNvPr id="14" name="Text 11"/>
          <p:cNvSpPr txBox="1"/>
          <p:nvPr/>
        </p:nvSpPr>
        <p:spPr>
          <a:xfrm>
            <a:off x="5486400" y="1700784"/>
            <a:ext cx="6144768" cy="822960"/>
          </a:xfrm>
          <a:prstGeom prst="rect">
            <a:avLst/>
          </a:prstGeom>
          <a:noFill/>
          <a:ln/>
        </p:spPr>
        <p:txBody>
          <a:bodyPr wrap="square" lIns="0" tIns="0" rIns="0" bIns="0" rtlCol="0" anchor="t"/>
          <a:lstStyle/>
          <a:p>
            <a:pPr marL="0" indent="0">
              <a:lnSpc>
                <a:spcPts val="1700"/>
              </a:lnSpc>
              <a:buNone/>
            </a:pPr>
            <a:r>
              <a:rPr lang="en-US" sz="1250" b="1" dirty="0">
                <a:solidFill>
                  <a:srgbClr val="FFFFFF"/>
                </a:solidFill>
                <a:latin typeface="Calibri" pitchFamily="34" charset="0"/>
                <a:ea typeface="Calibri" pitchFamily="34" charset="-122"/>
                <a:cs typeface="Calibri" pitchFamily="34" charset="-120"/>
              </a:rPr>
              <a:t>Face the Collector across three phases — one in each era — and restore the first moment to its place.</a:t>
            </a:r>
            <a:endParaRPr lang="en-US" sz="1250" dirty="0"/>
          </a:p>
        </p:txBody>
      </p:sp>
      <p:sp>
        <p:nvSpPr>
          <p:cNvPr id="15" name="Text 12"/>
          <p:cNvSpPr txBox="1"/>
          <p:nvPr/>
        </p:nvSpPr>
        <p:spPr>
          <a:xfrm>
            <a:off x="5512308" y="2226564"/>
            <a:ext cx="6144768" cy="859536"/>
          </a:xfrm>
          <a:prstGeom prst="rect">
            <a:avLst/>
          </a:prstGeom>
          <a:noFill/>
          <a:ln/>
        </p:spPr>
        <p:txBody>
          <a:bodyPr wrap="square" lIns="0" tIns="0" rIns="0" bIns="0" rtlCol="0" anchor="t"/>
          <a:lstStyle/>
          <a:p>
            <a:pPr marL="0" indent="0">
              <a:lnSpc>
                <a:spcPts val="1160"/>
              </a:lnSpc>
              <a:buNone/>
            </a:pPr>
            <a:r>
              <a:rPr lang="en-US" sz="860" dirty="0">
                <a:solidFill>
                  <a:srgbClr val="E8B54A"/>
                </a:solidFill>
                <a:latin typeface="Calibri" pitchFamily="34" charset="0"/>
                <a:ea typeface="Calibri" pitchFamily="34" charset="-122"/>
                <a:cs typeface="Calibri" pitchFamily="34" charset="-120"/>
              </a:rPr>
              <a:t>Key scripts</a:t>
            </a:r>
            <a:r>
              <a:rPr lang="en-US" sz="860" dirty="0">
                <a:solidFill>
                  <a:srgbClr val="8A94B8"/>
                </a:solidFill>
                <a:latin typeface="Calibri" pitchFamily="34" charset="0"/>
                <a:ea typeface="Calibri" pitchFamily="34" charset="-122"/>
                <a:cs typeface="Calibri" pitchFamily="34" charset="-120"/>
              </a:rPr>
              <a:t>: Collector, CollectorHitVolume, ChronoOrb, ChronoHourglass, SwingingHazard, FallingDebris, TimeAnchor</a:t>
            </a:r>
            <a:endParaRPr lang="en-US" sz="860" dirty="0"/>
          </a:p>
        </p:txBody>
      </p:sp>
      <p:sp>
        <p:nvSpPr>
          <p:cNvPr id="16" name="Text 13"/>
          <p:cNvSpPr txBox="1"/>
          <p:nvPr/>
        </p:nvSpPr>
        <p:spPr>
          <a:xfrm>
            <a:off x="566928" y="3840480"/>
            <a:ext cx="54864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REQUIREMENTS MET IN THIS SCENE, AND HOW</a:t>
            </a:r>
            <a:endParaRPr lang="en-US" sz="800" dirty="0"/>
          </a:p>
        </p:txBody>
      </p:sp>
      <p:sp>
        <p:nvSpPr>
          <p:cNvPr id="17" name="Text 14"/>
          <p:cNvSpPr txBox="1"/>
          <p:nvPr/>
        </p:nvSpPr>
        <p:spPr>
          <a:xfrm>
            <a:off x="566928" y="4114800"/>
            <a:ext cx="5440680" cy="2121408"/>
          </a:xfrm>
          <a:prstGeom prst="rect">
            <a:avLst/>
          </a:prstGeom>
          <a:noFill/>
          <a:ln/>
        </p:spPr>
        <p:txBody>
          <a:bodyPr wrap="square" lIns="0" tIns="0" rIns="0" bIns="0" rtlCol="0" anchor="t"/>
          <a:lstStyle/>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Physical shooting — </a:t>
            </a:r>
            <a:r>
              <a:rPr lang="en-US" sz="860" dirty="0">
                <a:solidFill>
                  <a:srgbClr val="C9D2E8"/>
                </a:solidFill>
                <a:latin typeface="Calibri" pitchFamily="34" charset="0"/>
                <a:ea typeface="Calibri" pitchFamily="34" charset="-122"/>
                <a:cs typeface="Calibri" pitchFamily="34" charset="-120"/>
              </a:rPr>
              <a:t>the Chrono Orb is the only thing that can hurt the Collector</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Collisions — </a:t>
            </a:r>
            <a:r>
              <a:rPr lang="en-US" sz="860" dirty="0">
                <a:solidFill>
                  <a:srgbClr val="C9D2E8"/>
                </a:solidFill>
                <a:latin typeface="Calibri" pitchFamily="34" charset="0"/>
                <a:ea typeface="Calibri" pitchFamily="34" charset="-122"/>
                <a:cs typeface="Calibri" pitchFamily="34" charset="-120"/>
              </a:rPr>
              <a:t>the boss reads orb impacts as phase changes; debris and pendulums too</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Hinge joints — </a:t>
            </a:r>
            <a:r>
              <a:rPr lang="en-US" sz="860" dirty="0">
                <a:solidFill>
                  <a:srgbClr val="C9D2E8"/>
                </a:solidFill>
                <a:latin typeface="Calibri" pitchFamily="34" charset="0"/>
                <a:ea typeface="Calibri" pitchFamily="34" charset="-122"/>
                <a:cs typeface="Calibri" pitchFamily="34" charset="-120"/>
              </a:rPr>
              <a:t>two pendulum bobs swinging over the arena floor</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Hidden teleports — </a:t>
            </a:r>
            <a:r>
              <a:rPr lang="en-US" sz="860" dirty="0">
                <a:solidFill>
                  <a:srgbClr val="C9D2E8"/>
                </a:solidFill>
                <a:latin typeface="Calibri" pitchFamily="34" charset="0"/>
                <a:ea typeface="Calibri" pitchFamily="34" charset="-122"/>
                <a:cs typeface="Calibri" pitchFamily="34" charset="-120"/>
              </a:rPr>
              <a:t>two more Time Anchors, in the east and west wings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Items between scenes — </a:t>
            </a:r>
            <a:r>
              <a:rPr lang="en-US" sz="860" dirty="0">
                <a:solidFill>
                  <a:srgbClr val="C9D2E8"/>
                </a:solidFill>
                <a:latin typeface="Calibri" pitchFamily="34" charset="0"/>
                <a:ea typeface="Calibri" pitchFamily="34" charset="-122"/>
                <a:cs typeface="Calibri" pitchFamily="34" charset="-120"/>
              </a:rPr>
              <a:t>the Hourglass opened the door and keeps Noa alive in phase three</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Dynamic 3D tutorial — </a:t>
            </a:r>
            <a:r>
              <a:rPr lang="en-US" sz="860" dirty="0">
                <a:solidFill>
                  <a:srgbClr val="C9D2E8"/>
                </a:solidFill>
                <a:latin typeface="Calibri" pitchFamily="34" charset="0"/>
                <a:ea typeface="Calibri" pitchFamily="34" charset="-122"/>
                <a:cs typeface="Calibri" pitchFamily="34" charset="-120"/>
              </a:rPr>
              <a:t>three world-space signs naming the era each phase demands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Triggers — </a:t>
            </a:r>
            <a:r>
              <a:rPr lang="en-US" sz="860" dirty="0">
                <a:solidFill>
                  <a:srgbClr val="C9D2E8"/>
                </a:solidFill>
                <a:latin typeface="Calibri" pitchFamily="34" charset="0"/>
                <a:ea typeface="Calibri" pitchFamily="34" charset="-122"/>
                <a:cs typeface="Calibri" pitchFamily="34" charset="-120"/>
              </a:rPr>
              <a:t>six volumes of three kinds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Patrol with pause — </a:t>
            </a:r>
            <a:r>
              <a:rPr lang="en-US" sz="860" dirty="0">
                <a:solidFill>
                  <a:srgbClr val="C9D2E8"/>
                </a:solidFill>
                <a:latin typeface="Calibri" pitchFamily="34" charset="0"/>
                <a:ea typeface="Calibri" pitchFamily="34" charset="-122"/>
                <a:cs typeface="Calibri" pitchFamily="34" charset="-120"/>
              </a:rPr>
              <a:t>the Warden summoned in phase two, with real stops</a:t>
            </a:r>
            <a:endParaRPr lang="en-US" sz="860" dirty="0"/>
          </a:p>
        </p:txBody>
      </p:sp>
      <p:sp>
        <p:nvSpPr>
          <p:cNvPr id="18" name="Text 15"/>
          <p:cNvSpPr txBox="1"/>
          <p:nvPr/>
        </p:nvSpPr>
        <p:spPr>
          <a:xfrm>
            <a:off x="6199632" y="4114800"/>
            <a:ext cx="5440680" cy="2121408"/>
          </a:xfrm>
          <a:prstGeom prst="rect">
            <a:avLst/>
          </a:prstGeom>
          <a:noFill/>
          <a:ln/>
        </p:spPr>
        <p:txBody>
          <a:bodyPr wrap="square" lIns="0" tIns="0" rIns="0" bIns="0" rtlCol="0" anchor="t"/>
          <a:lstStyle/>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Steering, two agent types — </a:t>
            </a:r>
            <a:r>
              <a:rPr lang="en-US" sz="860" dirty="0">
                <a:solidFill>
                  <a:srgbClr val="C9D2E8"/>
                </a:solidFill>
                <a:latin typeface="Calibri" pitchFamily="34" charset="0"/>
                <a:ea typeface="Calibri" pitchFamily="34" charset="-122"/>
                <a:cs typeface="Calibri" pitchFamily="34" charset="-120"/>
              </a:rPr>
              <a:t>both hunting on their own separately baked surfaces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Recast with stealth — </a:t>
            </a:r>
            <a:r>
              <a:rPr lang="en-US" sz="860" dirty="0">
                <a:solidFill>
                  <a:srgbClr val="C9D2E8"/>
                </a:solidFill>
                <a:latin typeface="Calibri" pitchFamily="34" charset="0"/>
                <a:ea typeface="Calibri" pitchFamily="34" charset="-122"/>
                <a:cs typeface="Calibri" pitchFamily="34" charset="-120"/>
              </a:rPr>
              <a:t>the summoned Warden hunts under the same sight rules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LayerMask in code — </a:t>
            </a:r>
            <a:r>
              <a:rPr lang="en-US" sz="860" dirty="0">
                <a:solidFill>
                  <a:srgbClr val="C9D2E8"/>
                </a:solidFill>
                <a:latin typeface="Calibri" pitchFamily="34" charset="0"/>
                <a:ea typeface="Calibri" pitchFamily="34" charset="-122"/>
                <a:cs typeface="Calibri" pitchFamily="34" charset="-120"/>
              </a:rPr>
              <a:t>the same masks, built when each component wakes</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LOD assets — </a:t>
            </a:r>
            <a:r>
              <a:rPr lang="en-US" sz="860" dirty="0">
                <a:solidFill>
                  <a:srgbClr val="C9D2E8"/>
                </a:solidFill>
                <a:latin typeface="Calibri" pitchFamily="34" charset="0"/>
                <a:ea typeface="Calibri" pitchFamily="34" charset="-122"/>
                <a:cs typeface="Calibri" pitchFamily="34" charset="-120"/>
              </a:rPr>
              <a:t>seventeen LOD groups around the arena</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First and third person — </a:t>
            </a:r>
            <a:r>
              <a:rPr lang="en-US" sz="860" dirty="0">
                <a:solidFill>
                  <a:srgbClr val="C9D2E8"/>
                </a:solidFill>
                <a:latin typeface="Calibri" pitchFamily="34" charset="0"/>
                <a:ea typeface="Calibri" pitchFamily="34" charset="-122"/>
                <a:cs typeface="Calibri" pitchFamily="34" charset="-120"/>
              </a:rPr>
              <a:t>two Cinemachine cameras, toggled with C</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Score, health, energy — </a:t>
            </a:r>
            <a:r>
              <a:rPr lang="en-US" sz="860" dirty="0">
                <a:solidFill>
                  <a:srgbClr val="C9D2E8"/>
                </a:solidFill>
                <a:latin typeface="Calibri" pitchFamily="34" charset="0"/>
                <a:ea typeface="Calibri" pitchFamily="34" charset="-122"/>
                <a:cs typeface="Calibri" pitchFamily="34" charset="-120"/>
              </a:rPr>
              <a:t>carried in; phase three drains health until time is slowed</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New Input System — </a:t>
            </a:r>
            <a:r>
              <a:rPr lang="en-US" sz="860" dirty="0">
                <a:solidFill>
                  <a:srgbClr val="C9D2E8"/>
                </a:solidFill>
                <a:latin typeface="Calibri" pitchFamily="34" charset="0"/>
                <a:ea typeface="Calibri" pitchFamily="34" charset="-122"/>
                <a:cs typeface="Calibri" pitchFamily="34" charset="-120"/>
              </a:rPr>
              <a:t>era switching, slowing time and the throw all from one asset</a:t>
            </a:r>
            <a:endParaRPr lang="en-US" sz="860" dirty="0"/>
          </a:p>
          <a:p>
            <a:pPr marL="0" indent="0">
              <a:lnSpc>
                <a:spcPts val="1152"/>
              </a:lnSpc>
              <a:spcAft>
                <a:spcPts val="300"/>
              </a:spcAft>
              <a:buNone/>
            </a:pPr>
            <a:r>
              <a:rPr lang="en-US" sz="860" b="1" dirty="0">
                <a:solidFill>
                  <a:srgbClr val="FFFFFF"/>
                </a:solidFill>
                <a:latin typeface="Calibri" pitchFamily="34" charset="0"/>
                <a:ea typeface="Calibri" pitchFamily="34" charset="-122"/>
                <a:cs typeface="Calibri" pitchFamily="34" charset="-120"/>
              </a:rPr>
              <a:t>Animator — </a:t>
            </a:r>
            <a:r>
              <a:rPr lang="en-US" sz="860" dirty="0">
                <a:solidFill>
                  <a:srgbClr val="C9D2E8"/>
                </a:solidFill>
                <a:latin typeface="Calibri" pitchFamily="34" charset="0"/>
                <a:ea typeface="Calibri" pitchFamily="34" charset="-122"/>
                <a:cs typeface="Calibri" pitchFamily="34" charset="-120"/>
              </a:rPr>
              <a:t>the same two controllers drive Noa and the summoned Warden</a:t>
            </a:r>
            <a:endParaRPr lang="en-US" sz="8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Main Mechanic — Time Shifting</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Three prepared versions of the same place, one active at a time</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10</a:t>
            </a:r>
            <a:endParaRPr lang="en-US" sz="800" dirty="0"/>
          </a:p>
        </p:txBody>
      </p:sp>
      <p:sp>
        <p:nvSpPr>
          <p:cNvPr id="11" name="Shape 9"/>
          <p:cNvSpPr/>
          <p:nvPr/>
        </p:nvSpPr>
        <p:spPr>
          <a:xfrm>
            <a:off x="566928" y="1517904"/>
            <a:ext cx="3566160" cy="2286000"/>
          </a:xfrm>
          <a:prstGeom prst="roundRect">
            <a:avLst>
              <a:gd name="adj" fmla="val 1600"/>
            </a:avLst>
          </a:prstGeom>
          <a:solidFill>
            <a:srgbClr val="141B36"/>
          </a:solidFill>
          <a:ln w="9525">
            <a:solidFill>
              <a:srgbClr val="2A3558"/>
            </a:solidFill>
            <a:prstDash val="solid"/>
          </a:ln>
        </p:spPr>
        <p:txBody>
          <a:bodyPr/>
          <a:lstStyle/>
          <a:p>
            <a:endParaRPr lang="en-US"/>
          </a:p>
        </p:txBody>
      </p:sp>
      <p:sp>
        <p:nvSpPr>
          <p:cNvPr id="12" name="Text 10"/>
          <p:cNvSpPr txBox="1"/>
          <p:nvPr/>
        </p:nvSpPr>
        <p:spPr>
          <a:xfrm>
            <a:off x="566928" y="1700784"/>
            <a:ext cx="3566160" cy="365760"/>
          </a:xfrm>
          <a:prstGeom prst="rect">
            <a:avLst/>
          </a:prstGeom>
          <a:noFill/>
          <a:ln/>
        </p:spPr>
        <p:txBody>
          <a:bodyPr wrap="square" lIns="0" tIns="0" rIns="0" bIns="0" rtlCol="0" anchor="ctr"/>
          <a:lstStyle/>
          <a:p>
            <a:pPr marL="0" indent="0" algn="ctr">
              <a:buNone/>
            </a:pPr>
            <a:r>
              <a:rPr lang="en-US" sz="1700" b="1" kern="0" spc="200" dirty="0">
                <a:solidFill>
                  <a:srgbClr val="E8B54A"/>
                </a:solidFill>
                <a:latin typeface="Calibri" pitchFamily="34" charset="0"/>
                <a:ea typeface="Calibri" pitchFamily="34" charset="-122"/>
                <a:cs typeface="Calibri" pitchFamily="34" charset="-120"/>
              </a:rPr>
              <a:t>PAST</a:t>
            </a:r>
            <a:endParaRPr lang="en-US" sz="1700" dirty="0"/>
          </a:p>
        </p:txBody>
      </p:sp>
      <p:sp>
        <p:nvSpPr>
          <p:cNvPr id="13" name="Text 11"/>
          <p:cNvSpPr txBox="1"/>
          <p:nvPr/>
        </p:nvSpPr>
        <p:spPr>
          <a:xfrm>
            <a:off x="566928" y="2103120"/>
            <a:ext cx="3566160" cy="274320"/>
          </a:xfrm>
          <a:prstGeom prst="rect">
            <a:avLst/>
          </a:prstGeom>
          <a:noFill/>
          <a:ln/>
        </p:spPr>
        <p:txBody>
          <a:bodyPr wrap="square" lIns="0" tIns="0" rIns="0" bIns="0" rtlCol="0" anchor="t"/>
          <a:lstStyle/>
          <a:p>
            <a:pPr marL="0" indent="0" algn="ctr">
              <a:buNone/>
            </a:pPr>
            <a:r>
              <a:rPr lang="en-US" sz="1050" b="1" dirty="0">
                <a:solidFill>
                  <a:srgbClr val="FFFFFF"/>
                </a:solidFill>
                <a:latin typeface="Calibri" pitchFamily="34" charset="0"/>
                <a:ea typeface="Calibri" pitchFamily="34" charset="-122"/>
                <a:cs typeface="Calibri" pitchFamily="34" charset="-120"/>
              </a:rPr>
              <a:t>Change the cause</a:t>
            </a:r>
            <a:endParaRPr lang="en-US" sz="1050" dirty="0"/>
          </a:p>
        </p:txBody>
      </p:sp>
      <p:sp>
        <p:nvSpPr>
          <p:cNvPr id="14" name="Text 12"/>
          <p:cNvSpPr txBox="1"/>
          <p:nvPr/>
        </p:nvSpPr>
        <p:spPr>
          <a:xfrm>
            <a:off x="841248" y="2505456"/>
            <a:ext cx="3017520" cy="1097280"/>
          </a:xfrm>
          <a:prstGeom prst="rect">
            <a:avLst/>
          </a:prstGeom>
          <a:noFill/>
          <a:ln/>
        </p:spPr>
        <p:txBody>
          <a:bodyPr wrap="square" lIns="0" tIns="0" rIns="0" bIns="0" rtlCol="0" anchor="t"/>
          <a:lstStyle/>
          <a:p>
            <a:pPr marL="0" indent="0">
              <a:lnSpc>
                <a:spcPts val="1392"/>
              </a:lnSpc>
              <a:buNone/>
            </a:pPr>
            <a:r>
              <a:rPr lang="en-US" sz="980" dirty="0">
                <a:solidFill>
                  <a:srgbClr val="8A94B8"/>
                </a:solidFill>
                <a:latin typeface="Calibri" pitchFamily="34" charset="0"/>
                <a:ea typeface="Calibri" pitchFamily="34" charset="-122"/>
                <a:cs typeface="Calibri" pitchFamily="34" charset="-120"/>
              </a:rPr>
              <a:t>Press Q. Objects can still be moved, and what happens here is felt in both later eras.</a:t>
            </a:r>
            <a:endParaRPr lang="en-US" sz="980" dirty="0"/>
          </a:p>
        </p:txBody>
      </p:sp>
      <p:sp>
        <p:nvSpPr>
          <p:cNvPr id="15" name="Shape 13"/>
          <p:cNvSpPr/>
          <p:nvPr/>
        </p:nvSpPr>
        <p:spPr>
          <a:xfrm>
            <a:off x="4325112" y="1517904"/>
            <a:ext cx="3566160" cy="2286000"/>
          </a:xfrm>
          <a:prstGeom prst="roundRect">
            <a:avLst>
              <a:gd name="adj" fmla="val 1600"/>
            </a:avLst>
          </a:prstGeom>
          <a:solidFill>
            <a:srgbClr val="141B36"/>
          </a:solidFill>
          <a:ln w="9525">
            <a:solidFill>
              <a:srgbClr val="2A3558"/>
            </a:solidFill>
            <a:prstDash val="solid"/>
          </a:ln>
        </p:spPr>
        <p:txBody>
          <a:bodyPr/>
          <a:lstStyle/>
          <a:p>
            <a:endParaRPr lang="en-US"/>
          </a:p>
        </p:txBody>
      </p:sp>
      <p:sp>
        <p:nvSpPr>
          <p:cNvPr id="16" name="Text 14"/>
          <p:cNvSpPr txBox="1"/>
          <p:nvPr/>
        </p:nvSpPr>
        <p:spPr>
          <a:xfrm>
            <a:off x="4325112" y="1700784"/>
            <a:ext cx="3566160" cy="365760"/>
          </a:xfrm>
          <a:prstGeom prst="rect">
            <a:avLst/>
          </a:prstGeom>
          <a:noFill/>
          <a:ln/>
        </p:spPr>
        <p:txBody>
          <a:bodyPr wrap="square" lIns="0" tIns="0" rIns="0" bIns="0" rtlCol="0" anchor="ctr"/>
          <a:lstStyle/>
          <a:p>
            <a:pPr marL="0" indent="0" algn="ctr">
              <a:buNone/>
            </a:pPr>
            <a:r>
              <a:rPr lang="en-US" sz="1700" b="1" kern="0" spc="200" dirty="0">
                <a:solidFill>
                  <a:srgbClr val="5B9BD5"/>
                </a:solidFill>
                <a:latin typeface="Calibri" pitchFamily="34" charset="0"/>
                <a:ea typeface="Calibri" pitchFamily="34" charset="-122"/>
                <a:cs typeface="Calibri" pitchFamily="34" charset="-120"/>
              </a:rPr>
              <a:t>PRESENT</a:t>
            </a:r>
            <a:endParaRPr lang="en-US" sz="1700" dirty="0"/>
          </a:p>
        </p:txBody>
      </p:sp>
      <p:sp>
        <p:nvSpPr>
          <p:cNvPr id="17" name="Text 15"/>
          <p:cNvSpPr txBox="1"/>
          <p:nvPr/>
        </p:nvSpPr>
        <p:spPr>
          <a:xfrm>
            <a:off x="4325112" y="2103120"/>
            <a:ext cx="3566160" cy="274320"/>
          </a:xfrm>
          <a:prstGeom prst="rect">
            <a:avLst/>
          </a:prstGeom>
          <a:noFill/>
          <a:ln/>
        </p:spPr>
        <p:txBody>
          <a:bodyPr wrap="square" lIns="0" tIns="0" rIns="0" bIns="0" rtlCol="0" anchor="t"/>
          <a:lstStyle/>
          <a:p>
            <a:pPr marL="0" indent="0" algn="ctr">
              <a:buNone/>
            </a:pPr>
            <a:r>
              <a:rPr lang="en-US" sz="1050" b="1" dirty="0">
                <a:solidFill>
                  <a:srgbClr val="FFFFFF"/>
                </a:solidFill>
                <a:latin typeface="Calibri" pitchFamily="34" charset="0"/>
                <a:ea typeface="Calibri" pitchFamily="34" charset="-122"/>
                <a:cs typeface="Calibri" pitchFamily="34" charset="-120"/>
              </a:rPr>
              <a:t>Solve the event</a:t>
            </a:r>
            <a:endParaRPr lang="en-US" sz="1050" dirty="0"/>
          </a:p>
        </p:txBody>
      </p:sp>
      <p:sp>
        <p:nvSpPr>
          <p:cNvPr id="18" name="Text 16"/>
          <p:cNvSpPr txBox="1"/>
          <p:nvPr/>
        </p:nvSpPr>
        <p:spPr>
          <a:xfrm>
            <a:off x="4599432" y="2505456"/>
            <a:ext cx="3017520" cy="1097280"/>
          </a:xfrm>
          <a:prstGeom prst="rect">
            <a:avLst/>
          </a:prstGeom>
          <a:noFill/>
          <a:ln/>
        </p:spPr>
        <p:txBody>
          <a:bodyPr wrap="square" lIns="0" tIns="0" rIns="0" bIns="0" rtlCol="0" anchor="t"/>
          <a:lstStyle/>
          <a:p>
            <a:pPr marL="0" indent="0">
              <a:lnSpc>
                <a:spcPts val="1392"/>
              </a:lnSpc>
              <a:buNone/>
            </a:pPr>
            <a:r>
              <a:rPr lang="en-US" sz="980" dirty="0">
                <a:solidFill>
                  <a:srgbClr val="8A94B8"/>
                </a:solidFill>
                <a:latin typeface="Calibri" pitchFamily="34" charset="0"/>
                <a:ea typeface="Calibri" pitchFamily="34" charset="-122"/>
                <a:cs typeface="Calibri" pitchFamily="34" charset="-120"/>
              </a:rPr>
              <a:t>Where the museum stands tonight, and where most objectives are performed.</a:t>
            </a:r>
            <a:endParaRPr lang="en-US" sz="980" dirty="0"/>
          </a:p>
        </p:txBody>
      </p:sp>
      <p:sp>
        <p:nvSpPr>
          <p:cNvPr id="19" name="Shape 17"/>
          <p:cNvSpPr/>
          <p:nvPr/>
        </p:nvSpPr>
        <p:spPr>
          <a:xfrm>
            <a:off x="8083296" y="1517904"/>
            <a:ext cx="3566160" cy="2286000"/>
          </a:xfrm>
          <a:prstGeom prst="roundRect">
            <a:avLst>
              <a:gd name="adj" fmla="val 1600"/>
            </a:avLst>
          </a:prstGeom>
          <a:solidFill>
            <a:srgbClr val="141B36"/>
          </a:solidFill>
          <a:ln w="9525">
            <a:solidFill>
              <a:srgbClr val="2A3558"/>
            </a:solidFill>
            <a:prstDash val="solid"/>
          </a:ln>
        </p:spPr>
        <p:txBody>
          <a:bodyPr/>
          <a:lstStyle/>
          <a:p>
            <a:endParaRPr lang="en-US"/>
          </a:p>
        </p:txBody>
      </p:sp>
      <p:sp>
        <p:nvSpPr>
          <p:cNvPr id="20" name="Text 18"/>
          <p:cNvSpPr txBox="1"/>
          <p:nvPr/>
        </p:nvSpPr>
        <p:spPr>
          <a:xfrm>
            <a:off x="8083296" y="1700784"/>
            <a:ext cx="3566160" cy="365760"/>
          </a:xfrm>
          <a:prstGeom prst="rect">
            <a:avLst/>
          </a:prstGeom>
          <a:noFill/>
          <a:ln/>
        </p:spPr>
        <p:txBody>
          <a:bodyPr wrap="square" lIns="0" tIns="0" rIns="0" bIns="0" rtlCol="0" anchor="ctr"/>
          <a:lstStyle/>
          <a:p>
            <a:pPr marL="0" indent="0" algn="ctr">
              <a:buNone/>
            </a:pPr>
            <a:r>
              <a:rPr lang="en-US" sz="1700" b="1" kern="0" spc="200" dirty="0">
                <a:solidFill>
                  <a:srgbClr val="9B7BD4"/>
                </a:solidFill>
                <a:latin typeface="Calibri" pitchFamily="34" charset="0"/>
                <a:ea typeface="Calibri" pitchFamily="34" charset="-122"/>
                <a:cs typeface="Calibri" pitchFamily="34" charset="-120"/>
              </a:rPr>
              <a:t>FUTURE</a:t>
            </a:r>
            <a:endParaRPr lang="en-US" sz="1700" dirty="0"/>
          </a:p>
        </p:txBody>
      </p:sp>
      <p:sp>
        <p:nvSpPr>
          <p:cNvPr id="21" name="Text 19"/>
          <p:cNvSpPr txBox="1"/>
          <p:nvPr/>
        </p:nvSpPr>
        <p:spPr>
          <a:xfrm>
            <a:off x="8083296" y="2103120"/>
            <a:ext cx="3566160" cy="274320"/>
          </a:xfrm>
          <a:prstGeom prst="rect">
            <a:avLst/>
          </a:prstGeom>
          <a:noFill/>
          <a:ln/>
        </p:spPr>
        <p:txBody>
          <a:bodyPr wrap="square" lIns="0" tIns="0" rIns="0" bIns="0" rtlCol="0" anchor="t"/>
          <a:lstStyle/>
          <a:p>
            <a:pPr marL="0" indent="0" algn="ctr">
              <a:buNone/>
            </a:pPr>
            <a:r>
              <a:rPr lang="en-US" sz="1050" b="1" dirty="0">
                <a:solidFill>
                  <a:srgbClr val="FFFFFF"/>
                </a:solidFill>
                <a:latin typeface="Calibri" pitchFamily="34" charset="0"/>
                <a:ea typeface="Calibri" pitchFamily="34" charset="-122"/>
                <a:cs typeface="Calibri" pitchFamily="34" charset="-120"/>
              </a:rPr>
              <a:t>Check the result</a:t>
            </a:r>
            <a:endParaRPr lang="en-US" sz="1050" dirty="0"/>
          </a:p>
        </p:txBody>
      </p:sp>
      <p:sp>
        <p:nvSpPr>
          <p:cNvPr id="22" name="Text 20"/>
          <p:cNvSpPr txBox="1"/>
          <p:nvPr/>
        </p:nvSpPr>
        <p:spPr>
          <a:xfrm>
            <a:off x="8357616" y="2505456"/>
            <a:ext cx="3017520" cy="1097280"/>
          </a:xfrm>
          <a:prstGeom prst="rect">
            <a:avLst/>
          </a:prstGeom>
          <a:noFill/>
          <a:ln/>
        </p:spPr>
        <p:txBody>
          <a:bodyPr wrap="square" lIns="0" tIns="0" rIns="0" bIns="0" rtlCol="0" anchor="t"/>
          <a:lstStyle/>
          <a:p>
            <a:pPr marL="0" indent="0">
              <a:lnSpc>
                <a:spcPts val="1392"/>
              </a:lnSpc>
              <a:buNone/>
            </a:pPr>
            <a:r>
              <a:rPr lang="en-US" sz="980" dirty="0">
                <a:solidFill>
                  <a:srgbClr val="8A94B8"/>
                </a:solidFill>
                <a:latin typeface="Calibri" pitchFamily="34" charset="0"/>
                <a:ea typeface="Calibri" pitchFamily="34" charset="-122"/>
                <a:cs typeface="Calibri" pitchFamily="34" charset="-120"/>
              </a:rPr>
              <a:t>Press R. The consequence is already visible — this is where a fix is confirmed or exposed.</a:t>
            </a:r>
            <a:endParaRPr lang="en-US" sz="980" dirty="0"/>
          </a:p>
        </p:txBody>
      </p:sp>
      <p:sp>
        <p:nvSpPr>
          <p:cNvPr id="23" name="Text 21"/>
          <p:cNvSpPr txBox="1"/>
          <p:nvPr/>
        </p:nvSpPr>
        <p:spPr>
          <a:xfrm>
            <a:off x="566928" y="4059936"/>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HOW IT IS BUILT</a:t>
            </a:r>
            <a:endParaRPr lang="en-US" sz="800" dirty="0"/>
          </a:p>
        </p:txBody>
      </p:sp>
      <p:sp>
        <p:nvSpPr>
          <p:cNvPr id="24" name="Text 22"/>
          <p:cNvSpPr txBox="1"/>
          <p:nvPr/>
        </p:nvSpPr>
        <p:spPr>
          <a:xfrm>
            <a:off x="566928" y="4334256"/>
            <a:ext cx="5669280" cy="1737360"/>
          </a:xfrm>
          <a:prstGeom prst="rect">
            <a:avLst/>
          </a:prstGeom>
          <a:noFill/>
          <a:ln/>
        </p:spPr>
        <p:txBody>
          <a:bodyPr wrap="square" lIns="0" tIns="0" rIns="0" bIns="0" rtlCol="0" anchor="t"/>
          <a:lstStyle/>
          <a:p>
            <a:pPr marL="342900" indent="-342900">
              <a:lnSpc>
                <a:spcPts val="1448"/>
              </a:lnSpc>
              <a:spcAft>
                <a:spcPts val="300"/>
              </a:spcAft>
              <a:buSzPct val="100000"/>
              <a:buChar char="•"/>
            </a:pPr>
            <a:r>
              <a:rPr lang="en-US" sz="1020" dirty="0">
                <a:solidFill>
                  <a:srgbClr val="C9D2E8"/>
                </a:solidFill>
                <a:latin typeface="Calibri" pitchFamily="34" charset="0"/>
                <a:ea typeface="Calibri" pitchFamily="34" charset="-122"/>
                <a:cs typeface="Calibri" pitchFamily="34" charset="-120"/>
              </a:rPr>
              <a:t>Each era is a sibling group of objects, switched on and off — not a separate scene, so the change is instant.</a:t>
            </a:r>
            <a:endParaRPr lang="en-US" sz="1020" dirty="0"/>
          </a:p>
          <a:p>
            <a:pPr marL="342900" indent="-342900">
              <a:lnSpc>
                <a:spcPts val="1448"/>
              </a:lnSpc>
              <a:spcAft>
                <a:spcPts val="300"/>
              </a:spcAft>
              <a:buSzPct val="100000"/>
              <a:buChar char="•"/>
            </a:pPr>
            <a:r>
              <a:rPr lang="en-US" sz="1020" dirty="0">
                <a:solidFill>
                  <a:srgbClr val="C9D2E8"/>
                </a:solidFill>
                <a:latin typeface="Calibri" pitchFamily="34" charset="0"/>
                <a:ea typeface="Calibri" pitchFamily="34" charset="-122"/>
                <a:cs typeface="Calibri" pitchFamily="34" charset="-120"/>
              </a:rPr>
              <a:t>Noa keeps her position across the switch; only the world around her changes.</a:t>
            </a:r>
            <a:endParaRPr lang="en-US" sz="1020" dirty="0"/>
          </a:p>
          <a:p>
            <a:pPr marL="342900" indent="-342900">
              <a:lnSpc>
                <a:spcPts val="1448"/>
              </a:lnSpc>
              <a:spcAft>
                <a:spcPts val="300"/>
              </a:spcAft>
              <a:buSzPct val="100000"/>
              <a:buChar char="•"/>
            </a:pPr>
            <a:r>
              <a:rPr lang="en-US" sz="1020" dirty="0">
                <a:solidFill>
                  <a:srgbClr val="C9D2E8"/>
                </a:solidFill>
                <a:latin typeface="Calibri" pitchFamily="34" charset="0"/>
                <a:ea typeface="Calibri" pitchFamily="34" charset="-122"/>
                <a:cs typeface="Calibri" pitchFamily="34" charset="-120"/>
              </a:rPr>
              <a:t>Objects that were moved carry their new position forward into the later eras.</a:t>
            </a:r>
            <a:endParaRPr lang="en-US" sz="1020" dirty="0"/>
          </a:p>
        </p:txBody>
      </p:sp>
      <p:sp>
        <p:nvSpPr>
          <p:cNvPr id="25" name="Shape 23"/>
          <p:cNvSpPr/>
          <p:nvPr/>
        </p:nvSpPr>
        <p:spPr>
          <a:xfrm>
            <a:off x="6711696" y="4059936"/>
            <a:ext cx="4919472" cy="2011680"/>
          </a:xfrm>
          <a:prstGeom prst="roundRect">
            <a:avLst>
              <a:gd name="adj" fmla="val 1818"/>
            </a:avLst>
          </a:prstGeom>
          <a:solidFill>
            <a:srgbClr val="141B36"/>
          </a:solidFill>
          <a:ln w="9525">
            <a:solidFill>
              <a:srgbClr val="2A3558"/>
            </a:solidFill>
            <a:prstDash val="solid"/>
          </a:ln>
        </p:spPr>
        <p:txBody>
          <a:bodyPr/>
          <a:lstStyle/>
          <a:p>
            <a:endParaRPr lang="en-US"/>
          </a:p>
        </p:txBody>
      </p:sp>
      <p:sp>
        <p:nvSpPr>
          <p:cNvPr id="26" name="Text 24"/>
          <p:cNvSpPr txBox="1"/>
          <p:nvPr/>
        </p:nvSpPr>
        <p:spPr>
          <a:xfrm>
            <a:off x="6949440" y="4224528"/>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WHY IT IS BUILT THIS WAY</a:t>
            </a:r>
            <a:endParaRPr lang="en-US" sz="800" dirty="0"/>
          </a:p>
        </p:txBody>
      </p:sp>
      <p:sp>
        <p:nvSpPr>
          <p:cNvPr id="27" name="Text 25"/>
          <p:cNvSpPr txBox="1"/>
          <p:nvPr/>
        </p:nvSpPr>
        <p:spPr>
          <a:xfrm>
            <a:off x="6949440" y="4517136"/>
            <a:ext cx="4443984" cy="1463040"/>
          </a:xfrm>
          <a:prstGeom prst="rect">
            <a:avLst/>
          </a:prstGeom>
          <a:noFill/>
          <a:ln/>
        </p:spPr>
        <p:txBody>
          <a:bodyPr wrap="square" lIns="0" tIns="0" rIns="0" bIns="0" rtlCol="0" anchor="t"/>
          <a:lstStyle/>
          <a:p>
            <a:pPr marL="0" indent="0">
              <a:lnSpc>
                <a:spcPts val="1420"/>
              </a:lnSpc>
              <a:buNone/>
            </a:pPr>
            <a:r>
              <a:rPr lang="en-US" sz="1000" dirty="0">
                <a:solidFill>
                  <a:srgbClr val="C9D2E8"/>
                </a:solidFill>
                <a:latin typeface="Calibri" pitchFamily="34" charset="0"/>
                <a:ea typeface="Calibri" pitchFamily="34" charset="-122"/>
                <a:cs typeface="Calibri" pitchFamily="34" charset="-120"/>
              </a:rPr>
              <a:t>It looks like time travel but avoids simulating it: three small prepared dressings are swapped, and the only state that has to survive is where things were left.</a:t>
            </a:r>
            <a:endParaRPr lang="en-US" sz="1000" dirty="0"/>
          </a:p>
          <a:p>
            <a:pPr marL="0" indent="0">
              <a:lnSpc>
                <a:spcPts val="1420"/>
              </a:lnSpc>
              <a:buNone/>
            </a:pPr>
            <a:endParaRPr lang="en-US" sz="1000" dirty="0"/>
          </a:p>
          <a:p>
            <a:pPr marL="0" indent="0">
              <a:lnSpc>
                <a:spcPts val="1420"/>
              </a:lnSpc>
              <a:buNone/>
            </a:pPr>
            <a:r>
              <a:rPr lang="en-US" sz="1000" dirty="0">
                <a:solidFill>
                  <a:srgbClr val="C9D2E8"/>
                </a:solidFill>
                <a:latin typeface="Calibri" pitchFamily="34" charset="0"/>
                <a:ea typeface="Calibri" pitchFamily="34" charset="-122"/>
                <a:cs typeface="Calibri" pitchFamily="34" charset="-120"/>
              </a:rPr>
              <a:t>That keeps it cheap, instant, and simple to explain in the defence.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AI &amp; Stealth Design</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Two agent types, two separate navmesh bakes, sight decided by raycast</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11</a:t>
            </a:r>
            <a:endParaRPr lang="en-US" sz="800" dirty="0"/>
          </a:p>
        </p:txBody>
      </p:sp>
      <p:sp>
        <p:nvSpPr>
          <p:cNvPr id="11" name="Shape 9"/>
          <p:cNvSpPr/>
          <p:nvPr/>
        </p:nvSpPr>
        <p:spPr>
          <a:xfrm>
            <a:off x="566928" y="1481328"/>
            <a:ext cx="5440680" cy="3310128"/>
          </a:xfrm>
          <a:prstGeom prst="roundRect">
            <a:avLst>
              <a:gd name="adj" fmla="val 1105"/>
            </a:avLst>
          </a:prstGeom>
          <a:solidFill>
            <a:srgbClr val="141B36"/>
          </a:solidFill>
          <a:ln w="9525">
            <a:solidFill>
              <a:srgbClr val="2A3558"/>
            </a:solidFill>
            <a:prstDash val="solid"/>
          </a:ln>
        </p:spPr>
        <p:txBody>
          <a:bodyPr/>
          <a:lstStyle/>
          <a:p>
            <a:endParaRPr lang="en-US"/>
          </a:p>
        </p:txBody>
      </p:sp>
      <p:pic>
        <p:nvPicPr>
          <p:cNvPr id="12" name="Image 0" descr="C:\Users\Remote-BEAST\AppData\Local\Temp\claude\C--cs-degree-year-3-video-games-final-MuseumOfTime\4374ba47-f7d5-49a5-a1ce-b351b7c26d9c\scratchpad\img\char_warden.png"/>
          <p:cNvPicPr>
            <a:picLocks noChangeAspect="1"/>
          </p:cNvPicPr>
          <p:nvPr/>
        </p:nvPicPr>
        <p:blipFill>
          <a:blip r:embed="rId3"/>
          <a:stretch>
            <a:fillRect/>
          </a:stretch>
        </p:blipFill>
        <p:spPr>
          <a:xfrm>
            <a:off x="731520" y="1609344"/>
            <a:ext cx="2212848" cy="3072384"/>
          </a:xfrm>
          <a:prstGeom prst="rect">
            <a:avLst/>
          </a:prstGeom>
        </p:spPr>
      </p:pic>
      <p:sp>
        <p:nvSpPr>
          <p:cNvPr id="13" name="Text 10"/>
          <p:cNvSpPr txBox="1"/>
          <p:nvPr/>
        </p:nvSpPr>
        <p:spPr>
          <a:xfrm>
            <a:off x="3145536" y="1664208"/>
            <a:ext cx="18288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AGENT 1</a:t>
            </a:r>
            <a:endParaRPr lang="en-US" sz="800" dirty="0"/>
          </a:p>
        </p:txBody>
      </p:sp>
      <p:sp>
        <p:nvSpPr>
          <p:cNvPr id="14" name="Text 11"/>
          <p:cNvSpPr txBox="1"/>
          <p:nvPr/>
        </p:nvSpPr>
        <p:spPr>
          <a:xfrm>
            <a:off x="3145536" y="1901952"/>
            <a:ext cx="2743200" cy="310896"/>
          </a:xfrm>
          <a:prstGeom prst="rect">
            <a:avLst/>
          </a:prstGeom>
          <a:noFill/>
          <a:ln/>
        </p:spPr>
        <p:txBody>
          <a:bodyPr wrap="square" lIns="0" tIns="0" rIns="0" bIns="0" rtlCol="0" anchor="t"/>
          <a:lstStyle/>
          <a:p>
            <a:pPr marL="0" indent="0">
              <a:buNone/>
            </a:pPr>
            <a:r>
              <a:rPr lang="en-US" sz="1400" b="1" dirty="0">
                <a:solidFill>
                  <a:srgbClr val="5B9BD5"/>
                </a:solidFill>
                <a:latin typeface="Calibri" pitchFamily="34" charset="0"/>
                <a:ea typeface="Calibri" pitchFamily="34" charset="-122"/>
                <a:cs typeface="Calibri" pitchFamily="34" charset="-120"/>
              </a:rPr>
              <a:t>Time Warden</a:t>
            </a:r>
            <a:endParaRPr lang="en-US" sz="1400" dirty="0"/>
          </a:p>
        </p:txBody>
      </p:sp>
      <p:sp>
        <p:nvSpPr>
          <p:cNvPr id="15" name="Text 12"/>
          <p:cNvSpPr txBox="1"/>
          <p:nvPr/>
        </p:nvSpPr>
        <p:spPr>
          <a:xfrm>
            <a:off x="3145536" y="2231136"/>
            <a:ext cx="2743200" cy="274320"/>
          </a:xfrm>
          <a:prstGeom prst="rect">
            <a:avLst/>
          </a:prstGeom>
          <a:noFill/>
          <a:ln/>
        </p:spPr>
        <p:txBody>
          <a:bodyPr wrap="square" lIns="0" tIns="0" rIns="0" bIns="0" rtlCol="0" anchor="t"/>
          <a:lstStyle/>
          <a:p>
            <a:pPr marL="0" indent="0">
              <a:lnSpc>
                <a:spcPts val="1250"/>
              </a:lnSpc>
              <a:buNone/>
            </a:pPr>
            <a:r>
              <a:rPr lang="en-US" sz="880" dirty="0">
                <a:solidFill>
                  <a:srgbClr val="8A94B8"/>
                </a:solidFill>
                <a:latin typeface="Calibri" pitchFamily="34" charset="0"/>
                <a:ea typeface="Calibri" pitchFamily="34" charset="-122"/>
                <a:cs typeface="Calibri" pitchFamily="34" charset="-120"/>
              </a:rPr>
              <a:t>Radius 0.5 m · height 2.0 m · climb 0.4 m</a:t>
            </a:r>
            <a:endParaRPr lang="en-US" sz="880" dirty="0"/>
          </a:p>
        </p:txBody>
      </p:sp>
      <p:sp>
        <p:nvSpPr>
          <p:cNvPr id="16" name="Text 13"/>
          <p:cNvSpPr txBox="1"/>
          <p:nvPr/>
        </p:nvSpPr>
        <p:spPr>
          <a:xfrm>
            <a:off x="3145536" y="2578608"/>
            <a:ext cx="2743200" cy="2011680"/>
          </a:xfrm>
          <a:prstGeom prst="rect">
            <a:avLst/>
          </a:prstGeom>
          <a:noFill/>
          <a:ln/>
        </p:spPr>
        <p:txBody>
          <a:bodyPr wrap="square" lIns="0" tIns="0" rIns="0" bIns="0" rtlCol="0" anchor="t"/>
          <a:lstStyle/>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Patrol → Pause → Alert → Chase → Search</a:t>
            </a:r>
            <a:endParaRPr lang="en-US" sz="940" dirty="0"/>
          </a:p>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Aims at where Noa will be, not where she is</a:t>
            </a:r>
            <a:endParaRPr lang="en-US" sz="940" dirty="0"/>
          </a:p>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Pauses 2.5–3.0 s at every waypoint</a:t>
            </a:r>
            <a:endParaRPr lang="en-US" sz="940" dirty="0"/>
          </a:p>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Frozen by a Chrono Orb hit</a:t>
            </a:r>
            <a:endParaRPr lang="en-US" sz="940" dirty="0"/>
          </a:p>
        </p:txBody>
      </p:sp>
      <p:sp>
        <p:nvSpPr>
          <p:cNvPr id="17" name="Shape 14"/>
          <p:cNvSpPr/>
          <p:nvPr/>
        </p:nvSpPr>
        <p:spPr>
          <a:xfrm>
            <a:off x="6199632" y="1481328"/>
            <a:ext cx="5440680" cy="3310128"/>
          </a:xfrm>
          <a:prstGeom prst="roundRect">
            <a:avLst>
              <a:gd name="adj" fmla="val 1105"/>
            </a:avLst>
          </a:prstGeom>
          <a:solidFill>
            <a:srgbClr val="141B36"/>
          </a:solidFill>
          <a:ln w="9525">
            <a:solidFill>
              <a:srgbClr val="2A3558"/>
            </a:solidFill>
            <a:prstDash val="solid"/>
          </a:ln>
        </p:spPr>
        <p:txBody>
          <a:bodyPr/>
          <a:lstStyle/>
          <a:p>
            <a:endParaRPr lang="en-US"/>
          </a:p>
        </p:txBody>
      </p:sp>
      <p:pic>
        <p:nvPicPr>
          <p:cNvPr id="18" name="Image 1" descr="C:\Users\Remote-BEAST\AppData\Local\Temp\claude\C--cs-degree-year-3-video-games-final-MuseumOfTime\4374ba47-f7d5-49a5-a1ce-b351b7c26d9c\scratchpad\img\char_shadow.png"/>
          <p:cNvPicPr>
            <a:picLocks noChangeAspect="1"/>
          </p:cNvPicPr>
          <p:nvPr/>
        </p:nvPicPr>
        <p:blipFill>
          <a:blip r:embed="rId4"/>
          <a:stretch>
            <a:fillRect/>
          </a:stretch>
        </p:blipFill>
        <p:spPr>
          <a:xfrm>
            <a:off x="6364224" y="1609344"/>
            <a:ext cx="2212848" cy="3072384"/>
          </a:xfrm>
          <a:prstGeom prst="rect">
            <a:avLst/>
          </a:prstGeom>
        </p:spPr>
      </p:pic>
      <p:sp>
        <p:nvSpPr>
          <p:cNvPr id="19" name="Text 15"/>
          <p:cNvSpPr txBox="1"/>
          <p:nvPr/>
        </p:nvSpPr>
        <p:spPr>
          <a:xfrm>
            <a:off x="8778240" y="1664208"/>
            <a:ext cx="18288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AGENT 2</a:t>
            </a:r>
            <a:endParaRPr lang="en-US" sz="800" dirty="0"/>
          </a:p>
        </p:txBody>
      </p:sp>
      <p:sp>
        <p:nvSpPr>
          <p:cNvPr id="20" name="Text 16"/>
          <p:cNvSpPr txBox="1"/>
          <p:nvPr/>
        </p:nvSpPr>
        <p:spPr>
          <a:xfrm>
            <a:off x="8778240" y="1901952"/>
            <a:ext cx="2743200" cy="310896"/>
          </a:xfrm>
          <a:prstGeom prst="rect">
            <a:avLst/>
          </a:prstGeom>
          <a:noFill/>
          <a:ln/>
        </p:spPr>
        <p:txBody>
          <a:bodyPr wrap="square" lIns="0" tIns="0" rIns="0" bIns="0" rtlCol="0" anchor="t"/>
          <a:lstStyle/>
          <a:p>
            <a:pPr marL="0" indent="0">
              <a:buNone/>
            </a:pPr>
            <a:r>
              <a:rPr lang="en-US" sz="1400" b="1" dirty="0">
                <a:solidFill>
                  <a:srgbClr val="9B7BD4"/>
                </a:solidFill>
                <a:latin typeface="Calibri" pitchFamily="34" charset="0"/>
                <a:ea typeface="Calibri" pitchFamily="34" charset="-122"/>
                <a:cs typeface="Calibri" pitchFamily="34" charset="-120"/>
              </a:rPr>
              <a:t>Chronological Shadow</a:t>
            </a:r>
            <a:endParaRPr lang="en-US" sz="1400" dirty="0"/>
          </a:p>
        </p:txBody>
      </p:sp>
      <p:sp>
        <p:nvSpPr>
          <p:cNvPr id="21" name="Text 17"/>
          <p:cNvSpPr txBox="1"/>
          <p:nvPr/>
        </p:nvSpPr>
        <p:spPr>
          <a:xfrm>
            <a:off x="8778240" y="2231136"/>
            <a:ext cx="2743200" cy="274320"/>
          </a:xfrm>
          <a:prstGeom prst="rect">
            <a:avLst/>
          </a:prstGeom>
          <a:noFill/>
          <a:ln/>
        </p:spPr>
        <p:txBody>
          <a:bodyPr wrap="square" lIns="0" tIns="0" rIns="0" bIns="0" rtlCol="0" anchor="t"/>
          <a:lstStyle/>
          <a:p>
            <a:pPr marL="0" indent="0">
              <a:lnSpc>
                <a:spcPts val="1250"/>
              </a:lnSpc>
              <a:buNone/>
            </a:pPr>
            <a:r>
              <a:rPr lang="en-US" sz="880" dirty="0">
                <a:solidFill>
                  <a:srgbClr val="8A94B8"/>
                </a:solidFill>
                <a:latin typeface="Calibri" pitchFamily="34" charset="0"/>
                <a:ea typeface="Calibri" pitchFamily="34" charset="-122"/>
                <a:cs typeface="Calibri" pitchFamily="34" charset="-120"/>
              </a:rPr>
              <a:t>Radius 0.3 m · height 1.2 m · climb 0.9 m</a:t>
            </a:r>
            <a:endParaRPr lang="en-US" sz="880" dirty="0"/>
          </a:p>
        </p:txBody>
      </p:sp>
      <p:sp>
        <p:nvSpPr>
          <p:cNvPr id="22" name="Text 18"/>
          <p:cNvSpPr txBox="1"/>
          <p:nvPr/>
        </p:nvSpPr>
        <p:spPr>
          <a:xfrm>
            <a:off x="8778240" y="2578608"/>
            <a:ext cx="2743200" cy="2011680"/>
          </a:xfrm>
          <a:prstGeom prst="rect">
            <a:avLst/>
          </a:prstGeom>
          <a:noFill/>
          <a:ln/>
        </p:spPr>
        <p:txBody>
          <a:bodyPr wrap="square" lIns="0" tIns="0" rIns="0" bIns="0" rtlCol="0" anchor="t"/>
          <a:lstStyle/>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Drift → Seek shard → Flee → Frozen</a:t>
            </a:r>
            <a:endParaRPr lang="en-US" sz="940" dirty="0"/>
          </a:p>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Steals Time Shards on contact, costing real score</a:t>
            </a:r>
            <a:endParaRPr lang="en-US" sz="940" dirty="0"/>
          </a:p>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Climbs a 0.7 m ledge the Warden cannot</a:t>
            </a:r>
            <a:endParaRPr lang="en-US" sz="940" dirty="0"/>
          </a:p>
          <a:p>
            <a:pPr marL="342900" indent="-342900">
              <a:lnSpc>
                <a:spcPts val="1335"/>
              </a:lnSpc>
              <a:spcAft>
                <a:spcPts val="300"/>
              </a:spcAft>
              <a:buSzPct val="100000"/>
              <a:buChar char="•"/>
            </a:pPr>
            <a:r>
              <a:rPr lang="en-US" sz="940" dirty="0">
                <a:solidFill>
                  <a:srgbClr val="C9D2E8"/>
                </a:solidFill>
                <a:latin typeface="Calibri" pitchFamily="34" charset="0"/>
                <a:ea typeface="Calibri" pitchFamily="34" charset="-122"/>
                <a:cs typeface="Calibri" pitchFamily="34" charset="-120"/>
              </a:rPr>
              <a:t>Recoverable by freezing it</a:t>
            </a:r>
            <a:endParaRPr lang="en-US" sz="940" dirty="0"/>
          </a:p>
        </p:txBody>
      </p:sp>
      <p:sp>
        <p:nvSpPr>
          <p:cNvPr id="23" name="Shape 19"/>
          <p:cNvSpPr/>
          <p:nvPr/>
        </p:nvSpPr>
        <p:spPr>
          <a:xfrm>
            <a:off x="566928" y="4974336"/>
            <a:ext cx="11073384" cy="1225296"/>
          </a:xfrm>
          <a:prstGeom prst="roundRect">
            <a:avLst>
              <a:gd name="adj" fmla="val 2985"/>
            </a:avLst>
          </a:prstGeom>
          <a:solidFill>
            <a:srgbClr val="141B36"/>
          </a:solidFill>
          <a:ln w="9525">
            <a:solidFill>
              <a:srgbClr val="2A3558"/>
            </a:solidFill>
            <a:prstDash val="solid"/>
          </a:ln>
        </p:spPr>
        <p:txBody>
          <a:bodyPr/>
          <a:lstStyle/>
          <a:p>
            <a:endParaRPr lang="en-US"/>
          </a:p>
        </p:txBody>
      </p:sp>
      <p:sp>
        <p:nvSpPr>
          <p:cNvPr id="24" name="Text 20"/>
          <p:cNvSpPr txBox="1"/>
          <p:nvPr/>
        </p:nvSpPr>
        <p:spPr>
          <a:xfrm>
            <a:off x="822960" y="5120640"/>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RAYCAST + LAYERMASK DECIDES VISIBILITY</a:t>
            </a:r>
            <a:endParaRPr lang="en-US" sz="800" dirty="0"/>
          </a:p>
        </p:txBody>
      </p:sp>
      <p:sp>
        <p:nvSpPr>
          <p:cNvPr id="25" name="Text 21"/>
          <p:cNvSpPr txBox="1"/>
          <p:nvPr/>
        </p:nvSpPr>
        <p:spPr>
          <a:xfrm>
            <a:off x="822960" y="5394960"/>
            <a:ext cx="10561320" cy="713232"/>
          </a:xfrm>
          <a:prstGeom prst="rect">
            <a:avLst/>
          </a:prstGeom>
          <a:noFill/>
          <a:ln/>
        </p:spPr>
        <p:txBody>
          <a:bodyPr wrap="square" lIns="0" tIns="0" rIns="0" bIns="0" rtlCol="0" anchor="t"/>
          <a:lstStyle/>
          <a:p>
            <a:pPr marL="0" indent="0">
              <a:lnSpc>
                <a:spcPts val="1392"/>
              </a:lnSpc>
              <a:buNone/>
            </a:pPr>
            <a:r>
              <a:rPr lang="en-US" sz="980" dirty="0">
                <a:solidFill>
                  <a:srgbClr val="C9D2E8"/>
                </a:solidFill>
                <a:latin typeface="Calibri" pitchFamily="34" charset="0"/>
                <a:ea typeface="Calibri" pitchFamily="34" charset="-122"/>
                <a:cs typeface="Calibri" pitchFamily="34" charset="-120"/>
              </a:rPr>
              <a:t>Detection runs the cheapest test first: distance, then a view cone, then a line-of-sight raycast against a mask built in code rather than assigned in the Inspector. A detection meter fills only while Noa is actually visible, so breaking the line of sight behind a column or a display case genuinely loses the guard. Both agents implement one freeze interface, so a single orb handles either.</a:t>
            </a:r>
            <a:endParaRPr lang="en-US" sz="9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Player Systems &amp; Persistence</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One saved state carries the whole run</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12</a:t>
            </a:r>
            <a:endParaRPr lang="en-US" sz="800" dirty="0"/>
          </a:p>
        </p:txBody>
      </p:sp>
      <p:sp>
        <p:nvSpPr>
          <p:cNvPr id="11" name="Shape 9"/>
          <p:cNvSpPr/>
          <p:nvPr/>
        </p:nvSpPr>
        <p:spPr>
          <a:xfrm>
            <a:off x="566928" y="1499616"/>
            <a:ext cx="1723644" cy="731520"/>
          </a:xfrm>
          <a:prstGeom prst="roundRect">
            <a:avLst>
              <a:gd name="adj" fmla="val 5000"/>
            </a:avLst>
          </a:prstGeom>
          <a:solidFill>
            <a:srgbClr val="1A2340"/>
          </a:solidFill>
          <a:ln w="9525">
            <a:solidFill>
              <a:srgbClr val="2A3558"/>
            </a:solidFill>
            <a:prstDash val="solid"/>
          </a:ln>
        </p:spPr>
        <p:txBody>
          <a:bodyPr/>
          <a:lstStyle/>
          <a:p>
            <a:endParaRPr lang="en-US"/>
          </a:p>
        </p:txBody>
      </p:sp>
      <p:sp>
        <p:nvSpPr>
          <p:cNvPr id="12" name="Text 10"/>
          <p:cNvSpPr txBox="1"/>
          <p:nvPr/>
        </p:nvSpPr>
        <p:spPr>
          <a:xfrm>
            <a:off x="621792" y="1499616"/>
            <a:ext cx="1613916" cy="731520"/>
          </a:xfrm>
          <a:prstGeom prst="rect">
            <a:avLst/>
          </a:prstGeom>
          <a:noFill/>
          <a:ln/>
        </p:spPr>
        <p:txBody>
          <a:bodyPr wrap="square" lIns="0" tIns="0" rIns="0" bIns="0" rtlCol="0" anchor="ctr"/>
          <a:lstStyle/>
          <a:p>
            <a:pPr marL="0" indent="0" algn="ctr">
              <a:lnSpc>
                <a:spcPts val="1248"/>
              </a:lnSpc>
              <a:buNone/>
            </a:pPr>
            <a:r>
              <a:rPr lang="en-US" sz="960" b="1" dirty="0">
                <a:solidFill>
                  <a:srgbClr val="FFFFFF"/>
                </a:solidFill>
                <a:latin typeface="Calibri" pitchFamily="34" charset="0"/>
                <a:ea typeface="Calibri" pitchFamily="34" charset="-122"/>
                <a:cs typeface="Calibri" pitchFamily="34" charset="-120"/>
              </a:rPr>
              <a:t>GameState</a:t>
            </a:r>
            <a:endParaRPr lang="en-US" sz="960" dirty="0"/>
          </a:p>
        </p:txBody>
      </p:sp>
      <p:sp>
        <p:nvSpPr>
          <p:cNvPr id="13" name="Text 11"/>
          <p:cNvSpPr txBox="1"/>
          <p:nvPr/>
        </p:nvSpPr>
        <p:spPr>
          <a:xfrm>
            <a:off x="2290572" y="1499616"/>
            <a:ext cx="146304" cy="73152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2436876" y="1499616"/>
            <a:ext cx="1723644" cy="731520"/>
          </a:xfrm>
          <a:prstGeom prst="roundRect">
            <a:avLst>
              <a:gd name="adj" fmla="val 5000"/>
            </a:avLst>
          </a:prstGeom>
          <a:solidFill>
            <a:srgbClr val="1A2340"/>
          </a:solidFill>
          <a:ln w="9525">
            <a:solidFill>
              <a:srgbClr val="2A3558"/>
            </a:solidFill>
            <a:prstDash val="solid"/>
          </a:ln>
        </p:spPr>
        <p:txBody>
          <a:bodyPr/>
          <a:lstStyle/>
          <a:p>
            <a:endParaRPr lang="en-US"/>
          </a:p>
        </p:txBody>
      </p:sp>
      <p:sp>
        <p:nvSpPr>
          <p:cNvPr id="15" name="Text 13"/>
          <p:cNvSpPr txBox="1"/>
          <p:nvPr/>
        </p:nvSpPr>
        <p:spPr>
          <a:xfrm>
            <a:off x="2491740" y="1499616"/>
            <a:ext cx="1613916" cy="731520"/>
          </a:xfrm>
          <a:prstGeom prst="rect">
            <a:avLst/>
          </a:prstGeom>
          <a:noFill/>
          <a:ln/>
        </p:spPr>
        <p:txBody>
          <a:bodyPr wrap="square" lIns="0" tIns="0" rIns="0" bIns="0" rtlCol="0" anchor="ctr"/>
          <a:lstStyle/>
          <a:p>
            <a:pPr marL="0" indent="0" algn="ctr">
              <a:lnSpc>
                <a:spcPts val="1248"/>
              </a:lnSpc>
              <a:buNone/>
            </a:pPr>
            <a:r>
              <a:rPr lang="en-US" sz="960" b="1" dirty="0">
                <a:solidFill>
                  <a:srgbClr val="FFFFFF"/>
                </a:solidFill>
                <a:latin typeface="Calibri" pitchFamily="34" charset="0"/>
                <a:ea typeface="Calibri" pitchFamily="34" charset="-122"/>
                <a:cs typeface="Calibri" pitchFamily="34" charset="-120"/>
              </a:rPr>
              <a:t>GameManager</a:t>
            </a:r>
            <a:endParaRPr lang="en-US" sz="960" dirty="0"/>
          </a:p>
        </p:txBody>
      </p:sp>
      <p:sp>
        <p:nvSpPr>
          <p:cNvPr id="16" name="Text 14"/>
          <p:cNvSpPr txBox="1"/>
          <p:nvPr/>
        </p:nvSpPr>
        <p:spPr>
          <a:xfrm>
            <a:off x="4160520" y="1499616"/>
            <a:ext cx="146304" cy="73152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17" name="Shape 15"/>
          <p:cNvSpPr/>
          <p:nvPr/>
        </p:nvSpPr>
        <p:spPr>
          <a:xfrm>
            <a:off x="4306824" y="1499616"/>
            <a:ext cx="1723644" cy="731520"/>
          </a:xfrm>
          <a:prstGeom prst="roundRect">
            <a:avLst>
              <a:gd name="adj" fmla="val 5000"/>
            </a:avLst>
          </a:prstGeom>
          <a:solidFill>
            <a:srgbClr val="1A2340"/>
          </a:solidFill>
          <a:ln w="9525">
            <a:solidFill>
              <a:srgbClr val="2A3558"/>
            </a:solidFill>
            <a:prstDash val="solid"/>
          </a:ln>
        </p:spPr>
        <p:txBody>
          <a:bodyPr/>
          <a:lstStyle/>
          <a:p>
            <a:endParaRPr lang="en-US"/>
          </a:p>
        </p:txBody>
      </p:sp>
      <p:sp>
        <p:nvSpPr>
          <p:cNvPr id="18" name="Text 16"/>
          <p:cNvSpPr txBox="1"/>
          <p:nvPr/>
        </p:nvSpPr>
        <p:spPr>
          <a:xfrm>
            <a:off x="4361688" y="1499616"/>
            <a:ext cx="1613916" cy="731520"/>
          </a:xfrm>
          <a:prstGeom prst="rect">
            <a:avLst/>
          </a:prstGeom>
          <a:noFill/>
          <a:ln/>
        </p:spPr>
        <p:txBody>
          <a:bodyPr wrap="square" lIns="0" tIns="0" rIns="0" bIns="0" rtlCol="0" anchor="ctr"/>
          <a:lstStyle/>
          <a:p>
            <a:pPr marL="0" indent="0" algn="ctr">
              <a:lnSpc>
                <a:spcPts val="1248"/>
              </a:lnSpc>
              <a:buNone/>
            </a:pPr>
            <a:r>
              <a:rPr lang="en-US" sz="960" b="1" dirty="0">
                <a:solidFill>
                  <a:srgbClr val="FFFFFF"/>
                </a:solidFill>
                <a:latin typeface="Calibri" pitchFamily="34" charset="0"/>
                <a:ea typeface="Calibri" pitchFamily="34" charset="-122"/>
                <a:cs typeface="Calibri" pitchFamily="34" charset="-120"/>
              </a:rPr>
              <a:t>SaveService</a:t>
            </a:r>
            <a:endParaRPr lang="en-US" sz="960" dirty="0"/>
          </a:p>
        </p:txBody>
      </p:sp>
      <p:sp>
        <p:nvSpPr>
          <p:cNvPr id="19" name="Text 17"/>
          <p:cNvSpPr txBox="1"/>
          <p:nvPr/>
        </p:nvSpPr>
        <p:spPr>
          <a:xfrm>
            <a:off x="6030468" y="1499616"/>
            <a:ext cx="146304" cy="73152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0" name="Shape 18"/>
          <p:cNvSpPr/>
          <p:nvPr/>
        </p:nvSpPr>
        <p:spPr>
          <a:xfrm>
            <a:off x="6176772" y="1499616"/>
            <a:ext cx="1723644" cy="731520"/>
          </a:xfrm>
          <a:prstGeom prst="roundRect">
            <a:avLst>
              <a:gd name="adj" fmla="val 5000"/>
            </a:avLst>
          </a:prstGeom>
          <a:solidFill>
            <a:srgbClr val="1A2340"/>
          </a:solidFill>
          <a:ln w="9525">
            <a:solidFill>
              <a:srgbClr val="2A3558"/>
            </a:solidFill>
            <a:prstDash val="solid"/>
          </a:ln>
        </p:spPr>
        <p:txBody>
          <a:bodyPr/>
          <a:lstStyle/>
          <a:p>
            <a:endParaRPr lang="en-US"/>
          </a:p>
        </p:txBody>
      </p:sp>
      <p:sp>
        <p:nvSpPr>
          <p:cNvPr id="21" name="Text 19"/>
          <p:cNvSpPr txBox="1"/>
          <p:nvPr/>
        </p:nvSpPr>
        <p:spPr>
          <a:xfrm>
            <a:off x="6231636" y="1499616"/>
            <a:ext cx="1613916" cy="731520"/>
          </a:xfrm>
          <a:prstGeom prst="rect">
            <a:avLst/>
          </a:prstGeom>
          <a:noFill/>
          <a:ln/>
        </p:spPr>
        <p:txBody>
          <a:bodyPr wrap="square" lIns="0" tIns="0" rIns="0" bIns="0" rtlCol="0" anchor="ctr"/>
          <a:lstStyle/>
          <a:p>
            <a:pPr marL="0" indent="0" algn="ctr">
              <a:lnSpc>
                <a:spcPts val="1248"/>
              </a:lnSpc>
              <a:buNone/>
            </a:pPr>
            <a:r>
              <a:rPr lang="en-US" sz="960" b="1" dirty="0">
                <a:solidFill>
                  <a:srgbClr val="FFFFFF"/>
                </a:solidFill>
                <a:latin typeface="Calibri" pitchFamily="34" charset="0"/>
                <a:ea typeface="Calibri" pitchFamily="34" charset="-122"/>
                <a:cs typeface="Calibri" pitchFamily="34" charset="-120"/>
              </a:rPr>
              <a:t>SceneLoader</a:t>
            </a:r>
            <a:endParaRPr lang="en-US" sz="960" dirty="0"/>
          </a:p>
        </p:txBody>
      </p:sp>
      <p:sp>
        <p:nvSpPr>
          <p:cNvPr id="22" name="Text 20"/>
          <p:cNvSpPr txBox="1"/>
          <p:nvPr/>
        </p:nvSpPr>
        <p:spPr>
          <a:xfrm>
            <a:off x="7900416" y="1499616"/>
            <a:ext cx="146304" cy="73152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3" name="Shape 21"/>
          <p:cNvSpPr/>
          <p:nvPr/>
        </p:nvSpPr>
        <p:spPr>
          <a:xfrm>
            <a:off x="8046720" y="1499616"/>
            <a:ext cx="1723644" cy="731520"/>
          </a:xfrm>
          <a:prstGeom prst="roundRect">
            <a:avLst>
              <a:gd name="adj" fmla="val 5000"/>
            </a:avLst>
          </a:prstGeom>
          <a:solidFill>
            <a:srgbClr val="1A2340"/>
          </a:solidFill>
          <a:ln w="9525">
            <a:solidFill>
              <a:srgbClr val="2A3558"/>
            </a:solidFill>
            <a:prstDash val="solid"/>
          </a:ln>
        </p:spPr>
        <p:txBody>
          <a:bodyPr/>
          <a:lstStyle/>
          <a:p>
            <a:endParaRPr lang="en-US"/>
          </a:p>
        </p:txBody>
      </p:sp>
      <p:sp>
        <p:nvSpPr>
          <p:cNvPr id="24" name="Text 22"/>
          <p:cNvSpPr txBox="1"/>
          <p:nvPr/>
        </p:nvSpPr>
        <p:spPr>
          <a:xfrm>
            <a:off x="8101584" y="1499616"/>
            <a:ext cx="1613916" cy="731520"/>
          </a:xfrm>
          <a:prstGeom prst="rect">
            <a:avLst/>
          </a:prstGeom>
          <a:noFill/>
          <a:ln/>
        </p:spPr>
        <p:txBody>
          <a:bodyPr wrap="square" lIns="0" tIns="0" rIns="0" bIns="0" rtlCol="0" anchor="ctr"/>
          <a:lstStyle/>
          <a:p>
            <a:pPr marL="0" indent="0" algn="ctr">
              <a:lnSpc>
                <a:spcPts val="1248"/>
              </a:lnSpc>
              <a:buNone/>
            </a:pPr>
            <a:r>
              <a:rPr lang="en-US" sz="960" b="1" dirty="0">
                <a:solidFill>
                  <a:srgbClr val="FFFFFF"/>
                </a:solidFill>
                <a:latin typeface="Calibri" pitchFamily="34" charset="0"/>
                <a:ea typeface="Calibri" pitchFamily="34" charset="-122"/>
                <a:cs typeface="Calibri" pitchFamily="34" charset="-120"/>
              </a:rPr>
              <a:t>HUD</a:t>
            </a:r>
            <a:endParaRPr lang="en-US" sz="960" dirty="0"/>
          </a:p>
        </p:txBody>
      </p:sp>
      <p:sp>
        <p:nvSpPr>
          <p:cNvPr id="25" name="Text 23"/>
          <p:cNvSpPr txBox="1"/>
          <p:nvPr/>
        </p:nvSpPr>
        <p:spPr>
          <a:xfrm>
            <a:off x="9770364" y="1499616"/>
            <a:ext cx="146304" cy="731520"/>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6" name="Shape 24"/>
          <p:cNvSpPr/>
          <p:nvPr/>
        </p:nvSpPr>
        <p:spPr>
          <a:xfrm>
            <a:off x="9916668" y="1499616"/>
            <a:ext cx="1723644" cy="731520"/>
          </a:xfrm>
          <a:prstGeom prst="roundRect">
            <a:avLst>
              <a:gd name="adj" fmla="val 5000"/>
            </a:avLst>
          </a:prstGeom>
          <a:solidFill>
            <a:srgbClr val="1A2340"/>
          </a:solidFill>
          <a:ln w="9525">
            <a:solidFill>
              <a:srgbClr val="2A3558"/>
            </a:solidFill>
            <a:prstDash val="solid"/>
          </a:ln>
        </p:spPr>
        <p:txBody>
          <a:bodyPr/>
          <a:lstStyle/>
          <a:p>
            <a:endParaRPr lang="en-US"/>
          </a:p>
        </p:txBody>
      </p:sp>
      <p:sp>
        <p:nvSpPr>
          <p:cNvPr id="27" name="Text 25"/>
          <p:cNvSpPr txBox="1"/>
          <p:nvPr/>
        </p:nvSpPr>
        <p:spPr>
          <a:xfrm>
            <a:off x="9971532" y="1499616"/>
            <a:ext cx="1613916" cy="731520"/>
          </a:xfrm>
          <a:prstGeom prst="rect">
            <a:avLst/>
          </a:prstGeom>
          <a:noFill/>
          <a:ln/>
        </p:spPr>
        <p:txBody>
          <a:bodyPr wrap="square" lIns="0" tIns="0" rIns="0" bIns="0" rtlCol="0" anchor="ctr"/>
          <a:lstStyle/>
          <a:p>
            <a:pPr marL="0" indent="0" algn="ctr">
              <a:lnSpc>
                <a:spcPts val="1248"/>
              </a:lnSpc>
              <a:buNone/>
            </a:pPr>
            <a:r>
              <a:rPr lang="en-US" sz="960" b="1" dirty="0">
                <a:solidFill>
                  <a:srgbClr val="FFFFFF"/>
                </a:solidFill>
                <a:latin typeface="Calibri" pitchFamily="34" charset="0"/>
                <a:ea typeface="Calibri" pitchFamily="34" charset="-122"/>
                <a:cs typeface="Calibri" pitchFamily="34" charset="-120"/>
              </a:rPr>
              <a:t>RespawnService</a:t>
            </a:r>
            <a:endParaRPr lang="en-US" sz="960" dirty="0"/>
          </a:p>
        </p:txBody>
      </p:sp>
      <p:sp>
        <p:nvSpPr>
          <p:cNvPr id="28" name="Text 26"/>
          <p:cNvSpPr txBox="1"/>
          <p:nvPr/>
        </p:nvSpPr>
        <p:spPr>
          <a:xfrm>
            <a:off x="566928" y="2523744"/>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WHAT IS STORED</a:t>
            </a:r>
            <a:endParaRPr lang="en-US" sz="800" dirty="0"/>
          </a:p>
        </p:txBody>
      </p:sp>
      <p:sp>
        <p:nvSpPr>
          <p:cNvPr id="29" name="Text 27"/>
          <p:cNvSpPr txBox="1"/>
          <p:nvPr/>
        </p:nvSpPr>
        <p:spPr>
          <a:xfrm>
            <a:off x="566928" y="2798064"/>
            <a:ext cx="5394960" cy="2011680"/>
          </a:xfrm>
          <a:prstGeom prst="rect">
            <a:avLst/>
          </a:prstGeom>
          <a:noFill/>
          <a:ln/>
        </p:spPr>
        <p:txBody>
          <a:bodyPr wrap="square" lIns="0" tIns="0" rIns="0" bIns="0" rtlCol="0" anchor="t"/>
          <a:lstStyle/>
          <a:p>
            <a:pPr marL="342900" indent="-342900">
              <a:lnSpc>
                <a:spcPts val="1448"/>
              </a:lnSpc>
              <a:spcAft>
                <a:spcPts val="300"/>
              </a:spcAft>
              <a:buSzPct val="100000"/>
              <a:buChar char="•"/>
            </a:pPr>
            <a:r>
              <a:rPr lang="en-US" sz="1020" dirty="0">
                <a:solidFill>
                  <a:srgbClr val="C9D2E8"/>
                </a:solidFill>
                <a:latin typeface="Calibri" pitchFamily="34" charset="0"/>
                <a:ea typeface="Calibri" pitchFamily="34" charset="-122"/>
                <a:cs typeface="Calibri" pitchFamily="34" charset="-120"/>
              </a:rPr>
              <a:t>Health, energy, score and Time Shards.</a:t>
            </a:r>
            <a:endParaRPr lang="en-US" sz="1020" dirty="0"/>
          </a:p>
          <a:p>
            <a:pPr marL="342900" indent="-342900">
              <a:lnSpc>
                <a:spcPts val="1448"/>
              </a:lnSpc>
              <a:spcAft>
                <a:spcPts val="300"/>
              </a:spcAft>
              <a:buSzPct val="100000"/>
              <a:buChar char="•"/>
            </a:pPr>
            <a:r>
              <a:rPr lang="en-US" sz="1020" dirty="0">
                <a:solidFill>
                  <a:srgbClr val="C9D2E8"/>
                </a:solidFill>
                <a:latin typeface="Calibri" pitchFamily="34" charset="0"/>
                <a:ea typeface="Calibri" pitchFamily="34" charset="-122"/>
                <a:cs typeface="Calibri" pitchFamily="34" charset="-120"/>
              </a:rPr>
              <a:t>Both acquired items: the Time Lens and the Chrono Hourglass.</a:t>
            </a:r>
            <a:endParaRPr lang="en-US" sz="1020" dirty="0"/>
          </a:p>
          <a:p>
            <a:pPr marL="342900" indent="-342900">
              <a:lnSpc>
                <a:spcPts val="1448"/>
              </a:lnSpc>
              <a:spcAft>
                <a:spcPts val="300"/>
              </a:spcAft>
              <a:buSzPct val="100000"/>
              <a:buChar char="•"/>
            </a:pPr>
            <a:r>
              <a:rPr lang="en-US" sz="1020" dirty="0">
                <a:solidFill>
                  <a:srgbClr val="C9D2E8"/>
                </a:solidFill>
                <a:latin typeface="Calibri" pitchFamily="34" charset="0"/>
                <a:ea typeface="Calibri" pitchFamily="34" charset="-122"/>
                <a:cs typeface="Calibri" pitchFamily="34" charset="-120"/>
              </a:rPr>
              <a:t>The last armed checkpoint — scene, position and era.</a:t>
            </a:r>
            <a:endParaRPr lang="en-US" sz="1020" dirty="0"/>
          </a:p>
          <a:p>
            <a:pPr marL="342900" indent="-342900">
              <a:lnSpc>
                <a:spcPts val="1448"/>
              </a:lnSpc>
              <a:spcAft>
                <a:spcPts val="300"/>
              </a:spcAft>
              <a:buSzPct val="100000"/>
              <a:buChar char="•"/>
            </a:pPr>
            <a:r>
              <a:rPr lang="en-US" sz="1020" dirty="0">
                <a:solidFill>
                  <a:srgbClr val="C9D2E8"/>
                </a:solidFill>
                <a:latin typeface="Calibri" pitchFamily="34" charset="0"/>
                <a:ea typeface="Calibri" pitchFamily="34" charset="-122"/>
                <a:cs typeface="Calibri" pitchFamily="34" charset="-120"/>
              </a:rPr>
              <a:t>Deaths and how many times Noa was detected, for the final screen.</a:t>
            </a:r>
            <a:endParaRPr lang="en-US" sz="1020" dirty="0"/>
          </a:p>
        </p:txBody>
      </p:sp>
      <p:sp>
        <p:nvSpPr>
          <p:cNvPr id="30" name="Text 28"/>
          <p:cNvSpPr txBox="1"/>
          <p:nvPr/>
        </p:nvSpPr>
        <p:spPr>
          <a:xfrm>
            <a:off x="6236208" y="2523744"/>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WHAT CHANGES IT</a:t>
            </a:r>
            <a:endParaRPr lang="en-US" sz="800" dirty="0"/>
          </a:p>
        </p:txBody>
      </p:sp>
      <p:sp>
        <p:nvSpPr>
          <p:cNvPr id="31" name="Text 29"/>
          <p:cNvSpPr txBox="1"/>
          <p:nvPr/>
        </p:nvSpPr>
        <p:spPr>
          <a:xfrm>
            <a:off x="6236208" y="2798064"/>
            <a:ext cx="3383280" cy="292608"/>
          </a:xfrm>
          <a:prstGeom prst="rect">
            <a:avLst/>
          </a:prstGeom>
          <a:noFill/>
          <a:ln/>
        </p:spPr>
        <p:txBody>
          <a:bodyPr wrap="square" lIns="0" tIns="0" rIns="0" bIns="0" rtlCol="0" anchor="ctr"/>
          <a:lstStyle/>
          <a:p>
            <a:pPr marL="0" indent="0">
              <a:buNone/>
            </a:pPr>
            <a:r>
              <a:rPr lang="en-US" sz="1000" dirty="0">
                <a:solidFill>
                  <a:srgbClr val="C9D2E8"/>
                </a:solidFill>
                <a:latin typeface="Calibri" pitchFamily="34" charset="0"/>
                <a:ea typeface="Calibri" pitchFamily="34" charset="-122"/>
                <a:cs typeface="Calibri" pitchFamily="34" charset="-120"/>
              </a:rPr>
              <a:t>Reading an exhibit plaque</a:t>
            </a:r>
            <a:endParaRPr lang="en-US" sz="1000" dirty="0"/>
          </a:p>
        </p:txBody>
      </p:sp>
      <p:sp>
        <p:nvSpPr>
          <p:cNvPr id="32" name="Text 30"/>
          <p:cNvSpPr txBox="1"/>
          <p:nvPr/>
        </p:nvSpPr>
        <p:spPr>
          <a:xfrm>
            <a:off x="9656064" y="2798064"/>
            <a:ext cx="1975104" cy="292608"/>
          </a:xfrm>
          <a:prstGeom prst="rect">
            <a:avLst/>
          </a:prstGeom>
          <a:noFill/>
          <a:ln/>
        </p:spPr>
        <p:txBody>
          <a:bodyPr wrap="square" lIns="0" tIns="0" rIns="0" bIns="0" rtlCol="0" anchor="ctr"/>
          <a:lstStyle/>
          <a:p>
            <a:pPr marL="0" indent="0">
              <a:buNone/>
            </a:pPr>
            <a:r>
              <a:rPr lang="en-US" sz="940" b="1" dirty="0">
                <a:solidFill>
                  <a:srgbClr val="5FBF8F"/>
                </a:solidFill>
                <a:latin typeface="Calibri" pitchFamily="34" charset="0"/>
                <a:ea typeface="Calibri" pitchFamily="34" charset="-122"/>
                <a:cs typeface="Calibri" pitchFamily="34" charset="-120"/>
              </a:rPr>
              <a:t>score up</a:t>
            </a:r>
            <a:endParaRPr lang="en-US" sz="940" dirty="0"/>
          </a:p>
        </p:txBody>
      </p:sp>
      <p:sp>
        <p:nvSpPr>
          <p:cNvPr id="33" name="Text 31"/>
          <p:cNvSpPr txBox="1"/>
          <p:nvPr/>
        </p:nvSpPr>
        <p:spPr>
          <a:xfrm>
            <a:off x="6236208" y="3200400"/>
            <a:ext cx="3383280" cy="292608"/>
          </a:xfrm>
          <a:prstGeom prst="rect">
            <a:avLst/>
          </a:prstGeom>
          <a:noFill/>
          <a:ln/>
        </p:spPr>
        <p:txBody>
          <a:bodyPr wrap="square" lIns="0" tIns="0" rIns="0" bIns="0" rtlCol="0" anchor="ctr"/>
          <a:lstStyle/>
          <a:p>
            <a:pPr marL="0" indent="0">
              <a:buNone/>
            </a:pPr>
            <a:r>
              <a:rPr lang="en-US" sz="1000" dirty="0">
                <a:solidFill>
                  <a:srgbClr val="C9D2E8"/>
                </a:solidFill>
                <a:latin typeface="Calibri" pitchFamily="34" charset="0"/>
                <a:ea typeface="Calibri" pitchFamily="34" charset="-122"/>
                <a:cs typeface="Calibri" pitchFamily="34" charset="-120"/>
              </a:rPr>
              <a:t>Collecting a Time Shard</a:t>
            </a:r>
            <a:endParaRPr lang="en-US" sz="1000" dirty="0"/>
          </a:p>
        </p:txBody>
      </p:sp>
      <p:sp>
        <p:nvSpPr>
          <p:cNvPr id="34" name="Text 32"/>
          <p:cNvSpPr txBox="1"/>
          <p:nvPr/>
        </p:nvSpPr>
        <p:spPr>
          <a:xfrm>
            <a:off x="9656064" y="3200400"/>
            <a:ext cx="1975104" cy="292608"/>
          </a:xfrm>
          <a:prstGeom prst="rect">
            <a:avLst/>
          </a:prstGeom>
          <a:noFill/>
          <a:ln/>
        </p:spPr>
        <p:txBody>
          <a:bodyPr wrap="square" lIns="0" tIns="0" rIns="0" bIns="0" rtlCol="0" anchor="ctr"/>
          <a:lstStyle/>
          <a:p>
            <a:pPr marL="0" indent="0">
              <a:buNone/>
            </a:pPr>
            <a:r>
              <a:rPr lang="en-US" sz="940" b="1" dirty="0">
                <a:solidFill>
                  <a:srgbClr val="5FBF8F"/>
                </a:solidFill>
                <a:latin typeface="Calibri" pitchFamily="34" charset="0"/>
                <a:ea typeface="Calibri" pitchFamily="34" charset="-122"/>
                <a:cs typeface="Calibri" pitchFamily="34" charset="-120"/>
              </a:rPr>
              <a:t>score and shards up</a:t>
            </a:r>
            <a:endParaRPr lang="en-US" sz="940" dirty="0"/>
          </a:p>
        </p:txBody>
      </p:sp>
      <p:sp>
        <p:nvSpPr>
          <p:cNvPr id="35" name="Text 33"/>
          <p:cNvSpPr txBox="1"/>
          <p:nvPr/>
        </p:nvSpPr>
        <p:spPr>
          <a:xfrm>
            <a:off x="6236208" y="3602736"/>
            <a:ext cx="3383280" cy="292608"/>
          </a:xfrm>
          <a:prstGeom prst="rect">
            <a:avLst/>
          </a:prstGeom>
          <a:noFill/>
          <a:ln/>
        </p:spPr>
        <p:txBody>
          <a:bodyPr wrap="square" lIns="0" tIns="0" rIns="0" bIns="0" rtlCol="0" anchor="ctr"/>
          <a:lstStyle/>
          <a:p>
            <a:pPr marL="0" indent="0">
              <a:buNone/>
            </a:pPr>
            <a:r>
              <a:rPr lang="en-US" sz="1000" dirty="0">
                <a:solidFill>
                  <a:srgbClr val="C9D2E8"/>
                </a:solidFill>
                <a:latin typeface="Calibri" pitchFamily="34" charset="0"/>
                <a:ea typeface="Calibri" pitchFamily="34" charset="-122"/>
                <a:cs typeface="Calibri" pitchFamily="34" charset="-120"/>
              </a:rPr>
              <a:t>A Shadow steals a shard</a:t>
            </a:r>
            <a:endParaRPr lang="en-US" sz="1000" dirty="0"/>
          </a:p>
        </p:txBody>
      </p:sp>
      <p:sp>
        <p:nvSpPr>
          <p:cNvPr id="36" name="Text 34"/>
          <p:cNvSpPr txBox="1"/>
          <p:nvPr/>
        </p:nvSpPr>
        <p:spPr>
          <a:xfrm>
            <a:off x="9656064" y="3602736"/>
            <a:ext cx="1975104" cy="292608"/>
          </a:xfrm>
          <a:prstGeom prst="rect">
            <a:avLst/>
          </a:prstGeom>
          <a:noFill/>
          <a:ln/>
        </p:spPr>
        <p:txBody>
          <a:bodyPr wrap="square" lIns="0" tIns="0" rIns="0" bIns="0" rtlCol="0" anchor="ctr"/>
          <a:lstStyle/>
          <a:p>
            <a:pPr marL="0" indent="0">
              <a:buNone/>
            </a:pPr>
            <a:r>
              <a:rPr lang="en-US" sz="940" b="1" dirty="0">
                <a:solidFill>
                  <a:srgbClr val="E07A5F"/>
                </a:solidFill>
                <a:latin typeface="Calibri" pitchFamily="34" charset="0"/>
                <a:ea typeface="Calibri" pitchFamily="34" charset="-122"/>
                <a:cs typeface="Calibri" pitchFamily="34" charset="-120"/>
              </a:rPr>
              <a:t>score down</a:t>
            </a:r>
            <a:endParaRPr lang="en-US" sz="940" dirty="0"/>
          </a:p>
        </p:txBody>
      </p:sp>
      <p:sp>
        <p:nvSpPr>
          <p:cNvPr id="37" name="Text 35"/>
          <p:cNvSpPr txBox="1"/>
          <p:nvPr/>
        </p:nvSpPr>
        <p:spPr>
          <a:xfrm>
            <a:off x="6236208" y="4005072"/>
            <a:ext cx="3383280" cy="292608"/>
          </a:xfrm>
          <a:prstGeom prst="rect">
            <a:avLst/>
          </a:prstGeom>
          <a:noFill/>
          <a:ln/>
        </p:spPr>
        <p:txBody>
          <a:bodyPr wrap="square" lIns="0" tIns="0" rIns="0" bIns="0" rtlCol="0" anchor="ctr"/>
          <a:lstStyle/>
          <a:p>
            <a:pPr marL="0" indent="0">
              <a:buNone/>
            </a:pPr>
            <a:r>
              <a:rPr lang="en-US" sz="1000" dirty="0">
                <a:solidFill>
                  <a:srgbClr val="C9D2E8"/>
                </a:solidFill>
                <a:latin typeface="Calibri" pitchFamily="34" charset="0"/>
                <a:ea typeface="Calibri" pitchFamily="34" charset="-122"/>
                <a:cs typeface="Calibri" pitchFamily="34" charset="-120"/>
              </a:rPr>
              <a:t>Caught by a Warden</a:t>
            </a:r>
            <a:endParaRPr lang="en-US" sz="1000" dirty="0"/>
          </a:p>
        </p:txBody>
      </p:sp>
      <p:sp>
        <p:nvSpPr>
          <p:cNvPr id="38" name="Text 36"/>
          <p:cNvSpPr txBox="1"/>
          <p:nvPr/>
        </p:nvSpPr>
        <p:spPr>
          <a:xfrm>
            <a:off x="9656064" y="4005072"/>
            <a:ext cx="1975104" cy="292608"/>
          </a:xfrm>
          <a:prstGeom prst="rect">
            <a:avLst/>
          </a:prstGeom>
          <a:noFill/>
          <a:ln/>
        </p:spPr>
        <p:txBody>
          <a:bodyPr wrap="square" lIns="0" tIns="0" rIns="0" bIns="0" rtlCol="0" anchor="ctr"/>
          <a:lstStyle/>
          <a:p>
            <a:pPr marL="0" indent="0">
              <a:buNone/>
            </a:pPr>
            <a:r>
              <a:rPr lang="en-US" sz="940" b="1" dirty="0">
                <a:solidFill>
                  <a:srgbClr val="E07A5F"/>
                </a:solidFill>
                <a:latin typeface="Calibri" pitchFamily="34" charset="0"/>
                <a:ea typeface="Calibri" pitchFamily="34" charset="-122"/>
                <a:cs typeface="Calibri" pitchFamily="34" charset="-120"/>
              </a:rPr>
              <a:t>health and score down</a:t>
            </a:r>
            <a:endParaRPr lang="en-US" sz="940" dirty="0"/>
          </a:p>
        </p:txBody>
      </p:sp>
      <p:sp>
        <p:nvSpPr>
          <p:cNvPr id="39" name="Text 37"/>
          <p:cNvSpPr txBox="1"/>
          <p:nvPr/>
        </p:nvSpPr>
        <p:spPr>
          <a:xfrm>
            <a:off x="6236208" y="4407408"/>
            <a:ext cx="3383280" cy="292608"/>
          </a:xfrm>
          <a:prstGeom prst="rect">
            <a:avLst/>
          </a:prstGeom>
          <a:noFill/>
          <a:ln/>
        </p:spPr>
        <p:txBody>
          <a:bodyPr wrap="square" lIns="0" tIns="0" rIns="0" bIns="0" rtlCol="0" anchor="ctr"/>
          <a:lstStyle/>
          <a:p>
            <a:pPr marL="0" indent="0">
              <a:buNone/>
            </a:pPr>
            <a:r>
              <a:rPr lang="en-US" sz="1000" dirty="0">
                <a:solidFill>
                  <a:srgbClr val="C9D2E8"/>
                </a:solidFill>
                <a:latin typeface="Calibri" pitchFamily="34" charset="0"/>
                <a:ea typeface="Calibri" pitchFamily="34" charset="-122"/>
                <a:cs typeface="Calibri" pitchFamily="34" charset="-120"/>
              </a:rPr>
              <a:t>Dying</a:t>
            </a:r>
            <a:endParaRPr lang="en-US" sz="1000" dirty="0"/>
          </a:p>
        </p:txBody>
      </p:sp>
      <p:sp>
        <p:nvSpPr>
          <p:cNvPr id="40" name="Text 38"/>
          <p:cNvSpPr txBox="1"/>
          <p:nvPr/>
        </p:nvSpPr>
        <p:spPr>
          <a:xfrm>
            <a:off x="9656064" y="4407408"/>
            <a:ext cx="1975104" cy="292608"/>
          </a:xfrm>
          <a:prstGeom prst="rect">
            <a:avLst/>
          </a:prstGeom>
          <a:noFill/>
          <a:ln/>
        </p:spPr>
        <p:txBody>
          <a:bodyPr wrap="square" lIns="0" tIns="0" rIns="0" bIns="0" rtlCol="0" anchor="ctr"/>
          <a:lstStyle/>
          <a:p>
            <a:pPr marL="0" indent="0">
              <a:buNone/>
            </a:pPr>
            <a:r>
              <a:rPr lang="en-US" sz="940" b="1" dirty="0">
                <a:solidFill>
                  <a:srgbClr val="E07A5F"/>
                </a:solidFill>
                <a:latin typeface="Calibri" pitchFamily="34" charset="0"/>
                <a:ea typeface="Calibri" pitchFamily="34" charset="-122"/>
                <a:cs typeface="Calibri" pitchFamily="34" charset="-120"/>
              </a:rPr>
              <a:t>score down, health restored at the anchor</a:t>
            </a:r>
            <a:endParaRPr lang="en-US" sz="940" dirty="0"/>
          </a:p>
        </p:txBody>
      </p:sp>
      <p:sp>
        <p:nvSpPr>
          <p:cNvPr id="41" name="Text 39"/>
          <p:cNvSpPr txBox="1"/>
          <p:nvPr/>
        </p:nvSpPr>
        <p:spPr>
          <a:xfrm>
            <a:off x="6236208" y="4809744"/>
            <a:ext cx="3383280" cy="292608"/>
          </a:xfrm>
          <a:prstGeom prst="rect">
            <a:avLst/>
          </a:prstGeom>
          <a:noFill/>
          <a:ln/>
        </p:spPr>
        <p:txBody>
          <a:bodyPr wrap="square" lIns="0" tIns="0" rIns="0" bIns="0" rtlCol="0" anchor="ctr"/>
          <a:lstStyle/>
          <a:p>
            <a:pPr marL="0" indent="0">
              <a:buNone/>
            </a:pPr>
            <a:r>
              <a:rPr lang="en-US" sz="1000" dirty="0">
                <a:solidFill>
                  <a:srgbClr val="C9D2E8"/>
                </a:solidFill>
                <a:latin typeface="Calibri" pitchFamily="34" charset="0"/>
                <a:ea typeface="Calibri" pitchFamily="34" charset="-122"/>
                <a:cs typeface="Calibri" pitchFamily="34" charset="-120"/>
              </a:rPr>
              <a:t>Era travel, orb throw, slowing time</a:t>
            </a:r>
            <a:endParaRPr lang="en-US" sz="1000" dirty="0"/>
          </a:p>
        </p:txBody>
      </p:sp>
      <p:sp>
        <p:nvSpPr>
          <p:cNvPr id="42" name="Text 40"/>
          <p:cNvSpPr txBox="1"/>
          <p:nvPr/>
        </p:nvSpPr>
        <p:spPr>
          <a:xfrm>
            <a:off x="9656064" y="4809744"/>
            <a:ext cx="1975104" cy="292608"/>
          </a:xfrm>
          <a:prstGeom prst="rect">
            <a:avLst/>
          </a:prstGeom>
          <a:noFill/>
          <a:ln/>
        </p:spPr>
        <p:txBody>
          <a:bodyPr wrap="square" lIns="0" tIns="0" rIns="0" bIns="0" rtlCol="0" anchor="ctr"/>
          <a:lstStyle/>
          <a:p>
            <a:pPr marL="0" indent="0">
              <a:buNone/>
            </a:pPr>
            <a:r>
              <a:rPr lang="en-US" sz="940" b="1" dirty="0">
                <a:solidFill>
                  <a:srgbClr val="E8B54A"/>
                </a:solidFill>
                <a:latin typeface="Calibri" pitchFamily="34" charset="0"/>
                <a:ea typeface="Calibri" pitchFamily="34" charset="-122"/>
                <a:cs typeface="Calibri" pitchFamily="34" charset="-120"/>
              </a:rPr>
              <a:t>energy down</a:t>
            </a:r>
            <a:endParaRPr lang="en-US" sz="940" dirty="0"/>
          </a:p>
        </p:txBody>
      </p:sp>
      <p:sp>
        <p:nvSpPr>
          <p:cNvPr id="43" name="Shape 41"/>
          <p:cNvSpPr/>
          <p:nvPr/>
        </p:nvSpPr>
        <p:spPr>
          <a:xfrm>
            <a:off x="566928" y="5029200"/>
            <a:ext cx="5394960" cy="1188720"/>
          </a:xfrm>
          <a:prstGeom prst="roundRect">
            <a:avLst>
              <a:gd name="adj" fmla="val 3077"/>
            </a:avLst>
          </a:prstGeom>
          <a:solidFill>
            <a:srgbClr val="141B36"/>
          </a:solidFill>
          <a:ln w="9525">
            <a:solidFill>
              <a:srgbClr val="2A3558"/>
            </a:solidFill>
            <a:prstDash val="solid"/>
          </a:ln>
        </p:spPr>
        <p:txBody>
          <a:bodyPr/>
          <a:lstStyle/>
          <a:p>
            <a:endParaRPr lang="en-US"/>
          </a:p>
        </p:txBody>
      </p:sp>
      <p:sp>
        <p:nvSpPr>
          <p:cNvPr id="44" name="Text 42"/>
          <p:cNvSpPr txBox="1"/>
          <p:nvPr/>
        </p:nvSpPr>
        <p:spPr>
          <a:xfrm>
            <a:off x="786384" y="5212080"/>
            <a:ext cx="4956048" cy="822960"/>
          </a:xfrm>
          <a:prstGeom prst="rect">
            <a:avLst/>
          </a:prstGeom>
          <a:noFill/>
          <a:ln/>
        </p:spPr>
        <p:txBody>
          <a:bodyPr wrap="square" lIns="0" tIns="0" rIns="0" bIns="0" rtlCol="0" anchor="t"/>
          <a:lstStyle/>
          <a:p>
            <a:pPr marL="0" indent="0">
              <a:lnSpc>
                <a:spcPts val="1392"/>
              </a:lnSpc>
              <a:buNone/>
            </a:pPr>
            <a:r>
              <a:rPr lang="en-US" sz="980" dirty="0">
                <a:solidFill>
                  <a:srgbClr val="E8B54A"/>
                </a:solidFill>
                <a:latin typeface="Calibri" pitchFamily="34" charset="0"/>
                <a:ea typeface="Calibri" pitchFamily="34" charset="-122"/>
                <a:cs typeface="Calibri" pitchFamily="34" charset="-120"/>
              </a:rPr>
              <a:t>The state is written to JSON, so a run survives quitting as well as a scene load. The manager is created once and outlives every scene change.</a:t>
            </a:r>
            <a:endParaRPr lang="en-US" sz="9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Physics &amp; Interactions</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Course mechanics doing real work in the game</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13</a:t>
            </a:r>
            <a:endParaRPr lang="en-US" sz="800" dirty="0"/>
          </a:p>
        </p:txBody>
      </p:sp>
      <p:sp>
        <p:nvSpPr>
          <p:cNvPr id="11" name="Shape 9"/>
          <p:cNvSpPr/>
          <p:nvPr/>
        </p:nvSpPr>
        <p:spPr>
          <a:xfrm>
            <a:off x="566928" y="1481328"/>
            <a:ext cx="3566160" cy="1874520"/>
          </a:xfrm>
          <a:prstGeom prst="roundRect">
            <a:avLst>
              <a:gd name="adj" fmla="val 1951"/>
            </a:avLst>
          </a:prstGeom>
          <a:solidFill>
            <a:srgbClr val="141B36"/>
          </a:solidFill>
          <a:ln w="9525">
            <a:solidFill>
              <a:srgbClr val="2A3558"/>
            </a:solidFill>
            <a:prstDash val="solid"/>
          </a:ln>
        </p:spPr>
        <p:txBody>
          <a:bodyPr/>
          <a:lstStyle/>
          <a:p>
            <a:endParaRPr lang="en-US"/>
          </a:p>
        </p:txBody>
      </p:sp>
      <p:sp>
        <p:nvSpPr>
          <p:cNvPr id="12" name="Text 10"/>
          <p:cNvSpPr txBox="1"/>
          <p:nvPr/>
        </p:nvSpPr>
        <p:spPr>
          <a:xfrm>
            <a:off x="822960" y="1664208"/>
            <a:ext cx="3054096" cy="292608"/>
          </a:xfrm>
          <a:prstGeom prst="rect">
            <a:avLst/>
          </a:prstGeom>
          <a:noFill/>
          <a:ln/>
        </p:spPr>
        <p:txBody>
          <a:bodyPr wrap="square" lIns="0" tIns="0" rIns="0" bIns="0" rtlCol="0" anchor="t"/>
          <a:lstStyle/>
          <a:p>
            <a:pPr marL="0" indent="0">
              <a:buNone/>
            </a:pPr>
            <a:r>
              <a:rPr lang="en-US" sz="1300" b="1" dirty="0">
                <a:solidFill>
                  <a:srgbClr val="E8B54A"/>
                </a:solidFill>
                <a:latin typeface="Calibri" pitchFamily="34" charset="0"/>
                <a:ea typeface="Calibri" pitchFamily="34" charset="-122"/>
                <a:cs typeface="Calibri" pitchFamily="34" charset="-120"/>
              </a:rPr>
              <a:t>Hinge joints</a:t>
            </a:r>
            <a:endParaRPr lang="en-US" sz="1300" dirty="0"/>
          </a:p>
        </p:txBody>
      </p:sp>
      <p:sp>
        <p:nvSpPr>
          <p:cNvPr id="13" name="Text 11"/>
          <p:cNvSpPr txBox="1"/>
          <p:nvPr/>
        </p:nvSpPr>
        <p:spPr>
          <a:xfrm>
            <a:off x="822960" y="2011680"/>
            <a:ext cx="3054096" cy="1234440"/>
          </a:xfrm>
          <a:prstGeom prst="rect">
            <a:avLst/>
          </a:prstGeom>
          <a:noFill/>
          <a:ln/>
        </p:spPr>
        <p:txBody>
          <a:bodyPr wrap="square" lIns="0" tIns="0" rIns="0" bIns="0" rtlCol="0" anchor="t"/>
          <a:lstStyle/>
          <a:p>
            <a:pPr marL="0" indent="0">
              <a:lnSpc>
                <a:spcPts val="1392"/>
              </a:lnSpc>
              <a:buNone/>
            </a:pPr>
            <a:r>
              <a:rPr lang="en-US" sz="980" dirty="0">
                <a:solidFill>
                  <a:srgbClr val="C9D2E8"/>
                </a:solidFill>
                <a:latin typeface="Calibri" pitchFamily="34" charset="0"/>
                <a:ea typeface="Calibri" pitchFamily="34" charset="-122"/>
                <a:cs typeface="Calibri" pitchFamily="34" charset="-120"/>
              </a:rPr>
              <a:t>Six across the three scenes: the clock pendulum on a spring, a motorised gallery gate, a swinging signboard, the tower bell, and two pendulum bobs over the arena floor.</a:t>
            </a:r>
            <a:endParaRPr lang="en-US" sz="980" dirty="0"/>
          </a:p>
        </p:txBody>
      </p:sp>
      <p:sp>
        <p:nvSpPr>
          <p:cNvPr id="14" name="Shape 12"/>
          <p:cNvSpPr/>
          <p:nvPr/>
        </p:nvSpPr>
        <p:spPr>
          <a:xfrm>
            <a:off x="4325112" y="1481328"/>
            <a:ext cx="3566160" cy="1874520"/>
          </a:xfrm>
          <a:prstGeom prst="roundRect">
            <a:avLst>
              <a:gd name="adj" fmla="val 1951"/>
            </a:avLst>
          </a:prstGeom>
          <a:solidFill>
            <a:srgbClr val="141B36"/>
          </a:solidFill>
          <a:ln w="9525">
            <a:solidFill>
              <a:srgbClr val="2A3558"/>
            </a:solidFill>
            <a:prstDash val="solid"/>
          </a:ln>
        </p:spPr>
        <p:txBody>
          <a:bodyPr/>
          <a:lstStyle/>
          <a:p>
            <a:endParaRPr lang="en-US"/>
          </a:p>
        </p:txBody>
      </p:sp>
      <p:sp>
        <p:nvSpPr>
          <p:cNvPr id="15" name="Text 13"/>
          <p:cNvSpPr txBox="1"/>
          <p:nvPr/>
        </p:nvSpPr>
        <p:spPr>
          <a:xfrm>
            <a:off x="4581144" y="1664208"/>
            <a:ext cx="3054096" cy="292608"/>
          </a:xfrm>
          <a:prstGeom prst="rect">
            <a:avLst/>
          </a:prstGeom>
          <a:noFill/>
          <a:ln/>
        </p:spPr>
        <p:txBody>
          <a:bodyPr wrap="square" lIns="0" tIns="0" rIns="0" bIns="0" rtlCol="0" anchor="t"/>
          <a:lstStyle/>
          <a:p>
            <a:pPr marL="0" indent="0">
              <a:buNone/>
            </a:pPr>
            <a:r>
              <a:rPr lang="en-US" sz="1300" b="1" dirty="0">
                <a:solidFill>
                  <a:srgbClr val="E8B54A"/>
                </a:solidFill>
                <a:latin typeface="Calibri" pitchFamily="34" charset="0"/>
                <a:ea typeface="Calibri" pitchFamily="34" charset="-122"/>
                <a:cs typeface="Calibri" pitchFamily="34" charset="-120"/>
              </a:rPr>
              <a:t>Thrown physical body</a:t>
            </a:r>
            <a:endParaRPr lang="en-US" sz="1300" dirty="0"/>
          </a:p>
        </p:txBody>
      </p:sp>
      <p:sp>
        <p:nvSpPr>
          <p:cNvPr id="16" name="Text 14"/>
          <p:cNvSpPr txBox="1"/>
          <p:nvPr/>
        </p:nvSpPr>
        <p:spPr>
          <a:xfrm>
            <a:off x="4581144" y="2011680"/>
            <a:ext cx="3054096" cy="1234440"/>
          </a:xfrm>
          <a:prstGeom prst="rect">
            <a:avLst/>
          </a:prstGeom>
          <a:noFill/>
          <a:ln/>
        </p:spPr>
        <p:txBody>
          <a:bodyPr wrap="square" lIns="0" tIns="0" rIns="0" bIns="0" rtlCol="0" anchor="t"/>
          <a:lstStyle/>
          <a:p>
            <a:pPr marL="0" indent="0">
              <a:lnSpc>
                <a:spcPts val="1392"/>
              </a:lnSpc>
              <a:buNone/>
            </a:pPr>
            <a:r>
              <a:rPr lang="en-US" sz="980" dirty="0">
                <a:solidFill>
                  <a:srgbClr val="C9D2E8"/>
                </a:solidFill>
                <a:latin typeface="Calibri" pitchFamily="34" charset="0"/>
                <a:ea typeface="Calibri" pitchFamily="34" charset="-122"/>
                <a:cs typeface="Calibri" pitchFamily="34" charset="-120"/>
              </a:rPr>
              <a:t>The Chrono Orb is a rigidbody sphere thrown on left mouse. It freezes what it hits, shatters what was built to break, and never destroys anything else.</a:t>
            </a:r>
            <a:endParaRPr lang="en-US" sz="980" dirty="0"/>
          </a:p>
        </p:txBody>
      </p:sp>
      <p:sp>
        <p:nvSpPr>
          <p:cNvPr id="17" name="Shape 15"/>
          <p:cNvSpPr/>
          <p:nvPr/>
        </p:nvSpPr>
        <p:spPr>
          <a:xfrm>
            <a:off x="8083296" y="1481328"/>
            <a:ext cx="3566160" cy="1874520"/>
          </a:xfrm>
          <a:prstGeom prst="roundRect">
            <a:avLst>
              <a:gd name="adj" fmla="val 1951"/>
            </a:avLst>
          </a:prstGeom>
          <a:solidFill>
            <a:srgbClr val="141B36"/>
          </a:solidFill>
          <a:ln w="9525">
            <a:solidFill>
              <a:srgbClr val="2A3558"/>
            </a:solidFill>
            <a:prstDash val="solid"/>
          </a:ln>
        </p:spPr>
        <p:txBody>
          <a:bodyPr/>
          <a:lstStyle/>
          <a:p>
            <a:endParaRPr lang="en-US"/>
          </a:p>
        </p:txBody>
      </p:sp>
      <p:sp>
        <p:nvSpPr>
          <p:cNvPr id="18" name="Text 16"/>
          <p:cNvSpPr txBox="1"/>
          <p:nvPr/>
        </p:nvSpPr>
        <p:spPr>
          <a:xfrm>
            <a:off x="8339328" y="1664208"/>
            <a:ext cx="3054096" cy="292608"/>
          </a:xfrm>
          <a:prstGeom prst="rect">
            <a:avLst/>
          </a:prstGeom>
          <a:noFill/>
          <a:ln/>
        </p:spPr>
        <p:txBody>
          <a:bodyPr wrap="square" lIns="0" tIns="0" rIns="0" bIns="0" rtlCol="0" anchor="t"/>
          <a:lstStyle/>
          <a:p>
            <a:pPr marL="0" indent="0">
              <a:buNone/>
            </a:pPr>
            <a:r>
              <a:rPr lang="en-US" sz="1300" b="1" dirty="0">
                <a:solidFill>
                  <a:srgbClr val="E8B54A"/>
                </a:solidFill>
                <a:latin typeface="Calibri" pitchFamily="34" charset="0"/>
                <a:ea typeface="Calibri" pitchFamily="34" charset="-122"/>
                <a:cs typeface="Calibri" pitchFamily="34" charset="-120"/>
              </a:rPr>
              <a:t>Collisions acted upon</a:t>
            </a:r>
            <a:endParaRPr lang="en-US" sz="1300" dirty="0"/>
          </a:p>
        </p:txBody>
      </p:sp>
      <p:sp>
        <p:nvSpPr>
          <p:cNvPr id="19" name="Text 17"/>
          <p:cNvSpPr txBox="1"/>
          <p:nvPr/>
        </p:nvSpPr>
        <p:spPr>
          <a:xfrm>
            <a:off x="8339328" y="2011680"/>
            <a:ext cx="3054096" cy="1234440"/>
          </a:xfrm>
          <a:prstGeom prst="rect">
            <a:avLst/>
          </a:prstGeom>
          <a:noFill/>
          <a:ln/>
        </p:spPr>
        <p:txBody>
          <a:bodyPr wrap="square" lIns="0" tIns="0" rIns="0" bIns="0" rtlCol="0" anchor="t"/>
          <a:lstStyle/>
          <a:p>
            <a:pPr marL="0" indent="0">
              <a:lnSpc>
                <a:spcPts val="1392"/>
              </a:lnSpc>
              <a:buNone/>
            </a:pPr>
            <a:r>
              <a:rPr lang="en-US" sz="980" dirty="0">
                <a:solidFill>
                  <a:srgbClr val="C9D2E8"/>
                </a:solidFill>
                <a:latin typeface="Calibri" pitchFamily="34" charset="0"/>
                <a:ea typeface="Calibri" pitchFamily="34" charset="-122"/>
                <a:cs typeface="Calibri" pitchFamily="34" charset="-120"/>
              </a:rPr>
              <a:t>Four handlers read real contact data: the orb, falling debris, the swinging hazards, and the Collector, who counts orb impacts as his phase transitions.</a:t>
            </a:r>
            <a:endParaRPr lang="en-US" sz="980" dirty="0"/>
          </a:p>
        </p:txBody>
      </p:sp>
      <p:sp>
        <p:nvSpPr>
          <p:cNvPr id="20" name="Text 18"/>
          <p:cNvSpPr txBox="1"/>
          <p:nvPr/>
        </p:nvSpPr>
        <p:spPr>
          <a:xfrm>
            <a:off x="566928" y="3584448"/>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THE SHOT, END TO END</a:t>
            </a:r>
            <a:endParaRPr lang="en-US" sz="800" dirty="0"/>
          </a:p>
        </p:txBody>
      </p:sp>
      <p:sp>
        <p:nvSpPr>
          <p:cNvPr id="21" name="Shape 19"/>
          <p:cNvSpPr/>
          <p:nvPr/>
        </p:nvSpPr>
        <p:spPr>
          <a:xfrm>
            <a:off x="566928" y="3858768"/>
            <a:ext cx="1723644" cy="713232"/>
          </a:xfrm>
          <a:prstGeom prst="roundRect">
            <a:avLst>
              <a:gd name="adj" fmla="val 5128"/>
            </a:avLst>
          </a:prstGeom>
          <a:solidFill>
            <a:srgbClr val="1A2340"/>
          </a:solidFill>
          <a:ln w="9525">
            <a:solidFill>
              <a:srgbClr val="2A3558"/>
            </a:solidFill>
            <a:prstDash val="solid"/>
          </a:ln>
        </p:spPr>
        <p:txBody>
          <a:bodyPr/>
          <a:lstStyle/>
          <a:p>
            <a:endParaRPr lang="en-US"/>
          </a:p>
        </p:txBody>
      </p:sp>
      <p:sp>
        <p:nvSpPr>
          <p:cNvPr id="22" name="Text 20"/>
          <p:cNvSpPr txBox="1"/>
          <p:nvPr/>
        </p:nvSpPr>
        <p:spPr>
          <a:xfrm>
            <a:off x="621792" y="3858768"/>
            <a:ext cx="1613916" cy="713232"/>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Left mouse</a:t>
            </a:r>
            <a:endParaRPr lang="en-US" sz="920" dirty="0"/>
          </a:p>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pressed</a:t>
            </a:r>
            <a:endParaRPr lang="en-US" sz="920" dirty="0"/>
          </a:p>
        </p:txBody>
      </p:sp>
      <p:sp>
        <p:nvSpPr>
          <p:cNvPr id="23" name="Text 21"/>
          <p:cNvSpPr txBox="1"/>
          <p:nvPr/>
        </p:nvSpPr>
        <p:spPr>
          <a:xfrm>
            <a:off x="2290572" y="3858768"/>
            <a:ext cx="146304" cy="713232"/>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4" name="Shape 22"/>
          <p:cNvSpPr/>
          <p:nvPr/>
        </p:nvSpPr>
        <p:spPr>
          <a:xfrm>
            <a:off x="2436876" y="3858768"/>
            <a:ext cx="1723644" cy="713232"/>
          </a:xfrm>
          <a:prstGeom prst="roundRect">
            <a:avLst>
              <a:gd name="adj" fmla="val 5128"/>
            </a:avLst>
          </a:prstGeom>
          <a:solidFill>
            <a:srgbClr val="1A2340"/>
          </a:solidFill>
          <a:ln w="9525">
            <a:solidFill>
              <a:srgbClr val="2A3558"/>
            </a:solidFill>
            <a:prstDash val="solid"/>
          </a:ln>
        </p:spPr>
        <p:txBody>
          <a:bodyPr/>
          <a:lstStyle/>
          <a:p>
            <a:endParaRPr lang="en-US"/>
          </a:p>
        </p:txBody>
      </p:sp>
      <p:sp>
        <p:nvSpPr>
          <p:cNvPr id="25" name="Text 23"/>
          <p:cNvSpPr txBox="1"/>
          <p:nvPr/>
        </p:nvSpPr>
        <p:spPr>
          <a:xfrm>
            <a:off x="2491740" y="3858768"/>
            <a:ext cx="1613916" cy="713232"/>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Energy</a:t>
            </a:r>
            <a:endParaRPr lang="en-US" sz="920" dirty="0"/>
          </a:p>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spent</a:t>
            </a:r>
            <a:endParaRPr lang="en-US" sz="920" dirty="0"/>
          </a:p>
        </p:txBody>
      </p:sp>
      <p:sp>
        <p:nvSpPr>
          <p:cNvPr id="26" name="Text 24"/>
          <p:cNvSpPr txBox="1"/>
          <p:nvPr/>
        </p:nvSpPr>
        <p:spPr>
          <a:xfrm>
            <a:off x="4160520" y="3858768"/>
            <a:ext cx="146304" cy="713232"/>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27" name="Shape 25"/>
          <p:cNvSpPr/>
          <p:nvPr/>
        </p:nvSpPr>
        <p:spPr>
          <a:xfrm>
            <a:off x="4306824" y="3858768"/>
            <a:ext cx="1723644" cy="713232"/>
          </a:xfrm>
          <a:prstGeom prst="roundRect">
            <a:avLst>
              <a:gd name="adj" fmla="val 5128"/>
            </a:avLst>
          </a:prstGeom>
          <a:solidFill>
            <a:srgbClr val="1A2340"/>
          </a:solidFill>
          <a:ln w="9525">
            <a:solidFill>
              <a:srgbClr val="2A3558"/>
            </a:solidFill>
            <a:prstDash val="solid"/>
          </a:ln>
        </p:spPr>
        <p:txBody>
          <a:bodyPr/>
          <a:lstStyle/>
          <a:p>
            <a:endParaRPr lang="en-US"/>
          </a:p>
        </p:txBody>
      </p:sp>
      <p:sp>
        <p:nvSpPr>
          <p:cNvPr id="28" name="Text 26"/>
          <p:cNvSpPr txBox="1"/>
          <p:nvPr/>
        </p:nvSpPr>
        <p:spPr>
          <a:xfrm>
            <a:off x="4361688" y="3858768"/>
            <a:ext cx="1613916" cy="713232"/>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Orb</a:t>
            </a:r>
            <a:endParaRPr lang="en-US" sz="920" dirty="0"/>
          </a:p>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spawned</a:t>
            </a:r>
            <a:endParaRPr lang="en-US" sz="920" dirty="0"/>
          </a:p>
        </p:txBody>
      </p:sp>
      <p:sp>
        <p:nvSpPr>
          <p:cNvPr id="29" name="Text 27"/>
          <p:cNvSpPr txBox="1"/>
          <p:nvPr/>
        </p:nvSpPr>
        <p:spPr>
          <a:xfrm>
            <a:off x="6030468" y="3858768"/>
            <a:ext cx="146304" cy="713232"/>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30" name="Shape 28"/>
          <p:cNvSpPr/>
          <p:nvPr/>
        </p:nvSpPr>
        <p:spPr>
          <a:xfrm>
            <a:off x="6176772" y="3858768"/>
            <a:ext cx="1723644" cy="713232"/>
          </a:xfrm>
          <a:prstGeom prst="roundRect">
            <a:avLst>
              <a:gd name="adj" fmla="val 5128"/>
            </a:avLst>
          </a:prstGeom>
          <a:solidFill>
            <a:srgbClr val="1A2340"/>
          </a:solidFill>
          <a:ln w="9525">
            <a:solidFill>
              <a:srgbClr val="2A3558"/>
            </a:solidFill>
            <a:prstDash val="solid"/>
          </a:ln>
        </p:spPr>
        <p:txBody>
          <a:bodyPr/>
          <a:lstStyle/>
          <a:p>
            <a:endParaRPr lang="en-US"/>
          </a:p>
        </p:txBody>
      </p:sp>
      <p:sp>
        <p:nvSpPr>
          <p:cNvPr id="31" name="Text 29"/>
          <p:cNvSpPr txBox="1"/>
          <p:nvPr/>
        </p:nvSpPr>
        <p:spPr>
          <a:xfrm>
            <a:off x="6231636" y="3858768"/>
            <a:ext cx="1613916" cy="713232"/>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Force</a:t>
            </a:r>
            <a:endParaRPr lang="en-US" sz="920" dirty="0"/>
          </a:p>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applied</a:t>
            </a:r>
            <a:endParaRPr lang="en-US" sz="920" dirty="0"/>
          </a:p>
        </p:txBody>
      </p:sp>
      <p:sp>
        <p:nvSpPr>
          <p:cNvPr id="32" name="Text 30"/>
          <p:cNvSpPr txBox="1"/>
          <p:nvPr/>
        </p:nvSpPr>
        <p:spPr>
          <a:xfrm>
            <a:off x="7900416" y="3858768"/>
            <a:ext cx="146304" cy="713232"/>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33" name="Shape 31"/>
          <p:cNvSpPr/>
          <p:nvPr/>
        </p:nvSpPr>
        <p:spPr>
          <a:xfrm>
            <a:off x="8046720" y="3858768"/>
            <a:ext cx="1723644" cy="713232"/>
          </a:xfrm>
          <a:prstGeom prst="roundRect">
            <a:avLst>
              <a:gd name="adj" fmla="val 5128"/>
            </a:avLst>
          </a:prstGeom>
          <a:solidFill>
            <a:srgbClr val="1A2340"/>
          </a:solidFill>
          <a:ln w="9525">
            <a:solidFill>
              <a:srgbClr val="2A3558"/>
            </a:solidFill>
            <a:prstDash val="solid"/>
          </a:ln>
        </p:spPr>
        <p:txBody>
          <a:bodyPr/>
          <a:lstStyle/>
          <a:p>
            <a:endParaRPr lang="en-US"/>
          </a:p>
        </p:txBody>
      </p:sp>
      <p:sp>
        <p:nvSpPr>
          <p:cNvPr id="34" name="Text 32"/>
          <p:cNvSpPr txBox="1"/>
          <p:nvPr/>
        </p:nvSpPr>
        <p:spPr>
          <a:xfrm>
            <a:off x="8101584" y="3858768"/>
            <a:ext cx="1613916" cy="713232"/>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Collision</a:t>
            </a:r>
            <a:endParaRPr lang="en-US" sz="920" dirty="0"/>
          </a:p>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contact read</a:t>
            </a:r>
            <a:endParaRPr lang="en-US" sz="920" dirty="0"/>
          </a:p>
        </p:txBody>
      </p:sp>
      <p:sp>
        <p:nvSpPr>
          <p:cNvPr id="35" name="Text 33"/>
          <p:cNvSpPr txBox="1"/>
          <p:nvPr/>
        </p:nvSpPr>
        <p:spPr>
          <a:xfrm>
            <a:off x="9770364" y="3858768"/>
            <a:ext cx="146304" cy="713232"/>
          </a:xfrm>
          <a:prstGeom prst="rect">
            <a:avLst/>
          </a:prstGeom>
          <a:noFill/>
          <a:ln/>
        </p:spPr>
        <p:txBody>
          <a:bodyPr wrap="square" lIns="0" tIns="0" rIns="0" bIns="0" rtlCol="0" anchor="ctr"/>
          <a:lstStyle/>
          <a:p>
            <a:pPr marL="0" indent="0" algn="ctr">
              <a:buNone/>
            </a:pPr>
            <a:r>
              <a:rPr lang="en-US" sz="1500" b="1" dirty="0">
                <a:solidFill>
                  <a:srgbClr val="E8B54A"/>
                </a:solidFill>
                <a:latin typeface="Calibri" pitchFamily="34" charset="0"/>
                <a:ea typeface="Calibri" pitchFamily="34" charset="-122"/>
                <a:cs typeface="Calibri" pitchFamily="34" charset="-120"/>
              </a:rPr>
              <a:t>›</a:t>
            </a:r>
            <a:endParaRPr lang="en-US" sz="1500" dirty="0"/>
          </a:p>
        </p:txBody>
      </p:sp>
      <p:sp>
        <p:nvSpPr>
          <p:cNvPr id="36" name="Shape 34"/>
          <p:cNvSpPr/>
          <p:nvPr/>
        </p:nvSpPr>
        <p:spPr>
          <a:xfrm>
            <a:off x="9916668" y="3858768"/>
            <a:ext cx="1723644" cy="713232"/>
          </a:xfrm>
          <a:prstGeom prst="roundRect">
            <a:avLst>
              <a:gd name="adj" fmla="val 5128"/>
            </a:avLst>
          </a:prstGeom>
          <a:solidFill>
            <a:srgbClr val="1A2340"/>
          </a:solidFill>
          <a:ln w="9525">
            <a:solidFill>
              <a:srgbClr val="2A3558"/>
            </a:solidFill>
            <a:prstDash val="solid"/>
          </a:ln>
        </p:spPr>
        <p:txBody>
          <a:bodyPr/>
          <a:lstStyle/>
          <a:p>
            <a:endParaRPr lang="en-US"/>
          </a:p>
        </p:txBody>
      </p:sp>
      <p:sp>
        <p:nvSpPr>
          <p:cNvPr id="37" name="Text 35"/>
          <p:cNvSpPr txBox="1"/>
          <p:nvPr/>
        </p:nvSpPr>
        <p:spPr>
          <a:xfrm>
            <a:off x="9971532" y="3858768"/>
            <a:ext cx="1613916" cy="713232"/>
          </a:xfrm>
          <a:prstGeom prst="rect">
            <a:avLst/>
          </a:prstGeom>
          <a:noFill/>
          <a:ln/>
        </p:spPr>
        <p:txBody>
          <a:bodyPr wrap="square" lIns="0" tIns="0" rIns="0" bIns="0" rtlCol="0" anchor="ctr"/>
          <a:lstStyle/>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Freeze,</a:t>
            </a:r>
            <a:endParaRPr lang="en-US" sz="920" dirty="0"/>
          </a:p>
          <a:p>
            <a:pPr marL="0" indent="0" algn="ctr">
              <a:lnSpc>
                <a:spcPts val="1196"/>
              </a:lnSpc>
              <a:buNone/>
            </a:pPr>
            <a:r>
              <a:rPr lang="en-US" sz="920" b="1" dirty="0">
                <a:solidFill>
                  <a:srgbClr val="FFFFFF"/>
                </a:solidFill>
                <a:latin typeface="Calibri" pitchFamily="34" charset="0"/>
                <a:ea typeface="Calibri" pitchFamily="34" charset="-122"/>
                <a:cs typeface="Calibri" pitchFamily="34" charset="-120"/>
              </a:rPr>
              <a:t>break or phase</a:t>
            </a:r>
            <a:endParaRPr lang="en-US" sz="920" dirty="0"/>
          </a:p>
        </p:txBody>
      </p:sp>
      <p:sp>
        <p:nvSpPr>
          <p:cNvPr id="38" name="Shape 36"/>
          <p:cNvSpPr/>
          <p:nvPr/>
        </p:nvSpPr>
        <p:spPr>
          <a:xfrm>
            <a:off x="566928" y="4901184"/>
            <a:ext cx="11073384" cy="1298448"/>
          </a:xfrm>
          <a:prstGeom prst="roundRect">
            <a:avLst>
              <a:gd name="adj" fmla="val 2817"/>
            </a:avLst>
          </a:prstGeom>
          <a:solidFill>
            <a:srgbClr val="141B36"/>
          </a:solidFill>
          <a:ln w="9525">
            <a:solidFill>
              <a:srgbClr val="2A3558"/>
            </a:solidFill>
            <a:prstDash val="solid"/>
          </a:ln>
        </p:spPr>
        <p:txBody>
          <a:bodyPr/>
          <a:lstStyle/>
          <a:p>
            <a:endParaRPr lang="en-US"/>
          </a:p>
        </p:txBody>
      </p:sp>
      <p:sp>
        <p:nvSpPr>
          <p:cNvPr id="39" name="Text 37"/>
          <p:cNvSpPr txBox="1"/>
          <p:nvPr/>
        </p:nvSpPr>
        <p:spPr>
          <a:xfrm>
            <a:off x="822960" y="5047488"/>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TRIGGERS ACROSS THE GAME</a:t>
            </a:r>
            <a:endParaRPr lang="en-US" sz="800" dirty="0"/>
          </a:p>
        </p:txBody>
      </p:sp>
      <p:sp>
        <p:nvSpPr>
          <p:cNvPr id="40" name="Text 38"/>
          <p:cNvSpPr txBox="1"/>
          <p:nvPr/>
        </p:nvSpPr>
        <p:spPr>
          <a:xfrm>
            <a:off x="822960" y="5321808"/>
            <a:ext cx="10561320" cy="786384"/>
          </a:xfrm>
          <a:prstGeom prst="rect">
            <a:avLst/>
          </a:prstGeom>
          <a:noFill/>
          <a:ln/>
        </p:spPr>
        <p:txBody>
          <a:bodyPr wrap="square" lIns="0" tIns="0" rIns="0" bIns="0" rtlCol="0" anchor="t"/>
          <a:lstStyle/>
          <a:p>
            <a:pPr marL="0" indent="0">
              <a:lnSpc>
                <a:spcPts val="1392"/>
              </a:lnSpc>
              <a:buNone/>
            </a:pPr>
            <a:r>
              <a:rPr lang="en-US" sz="980" dirty="0">
                <a:solidFill>
                  <a:srgbClr val="C9D2E8"/>
                </a:solidFill>
                <a:latin typeface="Calibri" pitchFamily="34" charset="0"/>
                <a:ea typeface="Calibri" pitchFamily="34" charset="-122"/>
                <a:cs typeface="Calibri" pitchFamily="34" charset="-120"/>
              </a:rPr>
              <a:t>Twenty-seven trigger volumes of six distinct kinds: room entry, tutorial text, era zones, hazards, scene exits and hidden Time Anchors. They are separate components rather than one script wearing six hats, so each does one legible job — and every one of them is a real gameplay event, not a demonstration placed to satisfy a checklist.</a:t>
            </a:r>
            <a:endParaRPr lang="en-US" sz="9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Assets &amp; Optimization</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Fractured and reduced by hand, then kept inside the size budget</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14</a:t>
            </a:r>
            <a:endParaRPr lang="en-US" sz="800" dirty="0"/>
          </a:p>
        </p:txBody>
      </p:sp>
      <p:sp>
        <p:nvSpPr>
          <p:cNvPr id="11" name="Text 9"/>
          <p:cNvSpPr txBox="1"/>
          <p:nvPr/>
        </p:nvSpPr>
        <p:spPr>
          <a:xfrm>
            <a:off x="566928" y="1481328"/>
            <a:ext cx="45720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VORONOI FRACTURE</a:t>
            </a:r>
            <a:endParaRPr lang="en-US" sz="800" dirty="0"/>
          </a:p>
        </p:txBody>
      </p:sp>
      <p:sp>
        <p:nvSpPr>
          <p:cNvPr id="12" name="Text 10"/>
          <p:cNvSpPr txBox="1"/>
          <p:nvPr/>
        </p:nvSpPr>
        <p:spPr>
          <a:xfrm>
            <a:off x="566928" y="1755648"/>
            <a:ext cx="5394960" cy="457200"/>
          </a:xfrm>
          <a:prstGeom prst="rect">
            <a:avLst/>
          </a:prstGeom>
          <a:noFill/>
          <a:ln/>
        </p:spPr>
        <p:txBody>
          <a:bodyPr wrap="square" lIns="0" tIns="0" rIns="0" bIns="0" rtlCol="0" anchor="t"/>
          <a:lstStyle/>
          <a:p>
            <a:pPr marL="0" indent="0">
              <a:lnSpc>
                <a:spcPts val="1448"/>
              </a:lnSpc>
              <a:buNone/>
            </a:pPr>
            <a:r>
              <a:rPr lang="en-US" sz="1020" dirty="0">
                <a:solidFill>
                  <a:srgbClr val="FFFFFF"/>
                </a:solidFill>
                <a:latin typeface="Calibri" pitchFamily="34" charset="0"/>
                <a:ea typeface="Calibri" pitchFamily="34" charset="-122"/>
                <a:cs typeface="Calibri" pitchFamily="34" charset="-120"/>
              </a:rPr>
              <a:t>Two assets were fractured in Blender with a Voronoi cell script and imported as breakable prefabs.</a:t>
            </a:r>
            <a:endParaRPr lang="en-US" sz="1020" dirty="0"/>
          </a:p>
        </p:txBody>
      </p:sp>
      <p:sp>
        <p:nvSpPr>
          <p:cNvPr id="13" name="Text 11"/>
          <p:cNvSpPr txBox="1"/>
          <p:nvPr/>
        </p:nvSpPr>
        <p:spPr>
          <a:xfrm>
            <a:off x="566928" y="2286000"/>
            <a:ext cx="5394960" cy="914400"/>
          </a:xfrm>
          <a:prstGeom prst="rect">
            <a:avLst/>
          </a:prstGeom>
          <a:noFill/>
          <a:ln/>
        </p:spPr>
        <p:txBody>
          <a:bodyPr wrap="square" lIns="0" tIns="0" rIns="0" bIns="0" rtlCol="0" anchor="t"/>
          <a:lstStyle/>
          <a:p>
            <a:pPr marL="342900" indent="-342900">
              <a:lnSpc>
                <a:spcPts val="1420"/>
              </a:lnSpc>
              <a:spcAft>
                <a:spcPts val="300"/>
              </a:spcAft>
              <a:buSzPct val="100000"/>
              <a:buChar char="•"/>
            </a:pPr>
            <a:r>
              <a:rPr lang="en-US" sz="1000" dirty="0">
                <a:solidFill>
                  <a:srgbClr val="C9D2E8"/>
                </a:solidFill>
                <a:latin typeface="Calibri" pitchFamily="34" charset="0"/>
                <a:ea typeface="Calibri" pitchFamily="34" charset="-122"/>
                <a:cs typeface="Calibri" pitchFamily="34" charset="-120"/>
              </a:rPr>
              <a:t>Clock of Creation — 29 shards, breaks at the end of MuseumNight.</a:t>
            </a:r>
            <a:endParaRPr lang="en-US" sz="1000" dirty="0"/>
          </a:p>
          <a:p>
            <a:pPr marL="342900" indent="-342900">
              <a:lnSpc>
                <a:spcPts val="1420"/>
              </a:lnSpc>
              <a:spcAft>
                <a:spcPts val="300"/>
              </a:spcAft>
              <a:buSzPct val="100000"/>
              <a:buChar char="•"/>
            </a:pPr>
            <a:r>
              <a:rPr lang="en-US" sz="1000" dirty="0">
                <a:solidFill>
                  <a:srgbClr val="C9D2E8"/>
                </a:solidFill>
                <a:latin typeface="Calibri" pitchFamily="34" charset="0"/>
                <a:ea typeface="Calibri" pitchFamily="34" charset="-122"/>
                <a:cs typeface="Calibri" pitchFamily="34" charset="-120"/>
              </a:rPr>
              <a:t>Frozen Statue — 48 shards, shattered by the orb in FrozenCity.</a:t>
            </a:r>
            <a:endParaRPr lang="en-US" sz="1000" dirty="0"/>
          </a:p>
        </p:txBody>
      </p:sp>
      <p:sp>
        <p:nvSpPr>
          <p:cNvPr id="14" name="Text 12"/>
          <p:cNvSpPr txBox="1"/>
          <p:nvPr/>
        </p:nvSpPr>
        <p:spPr>
          <a:xfrm>
            <a:off x="566928" y="3200400"/>
            <a:ext cx="5394960" cy="548640"/>
          </a:xfrm>
          <a:prstGeom prst="rect">
            <a:avLst/>
          </a:prstGeom>
          <a:noFill/>
          <a:ln/>
        </p:spPr>
        <p:txBody>
          <a:bodyPr wrap="square" lIns="0" tIns="0" rIns="0" bIns="0" rtlCol="0" anchor="t"/>
          <a:lstStyle/>
          <a:p>
            <a:pPr marL="0" indent="0">
              <a:lnSpc>
                <a:spcPts val="1363"/>
              </a:lnSpc>
              <a:buNone/>
            </a:pPr>
            <a:r>
              <a:rPr lang="en-US" sz="960" dirty="0">
                <a:solidFill>
                  <a:srgbClr val="8A94B8"/>
                </a:solidFill>
                <a:latin typeface="Calibri" pitchFamily="34" charset="0"/>
                <a:ea typeface="Calibri" pitchFamily="34" charset="-122"/>
                <a:cs typeface="Calibri" pitchFamily="34" charset="-120"/>
              </a:rPr>
              <a:t>Every shard carries its own rigidbody, is hidden until the break, takes an explosion force, and is cleaned up afterwards so the pieces never accumulate.</a:t>
            </a:r>
            <a:endParaRPr lang="en-US" sz="960" dirty="0"/>
          </a:p>
        </p:txBody>
      </p:sp>
      <p:sp>
        <p:nvSpPr>
          <p:cNvPr id="15" name="Text 13"/>
          <p:cNvSpPr txBox="1"/>
          <p:nvPr/>
        </p:nvSpPr>
        <p:spPr>
          <a:xfrm>
            <a:off x="6236208" y="1481328"/>
            <a:ext cx="45720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LOD ASSETS</a:t>
            </a:r>
            <a:endParaRPr lang="en-US" sz="800" dirty="0"/>
          </a:p>
        </p:txBody>
      </p:sp>
      <p:sp>
        <p:nvSpPr>
          <p:cNvPr id="16" name="Text 14"/>
          <p:cNvSpPr txBox="1"/>
          <p:nvPr/>
        </p:nvSpPr>
        <p:spPr>
          <a:xfrm>
            <a:off x="6236208" y="1755648"/>
            <a:ext cx="5394960" cy="457200"/>
          </a:xfrm>
          <a:prstGeom prst="rect">
            <a:avLst/>
          </a:prstGeom>
          <a:noFill/>
          <a:ln/>
        </p:spPr>
        <p:txBody>
          <a:bodyPr wrap="square" lIns="0" tIns="0" rIns="0" bIns="0" rtlCol="0" anchor="t"/>
          <a:lstStyle/>
          <a:p>
            <a:pPr marL="0" indent="0">
              <a:lnSpc>
                <a:spcPts val="1448"/>
              </a:lnSpc>
              <a:buNone/>
            </a:pPr>
            <a:r>
              <a:rPr lang="en-US" sz="1020" dirty="0">
                <a:solidFill>
                  <a:srgbClr val="FFFFFF"/>
                </a:solidFill>
                <a:latin typeface="Calibri" pitchFamily="34" charset="0"/>
                <a:ea typeface="Calibri" pitchFamily="34" charset="-122"/>
                <a:cs typeface="Calibri" pitchFamily="34" charset="-120"/>
              </a:rPr>
              <a:t>Two different models had their polygons reduced by hand and were rebuilt as Unity LOD groups.</a:t>
            </a:r>
            <a:endParaRPr lang="en-US" sz="1020" dirty="0"/>
          </a:p>
        </p:txBody>
      </p:sp>
      <p:sp>
        <p:nvSpPr>
          <p:cNvPr id="17" name="Shape 15"/>
          <p:cNvSpPr/>
          <p:nvPr/>
        </p:nvSpPr>
        <p:spPr>
          <a:xfrm>
            <a:off x="6236208" y="2286000"/>
            <a:ext cx="2615184" cy="3200400"/>
          </a:xfrm>
          <a:prstGeom prst="roundRect">
            <a:avLst>
              <a:gd name="adj" fmla="val 1399"/>
            </a:avLst>
          </a:prstGeom>
          <a:solidFill>
            <a:srgbClr val="141B36"/>
          </a:solidFill>
          <a:ln w="9525">
            <a:solidFill>
              <a:srgbClr val="2A3558"/>
            </a:solidFill>
            <a:prstDash val="solid"/>
          </a:ln>
        </p:spPr>
        <p:txBody>
          <a:bodyPr/>
          <a:lstStyle/>
          <a:p>
            <a:endParaRPr lang="en-US"/>
          </a:p>
        </p:txBody>
      </p:sp>
      <p:pic>
        <p:nvPicPr>
          <p:cNvPr id="18" name="Image 0" descr="C:\Users\Remote-BEAST\AppData\Local\Temp\claude\C--cs-degree-year-3-video-games-final-MuseumOfTime\4374ba47-f7d5-49a5-a1ce-b351b7c26d9c\scratchpad\img\asset_column.png"/>
          <p:cNvPicPr>
            <a:picLocks noChangeAspect="1"/>
          </p:cNvPicPr>
          <p:nvPr/>
        </p:nvPicPr>
        <p:blipFill>
          <a:blip r:embed="rId3"/>
          <a:stretch>
            <a:fillRect/>
          </a:stretch>
        </p:blipFill>
        <p:spPr>
          <a:xfrm>
            <a:off x="6949440" y="2432304"/>
            <a:ext cx="1188720" cy="1956816"/>
          </a:xfrm>
          <a:prstGeom prst="rect">
            <a:avLst/>
          </a:prstGeom>
        </p:spPr>
      </p:pic>
      <p:sp>
        <p:nvSpPr>
          <p:cNvPr id="19" name="Text 16"/>
          <p:cNvSpPr txBox="1"/>
          <p:nvPr/>
        </p:nvSpPr>
        <p:spPr>
          <a:xfrm>
            <a:off x="6236208" y="4626864"/>
            <a:ext cx="261518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Stone Column</a:t>
            </a:r>
            <a:endParaRPr lang="en-US" sz="1100" dirty="0"/>
          </a:p>
        </p:txBody>
      </p:sp>
      <p:sp>
        <p:nvSpPr>
          <p:cNvPr id="20" name="Text 17"/>
          <p:cNvSpPr txBox="1"/>
          <p:nvPr/>
        </p:nvSpPr>
        <p:spPr>
          <a:xfrm>
            <a:off x="6236208" y="4919472"/>
            <a:ext cx="2615184" cy="274320"/>
          </a:xfrm>
          <a:prstGeom prst="rect">
            <a:avLst/>
          </a:prstGeom>
          <a:noFill/>
          <a:ln/>
        </p:spPr>
        <p:txBody>
          <a:bodyPr wrap="square" lIns="0" tIns="0" rIns="0" bIns="0" rtlCol="0" anchor="ctr"/>
          <a:lstStyle/>
          <a:p>
            <a:pPr marL="0" indent="0" algn="ctr">
              <a:buNone/>
            </a:pPr>
            <a:r>
              <a:rPr lang="en-US" sz="940" dirty="0">
                <a:solidFill>
                  <a:srgbClr val="E8B54A"/>
                </a:solidFill>
                <a:latin typeface="Calibri" pitchFamily="34" charset="0"/>
                <a:ea typeface="Calibri" pitchFamily="34" charset="-122"/>
                <a:cs typeface="Calibri" pitchFamily="34" charset="-120"/>
              </a:rPr>
              <a:t>4 992  →  2 496  →  998</a:t>
            </a:r>
            <a:endParaRPr lang="en-US" sz="940" dirty="0"/>
          </a:p>
        </p:txBody>
      </p:sp>
      <p:sp>
        <p:nvSpPr>
          <p:cNvPr id="21" name="Text 18"/>
          <p:cNvSpPr txBox="1"/>
          <p:nvPr/>
        </p:nvSpPr>
        <p:spPr>
          <a:xfrm>
            <a:off x="6236208" y="5157216"/>
            <a:ext cx="2615184" cy="237744"/>
          </a:xfrm>
          <a:prstGeom prst="rect">
            <a:avLst/>
          </a:prstGeom>
          <a:noFill/>
          <a:ln/>
        </p:spPr>
        <p:txBody>
          <a:bodyPr wrap="square" lIns="0" tIns="0" rIns="0" bIns="0" rtlCol="0" anchor="ctr"/>
          <a:lstStyle/>
          <a:p>
            <a:pPr marL="0" indent="0" algn="ctr">
              <a:buNone/>
            </a:pPr>
            <a:r>
              <a:rPr lang="en-US" sz="800" dirty="0">
                <a:solidFill>
                  <a:srgbClr val="8A94B8"/>
                </a:solidFill>
                <a:latin typeface="Calibri" pitchFamily="34" charset="0"/>
                <a:ea typeface="Calibri" pitchFamily="34" charset="-122"/>
                <a:cs typeface="Calibri" pitchFamily="34" charset="-120"/>
              </a:rPr>
              <a:t>triangles, LOD0 → LOD2</a:t>
            </a:r>
            <a:endParaRPr lang="en-US" sz="800" dirty="0"/>
          </a:p>
        </p:txBody>
      </p:sp>
      <p:sp>
        <p:nvSpPr>
          <p:cNvPr id="22" name="Shape 19"/>
          <p:cNvSpPr/>
          <p:nvPr/>
        </p:nvSpPr>
        <p:spPr>
          <a:xfrm>
            <a:off x="9015984" y="2286000"/>
            <a:ext cx="2615184" cy="3200400"/>
          </a:xfrm>
          <a:prstGeom prst="roundRect">
            <a:avLst>
              <a:gd name="adj" fmla="val 1399"/>
            </a:avLst>
          </a:prstGeom>
          <a:solidFill>
            <a:srgbClr val="141B36"/>
          </a:solidFill>
          <a:ln w="9525">
            <a:solidFill>
              <a:srgbClr val="2A3558"/>
            </a:solidFill>
            <a:prstDash val="solid"/>
          </a:ln>
        </p:spPr>
        <p:txBody>
          <a:bodyPr/>
          <a:lstStyle/>
          <a:p>
            <a:endParaRPr lang="en-US"/>
          </a:p>
        </p:txBody>
      </p:sp>
      <p:pic>
        <p:nvPicPr>
          <p:cNvPr id="23" name="Image 1" descr="C:\Users\Remote-BEAST\AppData\Local\Temp\claude\C--cs-degree-year-3-video-games-final-MuseumOfTime\4374ba47-f7d5-49a5-a1ce-b351b7c26d9c\scratchpad\img\asset_marble.png"/>
          <p:cNvPicPr>
            <a:picLocks noChangeAspect="1"/>
          </p:cNvPicPr>
          <p:nvPr/>
        </p:nvPicPr>
        <p:blipFill>
          <a:blip r:embed="rId4"/>
          <a:stretch>
            <a:fillRect/>
          </a:stretch>
        </p:blipFill>
        <p:spPr>
          <a:xfrm>
            <a:off x="9569196" y="2432304"/>
            <a:ext cx="1508760" cy="1956816"/>
          </a:xfrm>
          <a:prstGeom prst="rect">
            <a:avLst/>
          </a:prstGeom>
        </p:spPr>
      </p:pic>
      <p:sp>
        <p:nvSpPr>
          <p:cNvPr id="24" name="Text 20"/>
          <p:cNvSpPr txBox="1"/>
          <p:nvPr/>
        </p:nvSpPr>
        <p:spPr>
          <a:xfrm>
            <a:off x="9015984" y="4626864"/>
            <a:ext cx="2615184"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Marble Statue</a:t>
            </a:r>
            <a:endParaRPr lang="en-US" sz="1100" dirty="0"/>
          </a:p>
        </p:txBody>
      </p:sp>
      <p:sp>
        <p:nvSpPr>
          <p:cNvPr id="25" name="Text 21"/>
          <p:cNvSpPr txBox="1"/>
          <p:nvPr/>
        </p:nvSpPr>
        <p:spPr>
          <a:xfrm>
            <a:off x="9015984" y="4919472"/>
            <a:ext cx="2615184" cy="274320"/>
          </a:xfrm>
          <a:prstGeom prst="rect">
            <a:avLst/>
          </a:prstGeom>
          <a:noFill/>
          <a:ln/>
        </p:spPr>
        <p:txBody>
          <a:bodyPr wrap="square" lIns="0" tIns="0" rIns="0" bIns="0" rtlCol="0" anchor="ctr"/>
          <a:lstStyle/>
          <a:p>
            <a:pPr marL="0" indent="0" algn="ctr">
              <a:buNone/>
            </a:pPr>
            <a:r>
              <a:rPr lang="en-US" sz="940" dirty="0">
                <a:solidFill>
                  <a:srgbClr val="E8B54A"/>
                </a:solidFill>
                <a:latin typeface="Calibri" pitchFamily="34" charset="0"/>
                <a:ea typeface="Calibri" pitchFamily="34" charset="-122"/>
                <a:cs typeface="Calibri" pitchFamily="34" charset="-120"/>
              </a:rPr>
              <a:t>9 760  →  4 880  →  1 952</a:t>
            </a:r>
            <a:endParaRPr lang="en-US" sz="940" dirty="0"/>
          </a:p>
        </p:txBody>
      </p:sp>
      <p:sp>
        <p:nvSpPr>
          <p:cNvPr id="26" name="Text 22"/>
          <p:cNvSpPr txBox="1"/>
          <p:nvPr/>
        </p:nvSpPr>
        <p:spPr>
          <a:xfrm>
            <a:off x="9015984" y="5157216"/>
            <a:ext cx="2615184" cy="237744"/>
          </a:xfrm>
          <a:prstGeom prst="rect">
            <a:avLst/>
          </a:prstGeom>
          <a:noFill/>
          <a:ln/>
        </p:spPr>
        <p:txBody>
          <a:bodyPr wrap="square" lIns="0" tIns="0" rIns="0" bIns="0" rtlCol="0" anchor="ctr"/>
          <a:lstStyle/>
          <a:p>
            <a:pPr marL="0" indent="0" algn="ctr">
              <a:buNone/>
            </a:pPr>
            <a:r>
              <a:rPr lang="en-US" sz="800" dirty="0">
                <a:solidFill>
                  <a:srgbClr val="8A94B8"/>
                </a:solidFill>
                <a:latin typeface="Calibri" pitchFamily="34" charset="0"/>
                <a:ea typeface="Calibri" pitchFamily="34" charset="-122"/>
                <a:cs typeface="Calibri" pitchFamily="34" charset="-120"/>
              </a:rPr>
              <a:t>triangles, LOD0 → LOD2</a:t>
            </a:r>
            <a:endParaRPr lang="en-US" sz="800" dirty="0"/>
          </a:p>
        </p:txBody>
      </p:sp>
      <p:sp>
        <p:nvSpPr>
          <p:cNvPr id="27" name="Shape 23"/>
          <p:cNvSpPr/>
          <p:nvPr/>
        </p:nvSpPr>
        <p:spPr>
          <a:xfrm>
            <a:off x="566928" y="3877056"/>
            <a:ext cx="5394960" cy="1609344"/>
          </a:xfrm>
          <a:prstGeom prst="roundRect">
            <a:avLst>
              <a:gd name="adj" fmla="val 2273"/>
            </a:avLst>
          </a:prstGeom>
          <a:solidFill>
            <a:srgbClr val="141B36"/>
          </a:solidFill>
          <a:ln w="9525">
            <a:solidFill>
              <a:srgbClr val="2A3558"/>
            </a:solidFill>
            <a:prstDash val="solid"/>
          </a:ln>
        </p:spPr>
        <p:txBody>
          <a:bodyPr/>
          <a:lstStyle/>
          <a:p>
            <a:endParaRPr lang="en-US"/>
          </a:p>
        </p:txBody>
      </p:sp>
      <p:sp>
        <p:nvSpPr>
          <p:cNvPr id="28" name="Text 24"/>
          <p:cNvSpPr txBox="1"/>
          <p:nvPr/>
        </p:nvSpPr>
        <p:spPr>
          <a:xfrm>
            <a:off x="786384" y="4059936"/>
            <a:ext cx="36576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STAYING UNDER THE CAP</a:t>
            </a:r>
            <a:endParaRPr lang="en-US" sz="800" dirty="0"/>
          </a:p>
        </p:txBody>
      </p:sp>
      <p:sp>
        <p:nvSpPr>
          <p:cNvPr id="29" name="Text 25"/>
          <p:cNvSpPr txBox="1"/>
          <p:nvPr/>
        </p:nvSpPr>
        <p:spPr>
          <a:xfrm>
            <a:off x="786384" y="4352544"/>
            <a:ext cx="4956048" cy="1060704"/>
          </a:xfrm>
          <a:prstGeom prst="rect">
            <a:avLst/>
          </a:prstGeom>
          <a:noFill/>
          <a:ln/>
        </p:spPr>
        <p:txBody>
          <a:bodyPr wrap="square" lIns="0" tIns="0" rIns="0" bIns="0" rtlCol="0" anchor="t"/>
          <a:lstStyle/>
          <a:p>
            <a:pPr marL="0" indent="0">
              <a:lnSpc>
                <a:spcPts val="1363"/>
              </a:lnSpc>
              <a:buNone/>
            </a:pPr>
            <a:r>
              <a:rPr lang="en-US" sz="960" dirty="0">
                <a:solidFill>
                  <a:srgbClr val="C9D2E8"/>
                </a:solidFill>
                <a:latin typeface="Calibri" pitchFamily="34" charset="0"/>
                <a:ea typeface="Calibri" pitchFamily="34" charset="-122"/>
                <a:cs typeface="Calibri" pitchFamily="34" charset="-120"/>
              </a:rPr>
              <a:t>Texture import sizes are capped and compressed, animation is compressed, shard and LOD counts are deliberately small, and materials are reused across scenes. The last measured release build was 137.6 MB uncompressed and 56.8 MB compressed, against a 300 MB limit.</a:t>
            </a:r>
            <a:endParaRPr lang="en-US" sz="9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UI, Camera &amp; Orientation</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The player should always know where they are and what to do next</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15</a:t>
            </a:r>
            <a:endParaRPr lang="en-US" sz="800" dirty="0"/>
          </a:p>
        </p:txBody>
      </p:sp>
      <p:sp>
        <p:nvSpPr>
          <p:cNvPr id="11" name="Shape 9"/>
          <p:cNvSpPr/>
          <p:nvPr/>
        </p:nvSpPr>
        <p:spPr>
          <a:xfrm>
            <a:off x="534924" y="1449324"/>
            <a:ext cx="5916168" cy="2770632"/>
          </a:xfrm>
          <a:prstGeom prst="rect">
            <a:avLst/>
          </a:prstGeom>
          <a:solidFill>
            <a:srgbClr val="E8B54A"/>
          </a:solidFill>
          <a:ln w="12700">
            <a:solidFill>
              <a:srgbClr val="E8B54A"/>
            </a:solidFill>
            <a:prstDash val="solid"/>
          </a:ln>
        </p:spPr>
        <p:txBody>
          <a:bodyPr/>
          <a:lstStyle/>
          <a:p>
            <a:endParaRPr lang="en-US"/>
          </a:p>
        </p:txBody>
      </p:sp>
      <p:pic>
        <p:nvPicPr>
          <p:cNvPr id="12" name="Image 0" descr="C:\Users\Remote-BEAST\AppData\Local\Temp\claude\C--cs-degree-year-3-video-games-final-MuseumOfTime\4374ba47-f7d5-49a5-a1ce-b351b7c26d9c\scratchpad\img\museum.jpg"/>
          <p:cNvPicPr>
            <a:picLocks noChangeAspect="1"/>
          </p:cNvPicPr>
          <p:nvPr/>
        </p:nvPicPr>
        <p:blipFill>
          <a:blip r:embed="rId3"/>
          <a:stretch>
            <a:fillRect/>
          </a:stretch>
        </p:blipFill>
        <p:spPr>
          <a:xfrm>
            <a:off x="566928" y="1481328"/>
            <a:ext cx="5852160" cy="2706624"/>
          </a:xfrm>
          <a:prstGeom prst="rect">
            <a:avLst/>
          </a:prstGeom>
        </p:spPr>
      </p:pic>
      <p:sp>
        <p:nvSpPr>
          <p:cNvPr id="13" name="Text 10"/>
          <p:cNvSpPr txBox="1"/>
          <p:nvPr/>
        </p:nvSpPr>
        <p:spPr>
          <a:xfrm>
            <a:off x="566928" y="4297680"/>
            <a:ext cx="5852160" cy="274320"/>
          </a:xfrm>
          <a:prstGeom prst="rect">
            <a:avLst/>
          </a:prstGeom>
          <a:noFill/>
          <a:ln/>
        </p:spPr>
        <p:txBody>
          <a:bodyPr wrap="square" lIns="0" tIns="0" rIns="0" bIns="0" rtlCol="0" anchor="t"/>
          <a:lstStyle/>
          <a:p>
            <a:pPr marL="0" indent="0">
              <a:buNone/>
            </a:pPr>
            <a:r>
              <a:rPr lang="en-US" sz="850" i="1" dirty="0">
                <a:solidFill>
                  <a:srgbClr val="8A94B8"/>
                </a:solidFill>
                <a:latin typeface="Calibri" pitchFamily="34" charset="0"/>
                <a:ea typeface="Calibri" pitchFamily="34" charset="-122"/>
                <a:cs typeface="Calibri" pitchFamily="34" charset="-120"/>
              </a:rPr>
              <a:t>Every element below is visible in this single frame.</a:t>
            </a:r>
            <a:endParaRPr lang="en-US" sz="850" dirty="0"/>
          </a:p>
        </p:txBody>
      </p:sp>
      <p:sp>
        <p:nvSpPr>
          <p:cNvPr id="14" name="Shape 11"/>
          <p:cNvSpPr/>
          <p:nvPr/>
        </p:nvSpPr>
        <p:spPr>
          <a:xfrm>
            <a:off x="6620256" y="1481328"/>
            <a:ext cx="5010912" cy="1481328"/>
          </a:xfrm>
          <a:prstGeom prst="roundRect">
            <a:avLst>
              <a:gd name="adj" fmla="val 2469"/>
            </a:avLst>
          </a:prstGeom>
          <a:solidFill>
            <a:srgbClr val="141B36"/>
          </a:solidFill>
          <a:ln w="9525">
            <a:solidFill>
              <a:srgbClr val="2A3558"/>
            </a:solidFill>
            <a:prstDash val="solid"/>
          </a:ln>
        </p:spPr>
        <p:txBody>
          <a:bodyPr/>
          <a:lstStyle/>
          <a:p>
            <a:endParaRPr lang="en-US"/>
          </a:p>
        </p:txBody>
      </p:sp>
      <p:sp>
        <p:nvSpPr>
          <p:cNvPr id="15" name="Text 12"/>
          <p:cNvSpPr txBox="1"/>
          <p:nvPr/>
        </p:nvSpPr>
        <p:spPr>
          <a:xfrm>
            <a:off x="6839712" y="1627632"/>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HUD</a:t>
            </a:r>
            <a:endParaRPr lang="en-US" sz="800" dirty="0"/>
          </a:p>
        </p:txBody>
      </p:sp>
      <p:sp>
        <p:nvSpPr>
          <p:cNvPr id="16" name="Text 13"/>
          <p:cNvSpPr txBox="1"/>
          <p:nvPr/>
        </p:nvSpPr>
        <p:spPr>
          <a:xfrm>
            <a:off x="6839712" y="1883664"/>
            <a:ext cx="4572000" cy="1005840"/>
          </a:xfrm>
          <a:prstGeom prst="rect">
            <a:avLst/>
          </a:prstGeom>
          <a:noFill/>
          <a:ln/>
        </p:spPr>
        <p:txBody>
          <a:bodyPr wrap="square" lIns="0" tIns="0" rIns="0" bIns="0" rtlCol="0" anchor="t"/>
          <a:lstStyle/>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Health and energy bars</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Score and Time Shards</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Current era</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A detection meter while a Warden looks</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The current objective, in the world and on screen</a:t>
            </a:r>
            <a:endParaRPr lang="en-US" sz="880" dirty="0"/>
          </a:p>
        </p:txBody>
      </p:sp>
      <p:sp>
        <p:nvSpPr>
          <p:cNvPr id="17" name="Shape 14"/>
          <p:cNvSpPr/>
          <p:nvPr/>
        </p:nvSpPr>
        <p:spPr>
          <a:xfrm>
            <a:off x="6620256" y="3072384"/>
            <a:ext cx="5010912" cy="1481328"/>
          </a:xfrm>
          <a:prstGeom prst="roundRect">
            <a:avLst>
              <a:gd name="adj" fmla="val 2469"/>
            </a:avLst>
          </a:prstGeom>
          <a:solidFill>
            <a:srgbClr val="141B36"/>
          </a:solidFill>
          <a:ln w="9525">
            <a:solidFill>
              <a:srgbClr val="2A3558"/>
            </a:solidFill>
            <a:prstDash val="solid"/>
          </a:ln>
        </p:spPr>
        <p:txBody>
          <a:bodyPr/>
          <a:lstStyle/>
          <a:p>
            <a:endParaRPr lang="en-US"/>
          </a:p>
        </p:txBody>
      </p:sp>
      <p:sp>
        <p:nvSpPr>
          <p:cNvPr id="18" name="Text 15"/>
          <p:cNvSpPr txBox="1"/>
          <p:nvPr/>
        </p:nvSpPr>
        <p:spPr>
          <a:xfrm>
            <a:off x="6839712" y="3218688"/>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CAMERAS</a:t>
            </a:r>
            <a:endParaRPr lang="en-US" sz="800" dirty="0"/>
          </a:p>
        </p:txBody>
      </p:sp>
      <p:sp>
        <p:nvSpPr>
          <p:cNvPr id="19" name="Text 16"/>
          <p:cNvSpPr txBox="1"/>
          <p:nvPr/>
        </p:nvSpPr>
        <p:spPr>
          <a:xfrm>
            <a:off x="6839712" y="3474720"/>
            <a:ext cx="4572000" cy="1005840"/>
          </a:xfrm>
          <a:prstGeom prst="rect">
            <a:avLst/>
          </a:prstGeom>
          <a:noFill/>
          <a:ln/>
        </p:spPr>
        <p:txBody>
          <a:bodyPr wrap="square" lIns="0" tIns="0" rIns="0" bIns="0" rtlCol="0" anchor="t"/>
          <a:lstStyle/>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Third-person camera for exploring</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First-person camera for reading and aiming</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Toggled with C through Cinemachine priorities, so the view blends rather than cuts</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The minimap camera is separate and does not count toward the two</a:t>
            </a:r>
            <a:endParaRPr lang="en-US" sz="880" dirty="0"/>
          </a:p>
        </p:txBody>
      </p:sp>
      <p:sp>
        <p:nvSpPr>
          <p:cNvPr id="20" name="Shape 17"/>
          <p:cNvSpPr/>
          <p:nvPr/>
        </p:nvSpPr>
        <p:spPr>
          <a:xfrm>
            <a:off x="6620256" y="4663440"/>
            <a:ext cx="5010912" cy="1481328"/>
          </a:xfrm>
          <a:prstGeom prst="roundRect">
            <a:avLst>
              <a:gd name="adj" fmla="val 2469"/>
            </a:avLst>
          </a:prstGeom>
          <a:solidFill>
            <a:srgbClr val="141B36"/>
          </a:solidFill>
          <a:ln w="9525">
            <a:solidFill>
              <a:srgbClr val="2A3558"/>
            </a:solidFill>
            <a:prstDash val="solid"/>
          </a:ln>
        </p:spPr>
        <p:txBody>
          <a:bodyPr/>
          <a:lstStyle/>
          <a:p>
            <a:endParaRPr lang="en-US"/>
          </a:p>
        </p:txBody>
      </p:sp>
      <p:sp>
        <p:nvSpPr>
          <p:cNvPr id="21" name="Text 18"/>
          <p:cNvSpPr txBox="1"/>
          <p:nvPr/>
        </p:nvSpPr>
        <p:spPr>
          <a:xfrm>
            <a:off x="6839712" y="4809744"/>
            <a:ext cx="2743200" cy="219456"/>
          </a:xfrm>
          <a:prstGeom prst="rect">
            <a:avLst/>
          </a:prstGeom>
          <a:noFill/>
          <a:ln/>
        </p:spPr>
        <p:txBody>
          <a:bodyPr wrap="square" lIns="0" tIns="0" rIns="0" bIns="0" rtlCol="0" anchor="t"/>
          <a:lstStyle/>
          <a:p>
            <a:pPr marL="0" indent="0">
              <a:buNone/>
            </a:pPr>
            <a:r>
              <a:rPr lang="en-US" sz="800" b="1" kern="0" spc="140" dirty="0">
                <a:solidFill>
                  <a:srgbClr val="E8B54A"/>
                </a:solidFill>
                <a:latin typeface="Calibri" pitchFamily="34" charset="0"/>
                <a:ea typeface="Calibri" pitchFamily="34" charset="-122"/>
                <a:cs typeface="Calibri" pitchFamily="34" charset="-120"/>
              </a:rPr>
              <a:t>MINIMAP</a:t>
            </a:r>
            <a:endParaRPr lang="en-US" sz="800" dirty="0"/>
          </a:p>
        </p:txBody>
      </p:sp>
      <p:sp>
        <p:nvSpPr>
          <p:cNvPr id="22" name="Text 19"/>
          <p:cNvSpPr txBox="1"/>
          <p:nvPr/>
        </p:nvSpPr>
        <p:spPr>
          <a:xfrm>
            <a:off x="6839712" y="5065776"/>
            <a:ext cx="4572000" cy="1005840"/>
          </a:xfrm>
          <a:prstGeom prst="rect">
            <a:avLst/>
          </a:prstGeom>
          <a:noFill/>
          <a:ln/>
        </p:spPr>
        <p:txBody>
          <a:bodyPr wrap="square" lIns="0" tIns="0" rIns="0" bIns="0" rtlCol="0" anchor="t"/>
          <a:lstStyle/>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An orthographic camera rendering to a texture</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Follows Noa for the whole of MuseumNight</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Shows the player marker and the objective</a:t>
            </a:r>
            <a:endParaRPr lang="en-US" sz="880" dirty="0"/>
          </a:p>
          <a:p>
            <a:pPr marL="342900" indent="-342900">
              <a:lnSpc>
                <a:spcPts val="1250"/>
              </a:lnSpc>
              <a:spcAft>
                <a:spcPts val="300"/>
              </a:spcAft>
              <a:buSzPct val="100000"/>
              <a:buChar char="•"/>
            </a:pPr>
            <a:r>
              <a:rPr lang="en-US" sz="880" dirty="0">
                <a:solidFill>
                  <a:srgbClr val="C9D2E8"/>
                </a:solidFill>
                <a:latin typeface="Calibri" pitchFamily="34" charset="0"/>
                <a:ea typeface="Calibri" pitchFamily="34" charset="-122"/>
                <a:cs typeface="Calibri" pitchFamily="34" charset="-120"/>
              </a:rPr>
              <a:t>Generated from the museum geometry, so it matches what is really there</a:t>
            </a:r>
            <a:endParaRPr lang="en-US" sz="880" dirty="0"/>
          </a:p>
        </p:txBody>
      </p:sp>
      <p:sp>
        <p:nvSpPr>
          <p:cNvPr id="23" name="Shape 20"/>
          <p:cNvSpPr/>
          <p:nvPr/>
        </p:nvSpPr>
        <p:spPr>
          <a:xfrm>
            <a:off x="566928" y="4791456"/>
            <a:ext cx="5852160" cy="1408176"/>
          </a:xfrm>
          <a:prstGeom prst="roundRect">
            <a:avLst>
              <a:gd name="adj" fmla="val 2597"/>
            </a:avLst>
          </a:prstGeom>
          <a:solidFill>
            <a:srgbClr val="141B36"/>
          </a:solidFill>
          <a:ln w="9525">
            <a:solidFill>
              <a:srgbClr val="2A3558"/>
            </a:solidFill>
            <a:prstDash val="solid"/>
          </a:ln>
        </p:spPr>
        <p:txBody>
          <a:bodyPr/>
          <a:lstStyle/>
          <a:p>
            <a:endParaRPr lang="en-US"/>
          </a:p>
        </p:txBody>
      </p:sp>
      <p:sp>
        <p:nvSpPr>
          <p:cNvPr id="24" name="Text 21"/>
          <p:cNvSpPr txBox="1"/>
          <p:nvPr/>
        </p:nvSpPr>
        <p:spPr>
          <a:xfrm>
            <a:off x="786384" y="4974336"/>
            <a:ext cx="5413248" cy="1042416"/>
          </a:xfrm>
          <a:prstGeom prst="rect">
            <a:avLst/>
          </a:prstGeom>
          <a:noFill/>
          <a:ln/>
        </p:spPr>
        <p:txBody>
          <a:bodyPr wrap="square" lIns="0" tIns="0" rIns="0" bIns="0" rtlCol="0" anchor="t"/>
          <a:lstStyle/>
          <a:p>
            <a:pPr marL="0" indent="0">
              <a:lnSpc>
                <a:spcPts val="1420"/>
              </a:lnSpc>
              <a:buNone/>
            </a:pPr>
            <a:r>
              <a:rPr lang="en-US" sz="1000" dirty="0">
                <a:solidFill>
                  <a:srgbClr val="E8B54A"/>
                </a:solidFill>
                <a:latin typeface="Calibri" pitchFamily="34" charset="0"/>
                <a:ea typeface="Calibri" pitchFamily="34" charset="-122"/>
                <a:cs typeface="Calibri" pitchFamily="34" charset="-120"/>
              </a:rPr>
              <a:t>Objectives are written into the world as 3D text as well as on the HUD, and they name the era a task needs. A player who has forgotten what they were doing can look up and read it off a sign rather than a menu.</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Requirement Map — Core Gameplay</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Where each mandatory element is demonstrated</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73384" cy="3781552"/>
        </p:xfrm>
        <a:graphic>
          <a:graphicData uri="http://schemas.openxmlformats.org/drawingml/2006/table">
            <a:tbl>
              <a:tblPr/>
              <a:tblGrid>
                <a:gridCol w="2615184">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446520">
                  <a:extLst>
                    <a:ext uri="{9D8B030D-6E8A-4147-A177-3AD203B41FA5}">
                      <a16:colId xmlns:a16="http://schemas.microsoft.com/office/drawing/2014/main" val="20002"/>
                    </a:ext>
                  </a:extLst>
                </a:gridCol>
              </a:tblGrid>
              <a:tr h="301752">
                <a:tc>
                  <a:txBody>
                    <a:bodyPr/>
                    <a:lstStyle/>
                    <a:p>
                      <a:pPr marL="0" indent="0">
                        <a:buNone/>
                      </a:pPr>
                      <a:r>
                        <a:rPr lang="en-US" sz="920" b="1" dirty="0">
                          <a:solidFill>
                            <a:srgbClr val="1A1A1A"/>
                          </a:solidFill>
                          <a:latin typeface="Calibri" pitchFamily="34" charset="0"/>
                          <a:ea typeface="Calibri" pitchFamily="34" charset="-122"/>
                          <a:cs typeface="Calibri" pitchFamily="34" charset="-120"/>
                        </a:rPr>
                        <a:t>Requirement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E8B54A"/>
                    </a:solidFill>
                  </a:tcPr>
                </a:tc>
                <a:tc>
                  <a:txBody>
                    <a:bodyPr/>
                    <a:lstStyle/>
                    <a:p>
                      <a:pPr marL="0" indent="0">
                        <a:buNone/>
                      </a:pPr>
                      <a:r>
                        <a:rPr lang="en-US" sz="920" b="1" dirty="0">
                          <a:solidFill>
                            <a:srgbClr val="1A1A1A"/>
                          </a:solidFill>
                          <a:latin typeface="Calibri" pitchFamily="34" charset="0"/>
                          <a:ea typeface="Calibri" pitchFamily="34" charset="-122"/>
                          <a:cs typeface="Calibri" pitchFamily="34" charset="-120"/>
                        </a:rPr>
                        <a:t>Where it is demonstrated</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E8B54A"/>
                    </a:solidFill>
                  </a:tcPr>
                </a:tc>
                <a:tc>
                  <a:txBody>
                    <a:bodyPr/>
                    <a:lstStyle/>
                    <a:p>
                      <a:pPr marL="0" indent="0">
                        <a:buNone/>
                      </a:pPr>
                      <a:r>
                        <a:rPr lang="en-US" sz="920" b="1" dirty="0">
                          <a:solidFill>
                            <a:srgbClr val="1A1A1A"/>
                          </a:solidFill>
                          <a:latin typeface="Calibri" pitchFamily="34" charset="0"/>
                          <a:ea typeface="Calibri" pitchFamily="34" charset="-122"/>
                          <a:cs typeface="Calibri" pitchFamily="34" charset="-120"/>
                        </a:rPr>
                        <a:t>How it is done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E8B54A"/>
                    </a:solidFill>
                  </a:tcPr>
                </a:tc>
                <a:extLst>
                  <a:ext uri="{0D108BD9-81ED-4DB2-BD59-A6C34878D82A}">
                    <a16:rowId xmlns:a16="http://schemas.microsoft.com/office/drawing/2014/main" val="10000"/>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Entry and victory menus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MainMenu, Victory</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New Game, Continue, Controls and Quit; Continue unlocks only when a save exists. Victory reports score, shards, detections and playtime.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1"/>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In-game tutorial, dynamic text, in 3D</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15 world-space signs raised by their own triggers; the text substitutes the player’s live health and energy as it appears.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2"/>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At least four triggers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27 trigger volumes of six distinct kinds: room entry, tutorial, era zone, hazard, scene exit and hidden anchor.</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3"/>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At least three collisions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Four handlers read contact data: the thrown orb, falling debris, the swinging hazards, and the Collector.</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4"/>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Physical hinge joints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Six hinges: clock pendulum, motorised gate, signboard, tower bell and two arena pendulums.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5"/>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Self-built Terrain</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FrozenCity</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A 513 × 513 heightmap over 200 × 40 × 200 m, sculpted and painted with three surface layers made in-project.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6"/>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Patrol with pause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Four waypoints per route with real stops of 2.5–3.0 seconds, during which the guard sweeps its head.</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7"/>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Score, health and energy</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Plaques and shards add score; theft, capture and death subtract it. Energy pays for era travel, orbs and slowing time.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8"/>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Parameters between scenes, two acquired items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One serialized state carries health, energy, score, shards, both items and the last checkpoint. The Lens and the Hourglass each gate a door.</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9"/>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Two assets fractured with Voronoi</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MuseumNight, FrozenCity</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Clock of Creation into 29 shards, Frozen Statue into 48; every shard has its own rigidbody.</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10"/>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Two assets reduced and used as LOD</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five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Stone Column at 4 992 / 2 496 / 998 triangles and Marble Statue at 9 760 / 4 880 / 1 952, both as three-tier LOD groups.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11"/>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428"/>
        </a:solidFill>
        <a:effectLst/>
      </p:bgPr>
    </p:bg>
    <p:spTree>
      <p:nvGrpSpPr>
        <p:cNvPr id="1" name=""/>
        <p:cNvGrpSpPr/>
        <p:nvPr/>
      </p:nvGrpSpPr>
      <p:grpSpPr>
        <a:xfrm>
          <a:off x="0" y="0"/>
          <a:ext cx="0" cy="0"/>
          <a:chOff x="0" y="0"/>
          <a:chExt cx="0" cy="0"/>
        </a:xfrm>
      </p:grpSpPr>
      <p:sp>
        <p:nvSpPr>
          <p:cNvPr id="2" name="Shape 0"/>
          <p:cNvSpPr/>
          <p:nvPr/>
        </p:nvSpPr>
        <p:spPr>
          <a:xfrm>
            <a:off x="10442448"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3" name="Shape 1"/>
          <p:cNvSpPr/>
          <p:nvPr/>
        </p:nvSpPr>
        <p:spPr>
          <a:xfrm>
            <a:off x="10616184"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4" name="Shape 2"/>
          <p:cNvSpPr/>
          <p:nvPr/>
        </p:nvSpPr>
        <p:spPr>
          <a:xfrm>
            <a:off x="10789920"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5" name="Shape 3"/>
          <p:cNvSpPr/>
          <p:nvPr/>
        </p:nvSpPr>
        <p:spPr>
          <a:xfrm>
            <a:off x="10963656" y="566928"/>
            <a:ext cx="68580" cy="68580"/>
          </a:xfrm>
          <a:prstGeom prst="ellipse">
            <a:avLst/>
          </a:prstGeom>
          <a:solidFill>
            <a:srgbClr val="2A3558"/>
          </a:solidFill>
          <a:ln w="12700">
            <a:solidFill>
              <a:srgbClr val="2A3558"/>
            </a:solidFill>
            <a:prstDash val="solid"/>
          </a:ln>
        </p:spPr>
        <p:txBody>
          <a:bodyPr/>
          <a:lstStyle/>
          <a:p>
            <a:endParaRPr lang="en-US"/>
          </a:p>
        </p:txBody>
      </p:sp>
      <p:sp>
        <p:nvSpPr>
          <p:cNvPr id="6" name="Shape 4"/>
          <p:cNvSpPr/>
          <p:nvPr/>
        </p:nvSpPr>
        <p:spPr>
          <a:xfrm>
            <a:off x="11137392" y="566928"/>
            <a:ext cx="68580" cy="68580"/>
          </a:xfrm>
          <a:prstGeom prst="ellipse">
            <a:avLst/>
          </a:prstGeom>
          <a:solidFill>
            <a:srgbClr val="E8B54A"/>
          </a:solidFill>
          <a:ln w="12700">
            <a:solidFill>
              <a:srgbClr val="2A3558"/>
            </a:solidFill>
            <a:prstDash val="solid"/>
          </a:ln>
        </p:spPr>
        <p:txBody>
          <a:bodyPr/>
          <a:lstStyle/>
          <a:p>
            <a:endParaRPr lang="en-US"/>
          </a:p>
        </p:txBody>
      </p:sp>
      <p:sp>
        <p:nvSpPr>
          <p:cNvPr id="7" name="Text 5"/>
          <p:cNvSpPr txBox="1"/>
          <p:nvPr/>
        </p:nvSpPr>
        <p:spPr>
          <a:xfrm>
            <a:off x="566928" y="329184"/>
            <a:ext cx="9509760" cy="603504"/>
          </a:xfrm>
          <a:prstGeom prst="rect">
            <a:avLst/>
          </a:prstGeom>
          <a:noFill/>
          <a:ln/>
        </p:spPr>
        <p:txBody>
          <a:bodyPr wrap="square" lIns="0" tIns="0" rIns="0" bIns="0" rtlCol="0" anchor="ctr"/>
          <a:lstStyle/>
          <a:p>
            <a:pPr marL="0" indent="0">
              <a:buNone/>
            </a:pPr>
            <a:r>
              <a:rPr lang="en-US" sz="2800" b="1" dirty="0">
                <a:solidFill>
                  <a:srgbClr val="FFFFFF"/>
                </a:solidFill>
                <a:latin typeface="Calibri" pitchFamily="34" charset="0"/>
                <a:ea typeface="Calibri" pitchFamily="34" charset="-122"/>
                <a:cs typeface="Calibri" pitchFamily="34" charset="-120"/>
              </a:rPr>
              <a:t>Requirement Map — Technical Systems</a:t>
            </a:r>
            <a:endParaRPr lang="en-US" sz="2800" dirty="0"/>
          </a:p>
        </p:txBody>
      </p:sp>
      <p:sp>
        <p:nvSpPr>
          <p:cNvPr id="8" name="Text 6"/>
          <p:cNvSpPr txBox="1"/>
          <p:nvPr/>
        </p:nvSpPr>
        <p:spPr>
          <a:xfrm>
            <a:off x="585216" y="914400"/>
            <a:ext cx="9509760" cy="274320"/>
          </a:xfrm>
          <a:prstGeom prst="rect">
            <a:avLst/>
          </a:prstGeom>
          <a:noFill/>
          <a:ln/>
        </p:spPr>
        <p:txBody>
          <a:bodyPr wrap="square" lIns="0" tIns="0" rIns="0" bIns="0" rtlCol="0" anchor="t"/>
          <a:lstStyle/>
          <a:p>
            <a:pPr marL="0" indent="0">
              <a:buNone/>
            </a:pPr>
            <a:r>
              <a:rPr lang="en-US" sz="1050" b="1" dirty="0">
                <a:solidFill>
                  <a:srgbClr val="E8B54A"/>
                </a:solidFill>
                <a:latin typeface="Calibri" pitchFamily="34" charset="0"/>
                <a:ea typeface="Calibri" pitchFamily="34" charset="-122"/>
                <a:cs typeface="Calibri" pitchFamily="34" charset="-120"/>
              </a:rPr>
              <a:t>AI, input, cameras and the teleport rule</a:t>
            </a:r>
            <a:endParaRPr lang="en-US" sz="1050" dirty="0"/>
          </a:p>
        </p:txBody>
      </p:sp>
      <p:sp>
        <p:nvSpPr>
          <p:cNvPr id="9" name="Text 7"/>
          <p:cNvSpPr txBox="1"/>
          <p:nvPr/>
        </p:nvSpPr>
        <p:spPr>
          <a:xfrm>
            <a:off x="566928" y="6400800"/>
            <a:ext cx="7315200" cy="256032"/>
          </a:xfrm>
          <a:prstGeom prst="rect">
            <a:avLst/>
          </a:prstGeom>
          <a:noFill/>
          <a:ln/>
        </p:spPr>
        <p:txBody>
          <a:bodyPr wrap="square" lIns="0" tIns="0" rIns="0" bIns="0" rtlCol="0" anchor="ctr"/>
          <a:lstStyle/>
          <a:p>
            <a:pPr marL="0" indent="0">
              <a:buNone/>
            </a:pPr>
            <a:r>
              <a:rPr lang="en-US" sz="800" dirty="0">
                <a:solidFill>
                  <a:srgbClr val="55608A"/>
                </a:solidFill>
                <a:latin typeface="Calibri" pitchFamily="34" charset="0"/>
                <a:ea typeface="Calibri" pitchFamily="34" charset="-122"/>
                <a:cs typeface="Calibri" pitchFamily="34" charset="-120"/>
              </a:rPr>
              <a:t>The Museum of Time — Game Design Document</a:t>
            </a:r>
            <a:endParaRPr lang="en-US" sz="800" dirty="0"/>
          </a:p>
        </p:txBody>
      </p:sp>
      <p:sp>
        <p:nvSpPr>
          <p:cNvPr id="10" name="Text 8"/>
          <p:cNvSpPr txBox="1"/>
          <p:nvPr/>
        </p:nvSpPr>
        <p:spPr>
          <a:xfrm>
            <a:off x="11064240" y="6400800"/>
            <a:ext cx="548640" cy="256032"/>
          </a:xfrm>
          <a:prstGeom prst="rect">
            <a:avLst/>
          </a:prstGeom>
          <a:noFill/>
          <a:ln/>
        </p:spPr>
        <p:txBody>
          <a:bodyPr wrap="square" lIns="0" tIns="0" rIns="0" bIns="0" rtlCol="0" anchor="ctr"/>
          <a:lstStyle/>
          <a:p>
            <a:pPr marL="0" indent="0" algn="r">
              <a:buNone/>
            </a:pPr>
            <a:r>
              <a:rPr lang="en-US" sz="800" dirty="0">
                <a:solidFill>
                  <a:srgbClr val="55608A"/>
                </a:solidFill>
                <a:latin typeface="Calibri" pitchFamily="34" charset="0"/>
                <a:ea typeface="Calibri" pitchFamily="34" charset="-122"/>
                <a:cs typeface="Calibri" pitchFamily="34" charset="-120"/>
              </a:rPr>
              <a:t>17</a:t>
            </a:r>
            <a:endParaRPr lang="en-US" sz="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426464"/>
          <a:ext cx="11073384" cy="3720592"/>
        </p:xfrm>
        <a:graphic>
          <a:graphicData uri="http://schemas.openxmlformats.org/drawingml/2006/table">
            <a:tbl>
              <a:tblPr/>
              <a:tblGrid>
                <a:gridCol w="2615184">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6446520">
                  <a:extLst>
                    <a:ext uri="{9D8B030D-6E8A-4147-A177-3AD203B41FA5}">
                      <a16:colId xmlns:a16="http://schemas.microsoft.com/office/drawing/2014/main" val="20002"/>
                    </a:ext>
                  </a:extLst>
                </a:gridCol>
              </a:tblGrid>
              <a:tr h="301752">
                <a:tc>
                  <a:txBody>
                    <a:bodyPr/>
                    <a:lstStyle/>
                    <a:p>
                      <a:pPr marL="0" indent="0">
                        <a:buNone/>
                      </a:pPr>
                      <a:r>
                        <a:rPr lang="en-US" sz="920" b="1" dirty="0">
                          <a:solidFill>
                            <a:srgbClr val="1A1A1A"/>
                          </a:solidFill>
                          <a:latin typeface="Calibri" pitchFamily="34" charset="0"/>
                          <a:ea typeface="Calibri" pitchFamily="34" charset="-122"/>
                          <a:cs typeface="Calibri" pitchFamily="34" charset="-120"/>
                        </a:rPr>
                        <a:t>Requirement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E8B54A"/>
                    </a:solidFill>
                  </a:tcPr>
                </a:tc>
                <a:tc>
                  <a:txBody>
                    <a:bodyPr/>
                    <a:lstStyle/>
                    <a:p>
                      <a:pPr marL="0" indent="0">
                        <a:buNone/>
                      </a:pPr>
                      <a:r>
                        <a:rPr lang="en-US" sz="920" b="1" dirty="0">
                          <a:solidFill>
                            <a:srgbClr val="1A1A1A"/>
                          </a:solidFill>
                          <a:latin typeface="Calibri" pitchFamily="34" charset="0"/>
                          <a:ea typeface="Calibri" pitchFamily="34" charset="-122"/>
                          <a:cs typeface="Calibri" pitchFamily="34" charset="-120"/>
                        </a:rPr>
                        <a:t>Where it is demonstrated</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E8B54A"/>
                    </a:solidFill>
                  </a:tcPr>
                </a:tc>
                <a:tc>
                  <a:txBody>
                    <a:bodyPr/>
                    <a:lstStyle/>
                    <a:p>
                      <a:pPr marL="0" indent="0">
                        <a:buNone/>
                      </a:pPr>
                      <a:r>
                        <a:rPr lang="en-US" sz="920" b="1" dirty="0">
                          <a:solidFill>
                            <a:srgbClr val="1A1A1A"/>
                          </a:solidFill>
                          <a:latin typeface="Calibri" pitchFamily="34" charset="0"/>
                          <a:ea typeface="Calibri" pitchFamily="34" charset="-122"/>
                          <a:cs typeface="Calibri" pitchFamily="34" charset="-120"/>
                        </a:rPr>
                        <a:t>How it is done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E8B54A"/>
                    </a:solidFill>
                  </a:tcPr>
                </a:tc>
                <a:extLst>
                  <a:ext uri="{0D108BD9-81ED-4DB2-BD59-A6C34878D82A}">
                    <a16:rowId xmlns:a16="http://schemas.microsoft.com/office/drawing/2014/main" val="10000"/>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Only the new Input System</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Whole project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One action asset and one reader class. There is no call to the legacy Input class anywhere, in gameplay code or editor tooling.</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1"/>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Steering AI, two agent types, separate bakes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Seek, flee and pursue are named methods. Warden and Shadow have different agent types and their own baked navmesh surface in every scene.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2"/>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Animator defined by hand, four or more states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Player and Warden</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Noa’s controller has six states, the Warden’s five. Both were authored in the project rather than imported with a model.</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3"/>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Shooting — impact of a physical body</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The Chrono Orb is a rigidbody sphere; its effect is scaled by the relative velocity of the impact, so a tap and a hard throw differ.</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4"/>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Recast together with stealth</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Navmesh bakes plus a three-stage sight test — distance, view cone, then line of sight — with a detection meter that decays when sight is broken.</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5"/>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LayerMask defined in code, against Recast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AI and interaction</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Masks are built with LayerMask.GetMask when each component wakes, not assigned in the Inspector.</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6"/>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Simple minimap, one whole scene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MuseumNight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An orthographic camera renders to a texture and follows the player for the entire scene, with a marker and the objective on it.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7"/>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First to third person, two cameras besides the minimap</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All three scenes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Two Cinemachine cameras and a Brain, toggled with C so the view blends. The minimap camera is a separate third camera.</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08"/>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Two-storey building, own textures, stairs</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MuseumNight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The museum has an upper floor at 5 m reached by a stepped staircase, dressed with marble, plank and plaster textures generated in-project.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41B36"/>
                    </a:solidFill>
                  </a:tcPr>
                </a:tc>
                <a:extLst>
                  <a:ext uri="{0D108BD9-81ED-4DB2-BD59-A6C34878D82A}">
                    <a16:rowId xmlns:a16="http://schemas.microsoft.com/office/drawing/2014/main" val="10009"/>
                  </a:ext>
                </a:extLst>
              </a:tr>
              <a:tr h="301752">
                <a:tc>
                  <a:txBody>
                    <a:bodyPr/>
                    <a:lstStyle/>
                    <a:p>
                      <a:pPr marL="0" indent="0">
                        <a:buNone/>
                      </a:pPr>
                      <a:r>
                        <a:rPr lang="en-US" sz="920" b="1" dirty="0">
                          <a:solidFill>
                            <a:srgbClr val="FFFFFF"/>
                          </a:solidFill>
                          <a:latin typeface="Calibri" pitchFamily="34" charset="0"/>
                          <a:ea typeface="Calibri" pitchFamily="34" charset="-122"/>
                          <a:cs typeface="Calibri" pitchFamily="34" charset="-120"/>
                        </a:rPr>
                        <a:t>Two hidden teleports from the second scene onward</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E8B54A"/>
                          </a:solidFill>
                          <a:latin typeface="Calibri" pitchFamily="34" charset="0"/>
                          <a:ea typeface="Calibri" pitchFamily="34" charset="-122"/>
                          <a:cs typeface="Calibri" pitchFamily="34" charset="-120"/>
                        </a:rPr>
                        <a:t>FrozenCity, ClockCore</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tc>
                  <a:txBody>
                    <a:bodyPr/>
                    <a:lstStyle/>
                    <a:p>
                      <a:pPr marL="0" indent="0">
                        <a:buNone/>
                      </a:pPr>
                      <a:r>
                        <a:rPr lang="en-US" sz="920" dirty="0">
                          <a:solidFill>
                            <a:srgbClr val="C9D2E8"/>
                          </a:solidFill>
                          <a:latin typeface="Calibri" pitchFamily="34" charset="0"/>
                          <a:ea typeface="Calibri" pitchFamily="34" charset="-122"/>
                          <a:cs typeface="Calibri" pitchFamily="34" charset="-120"/>
                        </a:rPr>
                        <a:t>Two anchors in each, invisible without the Time Lens. Failing returns Noa to the last one armed with health restored, not to the level start.</a:t>
                      </a:r>
                      <a:endParaRPr lang="en-US" sz="920" dirty="0">
                        <a:latin typeface="Calibri" charset="0"/>
                        <a:ea typeface="Calibri" charset="0"/>
                        <a:cs typeface="Calibri" charset="0"/>
                      </a:endParaRPr>
                    </a:p>
                  </a:txBody>
                  <a:tcPr marL="88900" marR="88900" marT="50800" marB="50800" anchor="ctr">
                    <a:lnL w="6350" cap="flat" cmpd="sng" algn="ctr">
                      <a:solidFill>
                        <a:srgbClr val="2A3558"/>
                      </a:solidFill>
                      <a:prstDash val="solid"/>
                      <a:round/>
                      <a:headEnd type="none" w="med" len="med"/>
                      <a:tailEnd type="none" w="med" len="med"/>
                    </a:lnL>
                    <a:lnR w="6350" cap="flat" cmpd="sng" algn="ctr">
                      <a:solidFill>
                        <a:srgbClr val="2A3558"/>
                      </a:solidFill>
                      <a:prstDash val="solid"/>
                      <a:round/>
                      <a:headEnd type="none" w="med" len="med"/>
                      <a:tailEnd type="none" w="med" len="med"/>
                    </a:lnR>
                    <a:lnT w="6350" cap="flat" cmpd="sng" algn="ctr">
                      <a:solidFill>
                        <a:srgbClr val="2A3558"/>
                      </a:solidFill>
                      <a:prstDash val="solid"/>
                      <a:round/>
                      <a:headEnd type="none" w="med" len="med"/>
                      <a:tailEnd type="none" w="med" len="med"/>
                    </a:lnT>
                    <a:lnB w="6350" cap="flat" cmpd="sng" algn="ctr">
                      <a:solidFill>
                        <a:srgbClr val="2A3558"/>
                      </a:solidFill>
                      <a:prstDash val="solid"/>
                      <a:round/>
                      <a:headEnd type="none" w="med" len="med"/>
                      <a:tailEnd type="none" w="med" len="med"/>
                    </a:lnB>
                    <a:solidFill>
                      <a:srgbClr val="1A2340"/>
                    </a:solidFill>
                  </a:tcPr>
                </a:tc>
                <a:extLst>
                  <a:ext uri="{0D108BD9-81ED-4DB2-BD59-A6C34878D82A}">
                    <a16:rowId xmlns:a16="http://schemas.microsoft.com/office/drawing/2014/main" val="10010"/>
                  </a:ext>
                </a:extLst>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25</TotalTime>
  <Words>3774</Words>
  <Application>Microsoft Office PowerPoint</Application>
  <PresentationFormat>Widescreen</PresentationFormat>
  <Paragraphs>464</Paragraphs>
  <Slides>17</Slides>
  <Notes>17</Notes>
  <HiddenSlides>2</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Museum of Time - Game Design Document</dc:title>
  <dc:subject>PptxGenJS Presentation</dc:subject>
  <dc:creator>Ofri Hamou</dc:creator>
  <cp:lastModifiedBy>Pilnick Jonathan</cp:lastModifiedBy>
  <cp:revision>7</cp:revision>
  <dcterms:created xsi:type="dcterms:W3CDTF">2026-08-29T07:50:50Z</dcterms:created>
  <dcterms:modified xsi:type="dcterms:W3CDTF">2026-08-29T08:19:45Z</dcterms:modified>
</cp:coreProperties>
</file>