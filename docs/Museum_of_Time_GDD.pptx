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pic>
        <p:nvPicPr>
          <p:cNvPr id="5" name="Image 0" descr="/mnt/data/gdd_assets/page1_img3.jpeg">    </p:cNvPr>
          <p:cNvPicPr>
            <a:picLocks noChangeAspect="1"/>
          </p:cNvPicPr>
          <p:nvPr/>
        </p:nvPicPr>
        <p:blipFill>
          <a:blip r:embed="rId1"/>
          <a:srcRect l="3000" r="-3436" t="2000" b="2000"/>
          <a:stretch/>
        </p:blipFill>
        <p:spPr>
          <a:xfrm>
            <a:off x="6492240" y="566928"/>
            <a:ext cx="516636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100584"/>
            <a:ext cx="6309360" cy="6757416"/>
          </a:xfrm>
          <a:prstGeom prst="rect">
            <a:avLst/>
          </a:prstGeom>
          <a:solidFill>
            <a:srgbClr val="0D1426"/>
          </a:solidFill>
          <a:ln w="12700">
            <a:solidFill>
              <a:srgbClr val="0D142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658368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Museum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Time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13232" y="233172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992"/>
                </a:solidFill>
              </a:rPr>
              <a:t>Game Design Document · Unity Final Project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13232" y="2798064"/>
            <a:ext cx="4480560" cy="0"/>
          </a:xfrm>
          <a:prstGeom prst="line">
            <a:avLst/>
          </a:prstGeom>
          <a:noFill/>
          <a:ln w="19050">
            <a:solidFill>
              <a:srgbClr val="D8AE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31272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BD2E0"/>
                </a:solidFill>
              </a:rPr>
              <a:t>Participant: Ofri Hamo · ID 211906813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13232" y="3529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2E0"/>
                </a:solidFill>
              </a:rPr>
              <a:t>Known Bugs: None currently known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232" y="3913632"/>
            <a:ext cx="5120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AAC2"/>
                </a:solidFill>
              </a:rPr>
              <a:t>Trailer: YouTube link to be added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AAC2"/>
                </a:solidFill>
              </a:rPr>
              <a:t>Repository: source-code link to be added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32" y="4919472"/>
            <a:ext cx="51206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EFE1"/>
                </a:solidFill>
              </a:rPr>
              <a:t>High concept: a night guard enters fractured historical moments to restore the stolen “first moment” and repair the timeline.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Concept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A compact 3D adventure-puzzle built around cause and effect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271016"/>
            <a:ext cx="3986784" cy="4443984"/>
          </a:xfrm>
          <a:prstGeom prst="roundRect">
            <a:avLst>
              <a:gd name="adj" fmla="val 1835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1_img3.jpeg">    </p:cNvPr>
          <p:cNvPicPr>
            <a:picLocks noChangeAspect="1"/>
          </p:cNvPicPr>
          <p:nvPr/>
        </p:nvPicPr>
        <p:blipFill>
          <a:blip r:embed="rId1"/>
          <a:srcRect l="4000" r="87" t="0" b="2000"/>
          <a:stretch/>
        </p:blipFill>
        <p:spPr>
          <a:xfrm>
            <a:off x="594360" y="1298448"/>
            <a:ext cx="3931920" cy="4389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00600" y="1298448"/>
            <a:ext cx="6355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EFE1"/>
                </a:solidFill>
              </a:rPr>
              <a:t>The player controls Noah, a young museum night guard who discovers that each exhibit is a portal into a real historical moment.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92040" y="2359152"/>
            <a:ext cx="6080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museum’s “first moment” has been stolen, causing history to collapse.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level is a contained time puzzle: change the past, survive the present, verify the future.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Gameplay focuses on exploration, stealth, short physics interactions, and readable objectives.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scope is intentionally limited to 3 gameplay scenes so every course requirement can be demonstrated clearly.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4800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8AE55"/>
                </a:solidFill>
              </a:rPr>
              <a:t>3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4892040" y="5330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2E0"/>
                </a:solidFill>
              </a:rPr>
              <a:t>gameplay scenes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6812280" y="4800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8D0D3"/>
                </a:solidFill>
              </a:rPr>
              <a:t>2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6812280" y="5330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2E0"/>
                </a:solidFill>
              </a:rPr>
              <a:t>carry-over items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8732520" y="48006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C7BFF"/>
                </a:solidFill>
              </a:rPr>
              <a:t>≤300MB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8732520" y="5330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2E0"/>
                </a:solidFill>
              </a:rPr>
              <a:t>compressed build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 &amp; Player 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Noah restores broken moments without rewriting history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143000"/>
            <a:ext cx="4992624" cy="2798064"/>
          </a:xfrm>
          <a:prstGeom prst="roundRect">
            <a:avLst>
              <a:gd name="adj" fmla="val 261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6_img1.jpeg">    </p:cNvPr>
          <p:cNvPicPr>
            <a:picLocks noChangeAspect="1"/>
          </p:cNvPicPr>
          <p:nvPr/>
        </p:nvPicPr>
        <p:blipFill>
          <a:blip r:embed="rId1"/>
          <a:srcRect l="116" r="116" t="0" b="0"/>
          <a:stretch/>
        </p:blipFill>
        <p:spPr>
          <a:xfrm>
            <a:off x="6400800" y="1170432"/>
            <a:ext cx="4937760" cy="2743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1234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NARRATIVE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5800" y="1536192"/>
            <a:ext cx="5349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EFE1"/>
                </a:solidFill>
              </a:rPr>
              <a:t>After the Clock of Creation breaks, historical eras begin to overlap inside the museum. Noah is the only person who remembers the original timeline.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85800" y="2834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PLAYER GOALS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7240" y="3154680"/>
            <a:ext cx="49377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museum and its time portals.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Time Shards and repair broken exhibits.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hostile Time Guards and Chrono Shadows.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time tools to solve short cause-effect puzzles.</a:t>
            </a:r>
            <a:endParaRPr lang="en-US" sz="1600" dirty="0"/>
          </a:p>
          <a:p>
            <a:r>
              <a:rPr lang="en-US" sz="16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 the Collector at the Clock Core.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4251960"/>
            <a:ext cx="4937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1D992"/>
                </a:solidFill>
              </a:rPr>
              <a:t>Final choice: restore the timeline, preserve one change, or become the new guardian of time.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Gameplay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Simple repeated loop used in every scene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417320"/>
            <a:ext cx="1998878" cy="1097280"/>
          </a:xfrm>
          <a:prstGeom prst="roundRect">
            <a:avLst>
              <a:gd name="adj" fmla="val 666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1581912"/>
            <a:ext cx="188915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Explore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time room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803550" y="19659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0710" y="1417320"/>
            <a:ext cx="1998878" cy="1097280"/>
          </a:xfrm>
          <a:prstGeom prst="roundRect">
            <a:avLst>
              <a:gd name="adj" fmla="val 666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5574" y="1581912"/>
            <a:ext cx="188915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Find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problem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967021" y="19659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4181" y="1417320"/>
            <a:ext cx="1998878" cy="1097280"/>
          </a:xfrm>
          <a:prstGeom prst="roundRect">
            <a:avLst>
              <a:gd name="adj" fmla="val 666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9045" y="1581912"/>
            <a:ext cx="188915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Switch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time state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30491" y="19659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7651" y="1417320"/>
            <a:ext cx="1998878" cy="1097280"/>
          </a:xfrm>
          <a:prstGeom prst="roundRect">
            <a:avLst>
              <a:gd name="adj" fmla="val 666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22515" y="1581912"/>
            <a:ext cx="188915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Solve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puzzle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293962" y="19659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31122" y="1417320"/>
            <a:ext cx="1998878" cy="1097280"/>
          </a:xfrm>
          <a:prstGeom prst="roundRect">
            <a:avLst>
              <a:gd name="adj" fmla="val 666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85986" y="1581912"/>
            <a:ext cx="188915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Escape /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collect shard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554480" y="2926080"/>
            <a:ext cx="2743200" cy="1234440"/>
          </a:xfrm>
          <a:prstGeom prst="arc">
            <a:avLst/>
          </a:prstGeom>
          <a:solidFill>
            <a:srgbClr val="0D1426">
              <a:alpha val="0"/>
            </a:srgbClr>
          </a:solidFill>
          <a:ln w="1905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886200" y="2788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1"/>
                </a:solidFill>
              </a:rPr>
              <a:t>Time is the main mechanic, not only the story theme.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77640" y="3383280"/>
            <a:ext cx="48463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7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Past: move objects, place keys, prevent damage.</a:t>
            </a:r>
            <a:endParaRPr lang="en-US" sz="1700" dirty="0"/>
          </a:p>
          <a:p>
            <a:r>
              <a:rPr lang="en-US" sz="17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Present: perform the main puzzle objective.</a:t>
            </a:r>
            <a:endParaRPr lang="en-US" sz="1700" dirty="0"/>
          </a:p>
          <a:p>
            <a:r>
              <a:rPr lang="en-US" sz="17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check consequences and unlock the next path.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868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992"/>
                </a:solidFill>
              </a:rPr>
              <a:t>Player verbs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94560" y="5074920"/>
            <a:ext cx="1459382" cy="694944"/>
          </a:xfrm>
          <a:prstGeom prst="roundRect">
            <a:avLst>
              <a:gd name="adj" fmla="val 10526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9424" y="5239512"/>
            <a:ext cx="134965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Move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3681374" y="5422392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18534" y="5074920"/>
            <a:ext cx="1459382" cy="694944"/>
          </a:xfrm>
          <a:prstGeom prst="roundRect">
            <a:avLst>
              <a:gd name="adj" fmla="val 10526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3398" y="5239512"/>
            <a:ext cx="134965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Interact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305349" y="5422392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42509" y="5074920"/>
            <a:ext cx="1459382" cy="694944"/>
          </a:xfrm>
          <a:prstGeom prst="roundRect">
            <a:avLst>
              <a:gd name="adj" fmla="val 10526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7373" y="5239512"/>
            <a:ext cx="134965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Shoot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929323" y="5422392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66483" y="5074920"/>
            <a:ext cx="1459382" cy="694944"/>
          </a:xfrm>
          <a:prstGeom prst="roundRect">
            <a:avLst>
              <a:gd name="adj" fmla="val 10526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1347" y="5239512"/>
            <a:ext cx="134965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Slow time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8553298" y="5422392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90458" y="5074920"/>
            <a:ext cx="1459382" cy="694944"/>
          </a:xfrm>
          <a:prstGeom prst="roundRect">
            <a:avLst>
              <a:gd name="adj" fmla="val 10526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45322" y="5239512"/>
            <a:ext cx="134965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Hide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Player, Controls &amp; Input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New Input System only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07008"/>
            <a:ext cx="2798064" cy="3941064"/>
          </a:xfrm>
          <a:prstGeom prst="roundRect">
            <a:avLst>
              <a:gd name="adj" fmla="val 261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4_img1.jpeg">    </p:cNvPr>
          <p:cNvPicPr>
            <a:picLocks noChangeAspect="1"/>
          </p:cNvPicPr>
          <p:nvPr/>
        </p:nvPicPr>
        <p:blipFill>
          <a:blip r:embed="rId1"/>
          <a:srcRect l="5791" r="5791" t="0" b="0"/>
          <a:stretch/>
        </p:blipFill>
        <p:spPr>
          <a:xfrm>
            <a:off x="685800" y="1234440"/>
            <a:ext cx="2743200" cy="3886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D992"/>
                </a:solidFill>
              </a:rPr>
              <a:t>Noah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40480" y="12344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INPUT ACTIONS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88620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Move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598932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WASD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388620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Look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98932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Mouse</a:t>
            </a:r>
            <a:endParaRPr lang="en-US" sz="1280" dirty="0"/>
          </a:p>
        </p:txBody>
      </p:sp>
      <p:sp>
        <p:nvSpPr>
          <p:cNvPr id="20" name="Text 17"/>
          <p:cNvSpPr/>
          <p:nvPr/>
        </p:nvSpPr>
        <p:spPr>
          <a:xfrm>
            <a:off x="388620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Run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5989320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Shift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3886200" y="27797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Jump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5989320" y="2779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Space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3886200" y="31638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Interact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5989320" y="3163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E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3886200" y="35478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Shoot Time Bolt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5989320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Left Mouse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3886200" y="3931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Slow Time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5989320" y="3931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Ctrl</a:t>
            </a:r>
            <a:endParaRPr lang="en-US" sz="1280" dirty="0"/>
          </a:p>
        </p:txBody>
      </p:sp>
      <p:sp>
        <p:nvSpPr>
          <p:cNvPr id="30" name="Text 27"/>
          <p:cNvSpPr/>
          <p:nvPr/>
        </p:nvSpPr>
        <p:spPr>
          <a:xfrm>
            <a:off x="3886200" y="43159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Camera Toggle</a:t>
            </a:r>
            <a:endParaRPr lang="en-US" sz="1280" dirty="0"/>
          </a:p>
        </p:txBody>
      </p:sp>
      <p:sp>
        <p:nvSpPr>
          <p:cNvPr id="31" name="Text 28"/>
          <p:cNvSpPr/>
          <p:nvPr/>
        </p:nvSpPr>
        <p:spPr>
          <a:xfrm>
            <a:off x="5989320" y="4315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C</a:t>
            </a:r>
            <a:endParaRPr lang="en-US" sz="1280" dirty="0"/>
          </a:p>
        </p:txBody>
      </p:sp>
      <p:sp>
        <p:nvSpPr>
          <p:cNvPr id="32" name="Text 29"/>
          <p:cNvSpPr/>
          <p:nvPr/>
        </p:nvSpPr>
        <p:spPr>
          <a:xfrm>
            <a:off x="3886200" y="47000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Time Shift</a:t>
            </a:r>
            <a:endParaRPr lang="en-US" sz="1280" dirty="0"/>
          </a:p>
        </p:txBody>
      </p:sp>
      <p:sp>
        <p:nvSpPr>
          <p:cNvPr id="33" name="Text 30"/>
          <p:cNvSpPr/>
          <p:nvPr/>
        </p:nvSpPr>
        <p:spPr>
          <a:xfrm>
            <a:off x="5989320" y="4700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Q / R</a:t>
            </a:r>
            <a:endParaRPr lang="en-US" sz="1280" dirty="0"/>
          </a:p>
        </p:txBody>
      </p:sp>
      <p:sp>
        <p:nvSpPr>
          <p:cNvPr id="34" name="Text 31"/>
          <p:cNvSpPr/>
          <p:nvPr/>
        </p:nvSpPr>
        <p:spPr>
          <a:xfrm>
            <a:off x="3886200" y="50840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2E0"/>
                </a:solidFill>
              </a:rPr>
              <a:t>Pause</a:t>
            </a:r>
            <a:endParaRPr lang="en-US" sz="1280" dirty="0"/>
          </a:p>
        </p:txBody>
      </p:sp>
      <p:sp>
        <p:nvSpPr>
          <p:cNvPr id="35" name="Text 32"/>
          <p:cNvSpPr/>
          <p:nvPr/>
        </p:nvSpPr>
        <p:spPr>
          <a:xfrm>
            <a:off x="5989320" y="50840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6EFE1"/>
                </a:solidFill>
              </a:rPr>
              <a:t>Esc</a:t>
            </a:r>
            <a:endParaRPr lang="en-US" sz="1280" dirty="0"/>
          </a:p>
        </p:txBody>
      </p:sp>
      <p:sp>
        <p:nvSpPr>
          <p:cNvPr id="36" name="Text 33"/>
          <p:cNvSpPr/>
          <p:nvPr/>
        </p:nvSpPr>
        <p:spPr>
          <a:xfrm>
            <a:off x="8001000" y="12344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CARRIED ITEMS</a:t>
            </a:r>
            <a:endParaRPr lang="en-US" sz="850" dirty="0"/>
          </a:p>
        </p:txBody>
      </p:sp>
      <p:pic>
        <p:nvPicPr>
          <p:cNvPr id="37" name="Image 1" descr="/mnt/data/gdd_assets/page5_img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721" y="1600200"/>
            <a:ext cx="546638" cy="6400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778240" y="1609344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2E0"/>
                </a:solidFill>
              </a:rPr>
              <a:t>Time Lens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2E0"/>
                </a:solidFill>
              </a:rPr>
              <a:t>reveals cracks and interactables</a:t>
            </a:r>
            <a:endParaRPr lang="en-US" sz="1250" dirty="0"/>
          </a:p>
        </p:txBody>
      </p:sp>
      <p:pic>
        <p:nvPicPr>
          <p:cNvPr id="39" name="Image 2" descr="/mnt/data/gdd_assets/page5_img4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266" y="2450592"/>
            <a:ext cx="349547" cy="6400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77824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2E0"/>
                </a:solidFill>
              </a:rPr>
              <a:t>Chrono Hourglass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2E0"/>
                </a:solidFill>
              </a:rPr>
              <a:t>slows enemies and hazards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7818120" y="365760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17233D">
              <a:alpha val="95000"/>
            </a:srgbClr>
          </a:solidFill>
          <a:ln w="12700">
            <a:solidFill>
              <a:srgbClr val="D8AE55">
                <a:alpha val="4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028432" y="3822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D992"/>
                </a:solidFill>
              </a:rPr>
              <a:t>Implementation note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8028432" y="4114800"/>
            <a:ext cx="2880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2E0"/>
                </a:solidFill>
              </a:rPr>
              <a:t>All controls are exposed through PlayerInput + InputAction.CallbackContext. No old Input API is used.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Five Unity scenes; three gameplay scenes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325880"/>
            <a:ext cx="2035454" cy="1051560"/>
          </a:xfrm>
          <a:prstGeom prst="roundRect">
            <a:avLst>
              <a:gd name="adj" fmla="val 695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490472"/>
            <a:ext cx="192572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Main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Menu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748686" y="18516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5846" y="1325880"/>
            <a:ext cx="2035454" cy="1051560"/>
          </a:xfrm>
          <a:prstGeom prst="roundRect">
            <a:avLst>
              <a:gd name="adj" fmla="val 695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0710" y="1490472"/>
            <a:ext cx="192572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Scene 1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MuseumNight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948733" y="18516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5893" y="1325880"/>
            <a:ext cx="2035454" cy="1051560"/>
          </a:xfrm>
          <a:prstGeom prst="roundRect">
            <a:avLst>
              <a:gd name="adj" fmla="val 695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0757" y="1490472"/>
            <a:ext cx="192572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Scene 2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FrozenCity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48779" y="18516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85939" y="1325880"/>
            <a:ext cx="2035454" cy="1051560"/>
          </a:xfrm>
          <a:prstGeom prst="roundRect">
            <a:avLst>
              <a:gd name="adj" fmla="val 695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0803" y="1490472"/>
            <a:ext cx="192572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Scene 3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ClockCore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348826" y="185166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85986" y="1325880"/>
            <a:ext cx="2035454" cy="1051560"/>
          </a:xfrm>
          <a:prstGeom prst="roundRect">
            <a:avLst>
              <a:gd name="adj" fmla="val 6957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0850" y="1490472"/>
            <a:ext cx="1925726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Victory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Screen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77240" y="2880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6EFE1"/>
                </a:solidFill>
              </a:rPr>
              <a:t>Logical connection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68680" y="3319272"/>
            <a:ext cx="49377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Clock of Creation breaks during Noah’s night shift.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first portal sends Noah into a frozen historical city.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city repair unlocks the Clock Core beneath the museum.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final shard restores the timeline and leads to the Victory Screen.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556248" y="2715768"/>
            <a:ext cx="4489704" cy="2523744"/>
          </a:xfrm>
          <a:prstGeom prst="roundRect">
            <a:avLst>
              <a:gd name="adj" fmla="val 2899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29" name="Image 0" descr="/mnt/data/gdd_assets/page3_img1.png">    </p:cNvPr>
          <p:cNvPicPr>
            <a:picLocks noChangeAspect="1"/>
          </p:cNvPicPr>
          <p:nvPr/>
        </p:nvPicPr>
        <p:blipFill>
          <a:blip r:embed="rId1"/>
          <a:srcRect l="521" r="521" t="0" b="0"/>
          <a:stretch/>
        </p:blipFill>
        <p:spPr>
          <a:xfrm>
            <a:off x="6583680" y="2743200"/>
            <a:ext cx="4434840" cy="2468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5532120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1D992"/>
                </a:solidFill>
              </a:rPr>
              <a:t>Each gameplay scene has its own objective, minimap, camera toggle, score/health/energy UI, and mandatory project elements.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Scene 1 — MuseumNight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Tutorial, two-floor museum, first portal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179576"/>
            <a:ext cx="3803904" cy="4169664"/>
          </a:xfrm>
          <a:prstGeom prst="roundRect">
            <a:avLst>
              <a:gd name="adj" fmla="val 1923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1_img3.jpeg">    </p:cNvPr>
          <p:cNvPicPr>
            <a:picLocks noChangeAspect="1"/>
          </p:cNvPicPr>
          <p:nvPr/>
        </p:nvPicPr>
        <p:blipFill>
          <a:blip r:embed="rId1"/>
          <a:srcRect l="2000" r="2442" t="0" b="4000"/>
          <a:stretch/>
        </p:blipFill>
        <p:spPr>
          <a:xfrm>
            <a:off x="640080" y="1207008"/>
            <a:ext cx="3749040" cy="411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54880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992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1444752"/>
            <a:ext cx="603504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6EFE1"/>
                </a:solidFill>
              </a:rPr>
              <a:t>Learn movement, collect the Time Lens and Chrono Hourglass, climb to the second floor, and trigger the Clock of Creation break.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754880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REQUIRED ELEMENTS IN THIS SCENE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46320" y="2697480"/>
            <a:ext cx="60350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tutorial text + tutorial triggers.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two-floor museum with stairs and textures.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Hinge Joint door/gate opened by interaction.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carry-over items: Time Lens + Hourglass.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Voronoi asset: Clock of Creation fractures.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Animator, minimap, first/third-person cameras.</a:t>
            </a:r>
            <a:endParaRPr lang="en-US" sz="1470" dirty="0"/>
          </a:p>
        </p:txBody>
      </p:sp>
      <p:sp>
        <p:nvSpPr>
          <p:cNvPr id="18" name="Text 15"/>
          <p:cNvSpPr/>
          <p:nvPr/>
        </p:nvSpPr>
        <p:spPr>
          <a:xfrm>
            <a:off x="4846320" y="52852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AAC2"/>
                </a:solidFill>
              </a:rPr>
              <a:t>Key Scripts: TutorialTrigger, CollectibleItem, PlayerMovement, CameraModeController, BreakableObject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Scene 2 — FrozenCity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Terrain, stealth, two agent types, hidden teleports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143000"/>
            <a:ext cx="4352544" cy="2432304"/>
          </a:xfrm>
          <a:prstGeom prst="roundRect">
            <a:avLst>
              <a:gd name="adj" fmla="val 3008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3_img1.png">    </p:cNvPr>
          <p:cNvPicPr>
            <a:picLocks noChangeAspect="1"/>
          </p:cNvPicPr>
          <p:nvPr/>
        </p:nvPicPr>
        <p:blipFill>
          <a:blip r:embed="rId1"/>
          <a:srcRect l="207" r="207" t="0" b="0"/>
          <a:stretch/>
        </p:blipFill>
        <p:spPr>
          <a:xfrm>
            <a:off x="685800" y="1170432"/>
            <a:ext cx="4297680" cy="2377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3858768"/>
            <a:ext cx="3026664" cy="2020824"/>
          </a:xfrm>
          <a:prstGeom prst="roundRect">
            <a:avLst>
              <a:gd name="adj" fmla="val 3620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5" name="Image 1" descr="/mnt/data/gdd_assets/page4_img2.jpeg">    </p:cNvPr>
          <p:cNvPicPr>
            <a:picLocks noChangeAspect="1"/>
          </p:cNvPicPr>
          <p:nvPr/>
        </p:nvPicPr>
        <p:blipFill>
          <a:blip r:embed="rId2"/>
          <a:srcRect l="0" r="0" t="16979" b="16979"/>
          <a:stretch/>
        </p:blipFill>
        <p:spPr>
          <a:xfrm>
            <a:off x="685800" y="3886200"/>
            <a:ext cx="2971800" cy="1965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992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0" y="1444752"/>
            <a:ext cx="539496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6EFE1"/>
                </a:solidFill>
              </a:rPr>
              <a:t>Repair a frozen ancient city by finding a missing gear, shifting between Past / Present / Future, and reaching the clock tower.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86400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REQUIRED ELEMENTS IN THIS SCENE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577840" y="2697480"/>
            <a:ext cx="57607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Unity Terrain: hills, paths, low area, clock tower zone.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Recast/NavMesh stealth using raycast + LayerMask.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TimeGuard and ChronoShadow agents with separate baked paths.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Patrol with customizable waypoint delays.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two hidden checkpoints/teleports from Scene 2 onward.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LOD asset 1: ClockTower; minimap available throughout.</a:t>
            </a:r>
            <a:endParaRPr lang="en-US" sz="1470" dirty="0"/>
          </a:p>
        </p:txBody>
      </p:sp>
      <p:sp>
        <p:nvSpPr>
          <p:cNvPr id="20" name="Text 16"/>
          <p:cNvSpPr/>
          <p:nvPr/>
        </p:nvSpPr>
        <p:spPr>
          <a:xfrm>
            <a:off x="5303520" y="55046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AAC2"/>
                </a:solidFill>
              </a:rPr>
              <a:t>Key Scripts: EnemyVision, WaypointPatrol, PursuitSteering, HiddenCheckpoint, TimePeriodController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Scene 3 — ClockCore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Final repair, physics puzzle, victory trigger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143000"/>
            <a:ext cx="4992624" cy="2798064"/>
          </a:xfrm>
          <a:prstGeom prst="roundRect">
            <a:avLst>
              <a:gd name="adj" fmla="val 261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6_img1.jpeg">    </p:cNvPr>
          <p:cNvPicPr>
            <a:picLocks noChangeAspect="1"/>
          </p:cNvPicPr>
          <p:nvPr/>
        </p:nvPicPr>
        <p:blipFill>
          <a:blip r:embed="rId1"/>
          <a:srcRect l="116" r="116" t="0" b="0"/>
          <a:stretch/>
        </p:blipFill>
        <p:spPr>
          <a:xfrm>
            <a:off x="594360" y="1170432"/>
            <a:ext cx="4937760" cy="2743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89320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D992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89320" y="1444752"/>
            <a:ext cx="530352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6EFE1"/>
                </a:solidFill>
              </a:rPr>
              <a:t>Enter the Clock Core, activate three mechanisms, break the Time Barrier, collect the final shard, and restore the timeline.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989320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REQUIRED ELEMENTS IN THIS SCENE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80760" y="2697480"/>
            <a:ext cx="53492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Time Bolt shooting and impact mechanics.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Voronoi asset: Time Barrier shatters on final hit.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Hazards: rotating gears, falling debris, and enemy projectiles.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LOD asset: MuseumStatue or core machine.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checkpoints before the mechanism hall and final chamber.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Victory trigger transfers final stats to the Victory Screen.</a:t>
            </a:r>
            <a:endParaRPr lang="en-US" sz="1470" dirty="0"/>
          </a:p>
        </p:txBody>
      </p:sp>
      <p:sp>
        <p:nvSpPr>
          <p:cNvPr id="18" name="Text 15"/>
          <p:cNvSpPr/>
          <p:nvPr/>
        </p:nvSpPr>
        <p:spPr>
          <a:xfrm>
            <a:off x="777240" y="4434840"/>
            <a:ext cx="4663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9FAAC2"/>
                </a:solidFill>
              </a:rPr>
              <a:t>Key Scripts: PlayerShooter, TimeBolt, Hazard, BreakableObject, VictoryTrigger, GameManager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Mechanic — Time Shifting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Readable implementation: three versions of the same room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1143000"/>
            <a:ext cx="4901184" cy="2724912"/>
          </a:xfrm>
          <a:prstGeom prst="roundRect">
            <a:avLst>
              <a:gd name="adj" fmla="val 2685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3_img1.png">    </p:cNvPr>
          <p:cNvPicPr>
            <a:picLocks noChangeAspect="1"/>
          </p:cNvPicPr>
          <p:nvPr/>
        </p:nvPicPr>
        <p:blipFill>
          <a:blip r:embed="rId1"/>
          <a:srcRect l="3" r="3" t="0" b="0"/>
          <a:stretch/>
        </p:blipFill>
        <p:spPr>
          <a:xfrm>
            <a:off x="731520" y="1170432"/>
            <a:ext cx="4846320" cy="267004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72200" y="1371600"/>
            <a:ext cx="138379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7064" y="1536192"/>
            <a:ext cx="12740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Past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change cause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7583424" y="185166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720584" y="1371600"/>
            <a:ext cx="138379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5448" y="1536192"/>
            <a:ext cx="12740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Present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solve event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9131808" y="185166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68968" y="1371600"/>
            <a:ext cx="138379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3832" y="1536192"/>
            <a:ext cx="12740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Future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check result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6263640" y="2761488"/>
            <a:ext cx="45720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puzzle area has PastVersion, PresentVersion, and FutureVersion parents.</a:t>
            </a:r>
            <a:endParaRPr lang="en-US" sz="1520" dirty="0"/>
          </a:p>
          <a:p>
            <a:r>
              <a:rPr lang="en-US" sz="152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version is active at a time; Noah remains in the same position.</a:t>
            </a:r>
            <a:endParaRPr lang="en-US" sz="1520" dirty="0"/>
          </a:p>
          <a:p>
            <a:r>
              <a:rPr lang="en-US" sz="152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overlap check prevents switching into a blocked space.</a:t>
            </a:r>
            <a:endParaRPr lang="en-US" sz="1520" dirty="0"/>
          </a:p>
          <a:p>
            <a:r>
              <a:rPr lang="en-US" sz="152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place a key in the Past → unlock a door in the Present → verify a safe path in the Future.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822960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D992"/>
                </a:solidFill>
              </a:rPr>
              <a:t>Why this is feasible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22960" y="4773168"/>
            <a:ext cx="4663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6EFE1"/>
                </a:solidFill>
              </a:rPr>
              <a:t>This design looks like time travel, but avoids complex simulation: it swaps small prepared environments and is easy to explain in the defense.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&amp; Stealth Design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Two agents, separate bakes, raycast visibility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07008"/>
            <a:ext cx="4032504" cy="4078224"/>
          </a:xfrm>
          <a:prstGeom prst="roundRect">
            <a:avLst>
              <a:gd name="adj" fmla="val 181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3" name="Image 0" descr="/mnt/data/gdd_assets/page4_img2.jpeg">    </p:cNvPr>
          <p:cNvPicPr>
            <a:picLocks noChangeAspect="1"/>
          </p:cNvPicPr>
          <p:nvPr/>
        </p:nvPicPr>
        <p:blipFill>
          <a:blip r:embed="rId1"/>
          <a:srcRect l="0" r="969" t="0" b="0"/>
          <a:stretch/>
        </p:blipFill>
        <p:spPr>
          <a:xfrm>
            <a:off x="685800" y="1234440"/>
            <a:ext cx="3977640" cy="4023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74920" y="12435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AGENT 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7492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1"/>
                </a:solidFill>
              </a:rPr>
              <a:t>TimeGuard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166360" y="1901952"/>
            <a:ext cx="26060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Human-sized agent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Patrol → Wait → Pursuit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Pursuit steering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Stunned by Time Bolt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412480" y="12435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AGENT 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EFE1"/>
                </a:solidFill>
              </a:rPr>
              <a:t>ChronoShadow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03920" y="1901952"/>
            <a:ext cx="25146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/ low agent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NavMesh bake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Seeks Time Shards</a:t>
            </a:r>
            <a:endParaRPr lang="en-US" sz="1350" dirty="0"/>
          </a:p>
          <a:p>
            <a:r>
              <a:rPr lang="en-US" sz="13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Flees after impact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760720" y="3703320"/>
            <a:ext cx="4389120" cy="0"/>
          </a:xfrm>
          <a:prstGeom prst="line">
            <a:avLst/>
          </a:prstGeom>
          <a:noFill/>
          <a:ln w="15240">
            <a:solidFill>
              <a:srgbClr val="D8AE55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5897880" y="38587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1D992"/>
                </a:solidFill>
              </a:rPr>
              <a:t>Raycast + LayerMask decides visibility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5394960" y="44074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CBD2E0"/>
                </a:solidFill>
              </a:rPr>
              <a:t>Player, Obstacle, StealthCover, Enemy, TimeBolt, Checkpoint, Minimap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5074920" y="5120640"/>
            <a:ext cx="5623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F6EFE1"/>
                </a:solidFill>
              </a:rPr>
              <a:t>Stealth rule: if a wall or cover layer blocks the ray, the enemy cannot see Noah. Suspicion becomes pursuit only when the player is visible long enough.</a:t>
            </a:r>
            <a:endParaRPr lang="en-US" sz="1470" dirty="0"/>
          </a:p>
        </p:txBody>
      </p:sp>
      <p:sp>
        <p:nvSpPr>
          <p:cNvPr id="24" name="Text 21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Player Systems &amp; Persistence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Stats and inventory survive scene transitions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34440"/>
            <a:ext cx="200802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399032"/>
            <a:ext cx="18982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PlayerStats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766974" y="169164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04134" y="1234440"/>
            <a:ext cx="200802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8998" y="1399032"/>
            <a:ext cx="18982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GameManager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Singleton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939589" y="169164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6749" y="1234440"/>
            <a:ext cx="200802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1613" y="1399032"/>
            <a:ext cx="18982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SceneLoader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12203" y="169164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49363" y="1234440"/>
            <a:ext cx="200802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4227" y="1399032"/>
            <a:ext cx="18982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HUD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284818" y="169164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21978" y="1234440"/>
            <a:ext cx="200802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6842" y="1399032"/>
            <a:ext cx="18982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Checkpoint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Manager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68680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GAME STATE STORED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96112" y="2880360"/>
            <a:ext cx="40233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Health, energy, score, Time Shards.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acquired items: Time Lens and Hourglass.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checkpoint scene + position.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Death count and detected count for final results.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2560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ECONOMY / STATS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2880360"/>
            <a:ext cx="42519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+100 for Time Shards.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 for stunning enemies.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-50 when detected.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-100 on death or checkpoint respawn.</a:t>
            </a:r>
            <a:endParaRPr lang="en-US" sz="1500" dirty="0"/>
          </a:p>
          <a:p>
            <a:r>
              <a:rPr lang="en-US" sz="150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drains while slowing time and refills through pickups.</a:t>
            </a:r>
            <a:endParaRPr lang="en-US" sz="1500" dirty="0"/>
          </a:p>
        </p:txBody>
      </p:sp>
      <p:pic>
        <p:nvPicPr>
          <p:cNvPr id="30" name="Image 0" descr="/mnt/data/gdd_assets/page5_img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3087" y="2834640"/>
            <a:ext cx="496507" cy="685800"/>
          </a:xfrm>
          <a:prstGeom prst="rect">
            <a:avLst/>
          </a:prstGeom>
        </p:spPr>
      </p:pic>
      <p:pic>
        <p:nvPicPr>
          <p:cNvPr id="31" name="Image 1" descr="/mnt/data/gdd_assets/page5_img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083" y="3749040"/>
            <a:ext cx="374515" cy="6858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Physics &amp; Interactions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Course mechanics integrated into gameplay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D992"/>
                </a:solidFill>
              </a:rPr>
              <a:t>Hinge Joint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1627632"/>
            <a:ext cx="2926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CBD2E0"/>
                </a:solidFill>
              </a:rPr>
              <a:t>Museum door or gate opens around a physical hinge, with limits and a visible handle/switch.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4572000" y="1234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D992"/>
                </a:solidFill>
              </a:rPr>
              <a:t>Rigidbody Shooting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627632"/>
            <a:ext cx="28346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CBD2E0"/>
                </a:solidFill>
              </a:rPr>
              <a:t>Time Bolt is a sphere prefab with Rigidbody, Sphere Collider and AddForce impulse.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2753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D992"/>
                </a:solidFill>
              </a:rPr>
              <a:t>Collisions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1627632"/>
            <a:ext cx="3017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CBD2E0"/>
                </a:solidFill>
              </a:rPr>
              <a:t>Bolt → Enemy, Player → Hazard, Bolt → Breakable asset; each triggers a visible gameplay result.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2423160" y="3154680"/>
            <a:ext cx="7406640" cy="0"/>
          </a:xfrm>
          <a:prstGeom prst="line">
            <a:avLst/>
          </a:prstGeom>
          <a:noFill/>
          <a:ln w="17780">
            <a:solidFill>
              <a:srgbClr val="68D0D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4440" y="3840480"/>
            <a:ext cx="182514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9304" y="4005072"/>
            <a:ext cx="171541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Input: Shoot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087014" y="432054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24174" y="3840480"/>
            <a:ext cx="182514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9038" y="4005072"/>
            <a:ext cx="171541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Instantiate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TimeBolt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076749" y="432054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3909" y="3840480"/>
            <a:ext cx="182514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8773" y="4005072"/>
            <a:ext cx="171541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Rigidbody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AddForce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066483" y="432054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03643" y="3840480"/>
            <a:ext cx="182514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8507" y="4005072"/>
            <a:ext cx="171541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Collision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9056218" y="4320540"/>
            <a:ext cx="109728" cy="0"/>
          </a:xfrm>
          <a:prstGeom prst="line">
            <a:avLst/>
          </a:prstGeom>
          <a:noFill/>
          <a:ln w="16510">
            <a:solidFill>
              <a:srgbClr val="68D0D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93378" y="3840480"/>
            <a:ext cx="1825142" cy="960120"/>
          </a:xfrm>
          <a:prstGeom prst="roundRect">
            <a:avLst>
              <a:gd name="adj" fmla="val 761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68D0D3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8242" y="4005072"/>
            <a:ext cx="171541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Effect +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score/state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96012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6EFE1"/>
                </a:solidFill>
              </a:rPr>
              <a:t>Triggers used: tutorial zones, pickups, scene exits, hidden checkpoints, victory trigger.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Assets &amp; Optimization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Required visual assets with an optimization plan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2070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VORONOI FRACTURE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1527048"/>
            <a:ext cx="4754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6EFE1"/>
                </a:solidFill>
              </a:rPr>
              <a:t>Two assets are fractured manually in Blender with Cell Fracture and imported as breakable prefabs.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868680" y="2331720"/>
            <a:ext cx="43891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4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 of Creation — breaks at the end of Scene 1.</a:t>
            </a:r>
            <a:endParaRPr lang="en-US" sz="1440" dirty="0"/>
          </a:p>
          <a:p>
            <a:r>
              <a:rPr lang="en-US" sz="144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Barrier — shatters in the final ClockCore puzzle.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6492240" y="1207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LOD ASSETS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10528" y="1527048"/>
            <a:ext cx="44348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6EFE1"/>
                </a:solidFill>
              </a:rPr>
              <a:t>Two different models have manually reduced polygon versions and Unity LODGroup integration.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4206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4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ClockTower_LOD0 / LOD1 / LOD2.</a:t>
            </a:r>
            <a:endParaRPr lang="en-US" sz="1440" dirty="0"/>
          </a:p>
          <a:p>
            <a:r>
              <a:rPr lang="en-US" sz="144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MuseumStatue_LOD0 / LOD1 / LOD2.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841248" y="3675888"/>
            <a:ext cx="2432304" cy="1289304"/>
          </a:xfrm>
          <a:prstGeom prst="roundRect">
            <a:avLst>
              <a:gd name="adj" fmla="val 567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19" name="Image 0" descr="/mnt/data/Stone.jpg">    </p:cNvPr>
          <p:cNvPicPr>
            <a:picLocks noChangeAspect="1"/>
          </p:cNvPicPr>
          <p:nvPr/>
        </p:nvPicPr>
        <p:blipFill>
          <a:blip r:embed="rId1"/>
          <a:srcRect l="0" r="0" t="24038" b="24038"/>
          <a:stretch/>
        </p:blipFill>
        <p:spPr>
          <a:xfrm>
            <a:off x="868680" y="3703320"/>
            <a:ext cx="2377440" cy="1234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630168" y="3675888"/>
            <a:ext cx="2432304" cy="1289304"/>
          </a:xfrm>
          <a:prstGeom prst="roundRect">
            <a:avLst>
              <a:gd name="adj" fmla="val 567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21" name="Image 1" descr="/mnt/data/Brick.jpg">    </p:cNvPr>
          <p:cNvPicPr>
            <a:picLocks noChangeAspect="1"/>
          </p:cNvPicPr>
          <p:nvPr/>
        </p:nvPicPr>
        <p:blipFill>
          <a:blip r:embed="rId2"/>
          <a:srcRect l="0" r="0" t="24038" b="24038"/>
          <a:stretch/>
        </p:blipFill>
        <p:spPr>
          <a:xfrm>
            <a:off x="3657600" y="3703320"/>
            <a:ext cx="2377440" cy="12344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419088" y="3675888"/>
            <a:ext cx="2432304" cy="1289304"/>
          </a:xfrm>
          <a:prstGeom prst="roundRect">
            <a:avLst>
              <a:gd name="adj" fmla="val 5674"/>
            </a:avLst>
          </a:prstGeom>
          <a:solidFill>
            <a:srgbClr val="D8AE55">
              <a:alpha val="82000"/>
            </a:srgbClr>
          </a:solidFill>
          <a:ln w="12700">
            <a:solidFill>
              <a:srgbClr val="D8AE55">
                <a:alpha val="55000"/>
              </a:srgbClr>
            </a:solidFill>
            <a:prstDash val="solid"/>
          </a:ln>
        </p:spPr>
      </p:sp>
      <p:pic>
        <p:nvPicPr>
          <p:cNvPr id="23" name="Image 2" descr="/mnt/data/Ground.jpg">    </p:cNvPr>
          <p:cNvPicPr>
            <a:picLocks noChangeAspect="1"/>
          </p:cNvPicPr>
          <p:nvPr/>
        </p:nvPicPr>
        <p:blipFill>
          <a:blip r:embed="rId3"/>
          <a:srcRect l="0" r="0" t="24038" b="24038"/>
          <a:stretch/>
        </p:blipFill>
        <p:spPr>
          <a:xfrm>
            <a:off x="6446520" y="3703320"/>
            <a:ext cx="2377440" cy="12344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8680" y="5349240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1D992"/>
                </a:solidFill>
              </a:rPr>
              <a:t>Build target: compressed package under 300MB. Use small textures, compressed audio, limited fracture pieces, reused materials, static batching, and cleaned Asset folders.</a:t>
            </a:r>
            <a:endParaRPr lang="en-US" sz="1620" dirty="0"/>
          </a:p>
        </p:txBody>
      </p:sp>
      <p:sp>
        <p:nvSpPr>
          <p:cNvPr id="25" name="Text 20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UI, Camera &amp; Orientation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Player clarity in every scene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170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HUD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536192"/>
            <a:ext cx="3291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bar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bar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Shards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objective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11704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CAMERA SYSTEM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1536192"/>
            <a:ext cx="35661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Third-person exploration camera.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First-person focus camera for aiming/interactions.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 with C using Cinemachine priorities.</a:t>
            </a:r>
            <a:endParaRPr lang="en-US" sz="1550" dirty="0"/>
          </a:p>
          <a:p>
            <a:r>
              <a:rPr lang="en-US" sz="155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Minimap camera is separate and excluded from camera-toggle count.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778240" y="11704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C7BFF"/>
                </a:solidFill>
              </a:rPr>
              <a:t>MINIMAP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869680" y="1536192"/>
            <a:ext cx="23774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Orthographic top-down camera.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RenderTexture into UI RawImage.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arrow + objective icon.</a:t>
            </a:r>
            <a:endParaRPr lang="en-US" sz="1470" dirty="0"/>
          </a:p>
          <a:p>
            <a:r>
              <a:rPr lang="en-US" sz="147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all 3 gameplay scenes.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1828800" y="4160520"/>
            <a:ext cx="269443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4325112"/>
            <a:ext cx="258470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3rd Person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550664" y="461772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87824" y="4160520"/>
            <a:ext cx="269443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2688" y="4325112"/>
            <a:ext cx="258470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First Person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409688" y="461772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6848" y="4160520"/>
            <a:ext cx="2694432" cy="914400"/>
          </a:xfrm>
          <a:prstGeom prst="roundRect">
            <a:avLst>
              <a:gd name="adj" fmla="val 8000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1712" y="4325112"/>
            <a:ext cx="258470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Minimap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Camera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280160" y="5532120"/>
            <a:ext cx="9509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FE1"/>
                </a:solidFill>
              </a:rPr>
              <a:t>The player always knows where they are, what the objective is, and whether they are hidden, suspicious, or detected.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 Map — Core Gameplay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Mandatory elements by scene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225296"/>
            <a:ext cx="2644445" cy="41300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271016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D1426"/>
                </a:solidFill>
              </a:rPr>
              <a:t>Requirement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238805" y="1225296"/>
            <a:ext cx="2754630" cy="41300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4525" y="1271016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D1426"/>
                </a:solidFill>
              </a:rPr>
              <a:t>Scene / place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993435" y="1225296"/>
            <a:ext cx="5619445" cy="41300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9155" y="1271016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D1426"/>
                </a:solidFill>
              </a:rPr>
              <a:t>Implementation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94360" y="1638300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84020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Main menu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238805" y="1638300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4525" y="1684020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MainMenu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993435" y="1638300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9155" y="1684020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Start, Instructions, Controls, Exit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94360" y="2051304"/>
            <a:ext cx="2644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097024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Victory screen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3238805" y="2051304"/>
            <a:ext cx="2754630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4525" y="2097024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Victory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5993435" y="2051304"/>
            <a:ext cx="5619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9155" y="2097024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Final score, shards, deaths, detections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94360" y="2464308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510028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3 gameplay scenes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3238805" y="2464308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4525" y="2510028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Scenes 1–3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993435" y="2464308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9155" y="2510028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MuseumNight → FrozenCity → ClockCore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94360" y="2877312"/>
            <a:ext cx="2644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923032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Dynamic tutorial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3238805" y="2877312"/>
            <a:ext cx="2754630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4525" y="2923032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MuseumNight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5993435" y="2877312"/>
            <a:ext cx="5619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9155" y="2923032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3D instructions activated by triggers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594360" y="3290316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336036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4+ triggers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3238805" y="3290316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4525" y="3336036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All scenes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5993435" y="3290316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9155" y="3336036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Tutorial, pickups, clock event, checkpoints, exits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94360" y="3703320"/>
            <a:ext cx="2644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749040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3+ collisions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238805" y="3703320"/>
            <a:ext cx="2754630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84525" y="3749040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All scenes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5993435" y="3703320"/>
            <a:ext cx="5619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9155" y="3749040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Bolt-enemy, player-hazard, bolt-breakable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94360" y="4116324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162044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Hinge Joint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3238805" y="4116324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84525" y="4162044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MuseumNight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5993435" y="4116324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9155" y="4162044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Physical museum door / gate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594360" y="4529328"/>
            <a:ext cx="2644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575048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Custom Terrain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3238805" y="4529328"/>
            <a:ext cx="2754630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84525" y="4575048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FrozenCity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5993435" y="4529328"/>
            <a:ext cx="5619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9155" y="4575048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Sculpted terrain with painted layers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594360" y="4942332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988052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Patrol + delay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3238805" y="4942332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84525" y="4988052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Scenes 1–3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5993435" y="4942332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9155" y="4988052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WaypointPatrol + PatrolPoint wait time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594360" y="5355336"/>
            <a:ext cx="2644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5401056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Score/health/energy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3238805" y="5355336"/>
            <a:ext cx="2754630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84525" y="5401056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All scenes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5993435" y="5355336"/>
            <a:ext cx="5619445" cy="41300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39155" y="5401056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HUD + PlayerStats + GameManager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594360" y="5768340"/>
            <a:ext cx="2644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5814060"/>
            <a:ext cx="2553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Serialize between scenes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3238805" y="5768340"/>
            <a:ext cx="2754630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84525" y="5814060"/>
            <a:ext cx="2663190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All scenes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5993435" y="5768340"/>
            <a:ext cx="5619445" cy="41300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9155" y="5814060"/>
            <a:ext cx="5528005" cy="321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CBD2E0"/>
                </a:solidFill>
              </a:rPr>
              <a:t>GameManager with DontDestroyOnLoad</a:t>
            </a:r>
            <a:endParaRPr lang="en-US" sz="840" dirty="0"/>
          </a:p>
        </p:txBody>
      </p:sp>
      <p:sp>
        <p:nvSpPr>
          <p:cNvPr id="84" name="Text 8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 Map — Technical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AI, assets, camera, and optimization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225296"/>
            <a:ext cx="2644445" cy="36445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271016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D1426"/>
                </a:solidFill>
              </a:rPr>
              <a:t>Requirement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238805" y="1225296"/>
            <a:ext cx="2754630" cy="36445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4525" y="1271016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D1426"/>
                </a:solidFill>
              </a:rPr>
              <a:t>Scene / place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993435" y="1225296"/>
            <a:ext cx="5619445" cy="364454"/>
          </a:xfrm>
          <a:prstGeom prst="rect">
            <a:avLst/>
          </a:prstGeom>
          <a:solidFill>
            <a:srgbClr val="D8AE55"/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9155" y="1271016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D1426"/>
                </a:solidFill>
              </a:rPr>
              <a:t>Implementation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94360" y="1589750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635470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2 acquired items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238805" y="1589750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4525" y="1635470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 1 onward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993435" y="1589750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9155" y="1635470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Time Lens + Chrono Hourglass persist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4360" y="1954203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999923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2 Voronoi assets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38805" y="1954203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4525" y="1999923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1 &amp; 3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993435" y="1954203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9155" y="1999923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Clock of Creation + Time Barrier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94360" y="2318657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364377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2 LOD assets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238805" y="2318657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4525" y="2364377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1 &amp; 2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993435" y="2318657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9155" y="2364377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MuseumStatue + ClockTower LODGroups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94360" y="2683111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728831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New Input System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238805" y="2683111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4525" y="2728831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Global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993435" y="2683111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9155" y="2728831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PlayerInput + InputAction callbacks only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94360" y="3047565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093285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Steering AI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238805" y="3047565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4525" y="3093285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2–3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5993435" y="3047565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9155" y="3093285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TimeGuard pursuit + Shadow flee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94360" y="3412018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457738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2 agent types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238805" y="3412018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84525" y="3457738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2–3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993435" y="3412018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9155" y="3457738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TimeGuardAgent + ChronoShadowAgent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594360" y="3776472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3822192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Animator 4+ states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238805" y="3776472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84525" y="3822192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Player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5993435" y="3776472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9155" y="3822192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Idle, Walk, Run, Shoot, Hit, Death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594360" y="4140926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186646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Rigidbody shooting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238805" y="4140926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84525" y="4186646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All scenes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993435" y="4140926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9155" y="4186646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TimeBolt prefab with Rigidbody impulse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594360" y="4505379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551099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Recast + Stealth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3238805" y="4505379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84525" y="4551099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2–3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93435" y="4505379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9155" y="4551099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NavMesh + stealth detection states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594360" y="4869833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4915553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Raycast + LayerMask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238805" y="4869833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84525" y="4915553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AI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993435" y="4869833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39155" y="4915553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EnemyVision filters obstacles and cover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594360" y="5234287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5280007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Minimap + cameras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3238805" y="5234287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84525" y="5280007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1–3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5993435" y="5234287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9155" y="5280007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Minimap + first/third-person toggle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594360" y="5598741"/>
            <a:ext cx="2644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644461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Two-floor building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3238805" y="5598741"/>
            <a:ext cx="2754630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84525" y="5644461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 1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5993435" y="5598741"/>
            <a:ext cx="5619445" cy="364454"/>
          </a:xfrm>
          <a:prstGeom prst="rect">
            <a:avLst/>
          </a:prstGeom>
          <a:solidFill>
            <a:srgbClr val="15213A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39155" y="5644461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Museum with stairs and custom textures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594360" y="5963194"/>
            <a:ext cx="2644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0080" y="6008914"/>
            <a:ext cx="2553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Hidden teleports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3238805" y="5963194"/>
            <a:ext cx="2754630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84525" y="6008914"/>
            <a:ext cx="2663190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Scenes 2–3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5993435" y="5963194"/>
            <a:ext cx="5619445" cy="364454"/>
          </a:xfrm>
          <a:prstGeom prst="rect">
            <a:avLst/>
          </a:prstGeom>
          <a:solidFill>
            <a:srgbClr val="111B31">
              <a:alpha val="94000"/>
            </a:srgbClr>
          </a:solidFill>
          <a:ln w="6350">
            <a:solidFill>
              <a:srgbClr val="2A395A">
                <a:alpha val="75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39155" y="6008914"/>
            <a:ext cx="5528005" cy="2730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BD2E0"/>
                </a:solidFill>
              </a:rPr>
              <a:t>Two+ checkpoints that restore position/stats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0040"/>
            <a:ext cx="868680" cy="868680"/>
          </a:xfrm>
          <a:prstGeom prst="ellipse">
            <a:avLst/>
          </a:prstGeom>
          <a:solidFill>
            <a:srgbClr val="0D1426">
              <a:alpha val="0"/>
            </a:srgbClr>
          </a:solidFill>
          <a:ln w="15240">
            <a:solidFill>
              <a:srgbClr val="D8AE5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23560"/>
            <a:ext cx="594360" cy="594360"/>
          </a:xfrm>
          <a:prstGeom prst="ellipse">
            <a:avLst/>
          </a:prstGeom>
          <a:solidFill>
            <a:srgbClr val="0D1426">
              <a:alpha val="0"/>
            </a:srgbClr>
          </a:solidFill>
          <a:ln w="13970">
            <a:solidFill>
              <a:srgbClr val="D8AE55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Plan &amp; Submission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D992"/>
                </a:solidFill>
              </a:rPr>
              <a:t>Build small, test often, document clearly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058400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0736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603504"/>
            <a:ext cx="73152" cy="73152"/>
          </a:xfrm>
          <a:prstGeom prst="ellipse">
            <a:avLst/>
          </a:prstGeom>
          <a:solidFill>
            <a:srgbClr val="6D7B96">
              <a:alpha val="60000"/>
            </a:srgbClr>
          </a:solidFill>
          <a:ln w="12700">
            <a:solidFill>
              <a:srgbClr val="6D7B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2" y="603504"/>
            <a:ext cx="73152" cy="73152"/>
          </a:xfrm>
          <a:prstGeom prst="ellipse">
            <a:avLst/>
          </a:prstGeom>
          <a:solidFill>
            <a:srgbClr val="D8AE55"/>
          </a:solidFill>
          <a:ln w="12700">
            <a:solidFill>
              <a:srgbClr val="D8AE5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Prototype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20102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57262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2126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Systems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691563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28723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3587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Scenes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263025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00185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5049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Assets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34487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71647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6511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Polish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405949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43109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7973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Build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977410" y="1554480"/>
            <a:ext cx="109728" cy="0"/>
          </a:xfrm>
          <a:prstGeom prst="line">
            <a:avLst/>
          </a:prstGeom>
          <a:noFill/>
          <a:ln w="16510">
            <a:solidFill>
              <a:srgbClr val="D8AE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14570" y="1143000"/>
            <a:ext cx="1406870" cy="822960"/>
          </a:xfrm>
          <a:prstGeom prst="roundRect">
            <a:avLst>
              <a:gd name="adj" fmla="val 8889"/>
            </a:avLst>
          </a:prstGeom>
          <a:solidFill>
            <a:srgbClr val="17233D">
              <a:alpha val="92000"/>
            </a:srgbClr>
          </a:solidFill>
          <a:ln w="12700">
            <a:solidFill>
              <a:srgbClr val="D8AE55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9434" y="1307592"/>
            <a:ext cx="129714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6EFE1"/>
                </a:solidFill>
              </a:rPr>
              <a:t>Trailer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22960" y="24231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AE55"/>
                </a:solidFill>
              </a:rPr>
              <a:t>DEVELOPMENT ORDER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8680" y="2724912"/>
            <a:ext cx="51206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Set up scenes, folders, packages and Git repository.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Build player, input, camera, HUD and GameManager.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Implement shooting, collisions, triggers, checkpoint respawn.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Build MuseumNight, FrozenCity terrain, and ClockCore grayboxes.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Add AI, Recast, stealth, two agent types and bakes.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Integrate Voronoi assets, LOD assets, UI polish and trailer shots.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6400800" y="2423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8D0D3"/>
                </a:solidFill>
              </a:rPr>
              <a:t>SUBMISSION CHECKLIST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2724912"/>
            <a:ext cx="46634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GDD with scene-by-scene requirement mapping.</a:t>
            </a:r>
            <a:endParaRPr lang="en-US" sz="1380" dirty="0"/>
          </a:p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 trailer link under 1:15 minutes.</a:t>
            </a:r>
            <a:endParaRPr lang="en-US" sz="1380" dirty="0"/>
          </a:p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Compressed build + EXE tested on another machine.</a:t>
            </a:r>
            <a:endParaRPr lang="en-US" sz="1380" dirty="0"/>
          </a:p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link if source is too large for Moodle.</a:t>
            </a:r>
            <a:endParaRPr lang="en-US" sz="1380" dirty="0"/>
          </a:p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Bugs list on first slide.</a:t>
            </a:r>
            <a:endParaRPr lang="en-US" sz="1380" dirty="0"/>
          </a:p>
          <a:p>
            <a:r>
              <a:rPr lang="en-US" sz="1380" dirty="0">
                <a:solidFill>
                  <a:srgbClr val="CBD2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developer can explain and edit core scripts during defense.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146304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1D992"/>
                </a:solidFill>
              </a:rPr>
              <a:t>Trailer hook: “One stolen moment is breaking every era.”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B96"/>
                </a:solidFill>
              </a:rPr>
              <a:t>The Museum of Time — Game Design Document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38428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B96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Colman Unity Game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Museum of Time — GDD</dc:title>
  <dc:subject>Game Design Document - The Museum of Time</dc:subject>
  <dc:creator>OpenAI</dc:creator>
  <cp:lastModifiedBy>OpenAI</cp:lastModifiedBy>
  <cp:revision>1</cp:revision>
  <dcterms:created xsi:type="dcterms:W3CDTF">2026-07-18T16:36:01Z</dcterms:created>
  <dcterms:modified xsi:type="dcterms:W3CDTF">2026-07-18T16:36:01Z</dcterms:modified>
</cp:coreProperties>
</file>